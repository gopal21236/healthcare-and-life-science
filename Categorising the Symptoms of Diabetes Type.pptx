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77" r:id="rId7"/>
    <p:sldId id="278" r:id="rId8"/>
    <p:sldId id="274" r:id="rId9"/>
    <p:sldId id="333" r:id="rId10"/>
    <p:sldId id="275" r:id="rId11"/>
    <p:sldId id="276" r:id="rId12"/>
  </p:sldIdLst>
  <p:sldSz cx="9144000" cy="6858000" type="screen4x3"/>
  <p:notesSz cx="6858000" cy="9144000"/>
  <p:defaultTextStyle>
    <a:defPPr>
      <a:defRPr lang="en-I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varScale="1">
        <p:scale>
          <a:sx n="91" d="100"/>
          <a:sy n="91" d="100"/>
        </p:scale>
        <p:origin x="140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E84FC963-974F-467D-9FB1-C047964C8F42}" type="datetimeFigureOut">
              <a:rPr lang="en-US"/>
              <a:pPr>
                <a:defRPr/>
              </a:pPr>
              <a:t>5/12/2024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8F0A827-3C27-4A6E-9B92-E72E99049CF7}" type="slidenum">
              <a:rPr lang="en-US" altLang="en-US"/>
              <a:pPr>
                <a:defRPr/>
              </a:pPr>
              <a:t>‹#›</a:t>
            </a:fld>
            <a:endParaRPr lang="en-US" altLang="en-US"/>
          </a:p>
        </p:txBody>
      </p:sp>
    </p:spTree>
    <p:extLst>
      <p:ext uri="{BB962C8B-B14F-4D97-AF65-F5344CB8AC3E}">
        <p14:creationId xmlns:p14="http://schemas.microsoft.com/office/powerpoint/2010/main" val="2216634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97C620F-24E0-4EC7-A862-B8618757117F}" type="datetimeFigureOut">
              <a:rPr lang="en-US"/>
              <a:pPr>
                <a:defRPr/>
              </a:pPr>
              <a:t>5/12/2024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8D59D2F-DA40-4A12-A5F6-BF2757E9A6AD}" type="slidenum">
              <a:rPr lang="en-US" altLang="en-US"/>
              <a:pPr>
                <a:defRPr/>
              </a:pPr>
              <a:t>‹#›</a:t>
            </a:fld>
            <a:endParaRPr lang="en-US" altLang="en-US"/>
          </a:p>
        </p:txBody>
      </p:sp>
    </p:spTree>
    <p:extLst>
      <p:ext uri="{BB962C8B-B14F-4D97-AF65-F5344CB8AC3E}">
        <p14:creationId xmlns:p14="http://schemas.microsoft.com/office/powerpoint/2010/main" val="3275094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lvl1pPr>
          </a:lstStyle>
          <a:p>
            <a:pPr>
              <a:defRPr/>
            </a:pPr>
            <a:fld id="{2E064F1F-F783-42B9-B0FB-D0B593270C06}" type="datetimeFigureOut">
              <a:rPr lang="en-US"/>
              <a:pPr>
                <a:defRPr/>
              </a:pPr>
              <a:t>5/12/2024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AF28B19-52BB-4BAA-97EA-FDC63EA30A67}" type="slidenum">
              <a:rPr lang="en-US" altLang="en-US"/>
              <a:pPr>
                <a:defRPr/>
              </a:pPr>
              <a:t>‹#›</a:t>
            </a:fld>
            <a:endParaRPr lang="en-US" altLang="en-US"/>
          </a:p>
        </p:txBody>
      </p:sp>
    </p:spTree>
    <p:extLst>
      <p:ext uri="{BB962C8B-B14F-4D97-AF65-F5344CB8AC3E}">
        <p14:creationId xmlns:p14="http://schemas.microsoft.com/office/powerpoint/2010/main" val="3162139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5A554F0-FC64-493F-A869-76C98C4E9E1F}" type="datetimeFigureOut">
              <a:rPr lang="en-US"/>
              <a:pPr>
                <a:defRPr/>
              </a:pPr>
              <a:t>5/12/2024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507F169-1E74-4E4D-B165-BB6EF9218B33}" type="slidenum">
              <a:rPr lang="en-US" altLang="en-US"/>
              <a:pPr>
                <a:defRPr/>
              </a:pPr>
              <a:t>‹#›</a:t>
            </a:fld>
            <a:endParaRPr lang="en-US" altLang="en-US"/>
          </a:p>
        </p:txBody>
      </p:sp>
    </p:spTree>
    <p:extLst>
      <p:ext uri="{BB962C8B-B14F-4D97-AF65-F5344CB8AC3E}">
        <p14:creationId xmlns:p14="http://schemas.microsoft.com/office/powerpoint/2010/main" val="3159689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E3575CFF-344A-4C96-9EDF-EC4C03B36FA9}" type="datetimeFigureOut">
              <a:rPr lang="en-US"/>
              <a:pPr>
                <a:defRPr/>
              </a:pPr>
              <a:t>5/12/2024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9EDFDA8A-EC87-4058-97B4-C1FD68C6AC08}" type="slidenum">
              <a:rPr lang="en-US" altLang="en-US"/>
              <a:pPr>
                <a:defRPr/>
              </a:pPr>
              <a:t>‹#›</a:t>
            </a:fld>
            <a:endParaRPr lang="en-US" altLang="en-US"/>
          </a:p>
        </p:txBody>
      </p:sp>
    </p:spTree>
    <p:extLst>
      <p:ext uri="{BB962C8B-B14F-4D97-AF65-F5344CB8AC3E}">
        <p14:creationId xmlns:p14="http://schemas.microsoft.com/office/powerpoint/2010/main" val="2981311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418A2323-3A94-4342-AB37-4C39913F4338}" type="datetimeFigureOut">
              <a:rPr lang="en-US"/>
              <a:pPr>
                <a:defRPr/>
              </a:pPr>
              <a:t>5/12/2024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28DA143-92EA-4BBE-B358-897C0BD920CD}" type="slidenum">
              <a:rPr lang="en-US" altLang="en-US"/>
              <a:pPr>
                <a:defRPr/>
              </a:pPr>
              <a:t>‹#›</a:t>
            </a:fld>
            <a:endParaRPr lang="en-US" altLang="en-US"/>
          </a:p>
        </p:txBody>
      </p:sp>
    </p:spTree>
    <p:extLst>
      <p:ext uri="{BB962C8B-B14F-4D97-AF65-F5344CB8AC3E}">
        <p14:creationId xmlns:p14="http://schemas.microsoft.com/office/powerpoint/2010/main" val="1465273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EF3871C-AB83-4195-9B86-8368A60533F2}" type="datetimeFigureOut">
              <a:rPr lang="en-US"/>
              <a:pPr>
                <a:defRPr/>
              </a:pPr>
              <a:t>5/12/2024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AC9B372A-7DC7-4D4A-AFD1-79EB2D502D42}" type="slidenum">
              <a:rPr lang="en-US" altLang="en-US"/>
              <a:pPr>
                <a:defRPr/>
              </a:pPr>
              <a:t>‹#›</a:t>
            </a:fld>
            <a:endParaRPr lang="en-US" altLang="en-US"/>
          </a:p>
        </p:txBody>
      </p:sp>
    </p:spTree>
    <p:extLst>
      <p:ext uri="{BB962C8B-B14F-4D97-AF65-F5344CB8AC3E}">
        <p14:creationId xmlns:p14="http://schemas.microsoft.com/office/powerpoint/2010/main" val="3814091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3"/>
          <p:cNvSpPr>
            <a:spLocks noGrp="1"/>
          </p:cNvSpPr>
          <p:nvPr>
            <p:ph type="dt" sz="half" idx="10"/>
          </p:nvPr>
        </p:nvSpPr>
        <p:spPr/>
        <p:txBody>
          <a:bodyPr/>
          <a:lstStyle>
            <a:lvl1pPr>
              <a:defRPr/>
            </a:lvl1pPr>
          </a:lstStyle>
          <a:p>
            <a:pPr>
              <a:defRPr/>
            </a:pPr>
            <a:fld id="{181585F9-CB99-4AA4-BFAD-39E06184144E}" type="datetimeFigureOut">
              <a:rPr lang="en-US"/>
              <a:pPr>
                <a:defRPr/>
              </a:pPr>
              <a:t>5/12/2024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88EEA88-F9D5-48BC-A0CA-A6412372C463}" type="slidenum">
              <a:rPr lang="en-US" altLang="en-US"/>
              <a:pPr>
                <a:defRPr/>
              </a:pPr>
              <a:t>‹#›</a:t>
            </a:fld>
            <a:endParaRPr lang="en-US" altLang="en-US"/>
          </a:p>
        </p:txBody>
      </p:sp>
    </p:spTree>
    <p:extLst>
      <p:ext uri="{BB962C8B-B14F-4D97-AF65-F5344CB8AC3E}">
        <p14:creationId xmlns:p14="http://schemas.microsoft.com/office/powerpoint/2010/main" val="3274105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3"/>
          <p:cNvSpPr>
            <a:spLocks noGrp="1"/>
          </p:cNvSpPr>
          <p:nvPr>
            <p:ph type="dt" sz="half" idx="10"/>
          </p:nvPr>
        </p:nvSpPr>
        <p:spPr/>
        <p:txBody>
          <a:bodyPr/>
          <a:lstStyle>
            <a:lvl1pPr>
              <a:defRPr/>
            </a:lvl1pPr>
          </a:lstStyle>
          <a:p>
            <a:pPr>
              <a:defRPr/>
            </a:pPr>
            <a:fld id="{E760A231-420C-49BF-9A2E-FF14B977EA41}" type="datetimeFigureOut">
              <a:rPr lang="en-US"/>
              <a:pPr>
                <a:defRPr/>
              </a:pPr>
              <a:t>5/12/2024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FD05BA4-D3F0-4C14-A87C-AC21BE46EF0F}" type="slidenum">
              <a:rPr lang="en-US" altLang="en-US"/>
              <a:pPr>
                <a:defRPr/>
              </a:pPr>
              <a:t>‹#›</a:t>
            </a:fld>
            <a:endParaRPr lang="en-US" altLang="en-US"/>
          </a:p>
        </p:txBody>
      </p:sp>
    </p:spTree>
    <p:extLst>
      <p:ext uri="{BB962C8B-B14F-4D97-AF65-F5344CB8AC3E}">
        <p14:creationId xmlns:p14="http://schemas.microsoft.com/office/powerpoint/2010/main" val="1724513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CAC7673-B8C6-47EE-86A7-52F9D4AD97D7}" type="datetimeFigureOut">
              <a:rPr lang="en-US"/>
              <a:pPr>
                <a:defRPr/>
              </a:pPr>
              <a:t>5/12/2024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17C0B1B-B549-43BB-B577-BC75BEF2C6A2}" type="slidenum">
              <a:rPr lang="en-US" altLang="en-US"/>
              <a:pPr>
                <a:defRPr/>
              </a:pPr>
              <a:t>‹#›</a:t>
            </a:fld>
            <a:endParaRPr lang="en-US" altLang="en-US"/>
          </a:p>
        </p:txBody>
      </p:sp>
    </p:spTree>
    <p:extLst>
      <p:ext uri="{BB962C8B-B14F-4D97-AF65-F5344CB8AC3E}">
        <p14:creationId xmlns:p14="http://schemas.microsoft.com/office/powerpoint/2010/main" val="2086842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F85A0045-5587-49AC-A1B9-3D66867D08E9}" type="datetimeFigureOut">
              <a:rPr lang="en-US"/>
              <a:pPr>
                <a:defRPr/>
              </a:pPr>
              <a:t>5/12/2024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E289715-9980-491C-8CE6-BDB2330D117D}" type="slidenum">
              <a:rPr lang="en-US" altLang="en-US"/>
              <a:pPr>
                <a:defRPr/>
              </a:pPr>
              <a:t>‹#›</a:t>
            </a:fld>
            <a:endParaRPr lang="en-US" altLang="en-US"/>
          </a:p>
        </p:txBody>
      </p:sp>
    </p:spTree>
    <p:extLst>
      <p:ext uri="{BB962C8B-B14F-4D97-AF65-F5344CB8AC3E}">
        <p14:creationId xmlns:p14="http://schemas.microsoft.com/office/powerpoint/2010/main" val="2659098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03D4A8"/>
            </a:gs>
            <a:gs pos="25000">
              <a:srgbClr val="21D6E0"/>
            </a:gs>
            <a:gs pos="75000">
              <a:srgbClr val="0087E6"/>
            </a:gs>
            <a:gs pos="100000">
              <a:srgbClr val="005CBF"/>
            </a:gs>
          </a:gsLst>
          <a:lin ang="5400000"/>
        </a:gra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AF5ECA8A-3B5D-4412-B7D9-3BF77167959E}" type="datetimeFigureOut">
              <a:rPr lang="en-US"/>
              <a:pPr>
                <a:defRPr/>
              </a:pPr>
              <a:t>5/12/2024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latin typeface="Calibri" panose="020F0502020204030204" pitchFamily="34" charset="0"/>
              </a:defRPr>
            </a:lvl1pPr>
          </a:lstStyle>
          <a:p>
            <a:pPr>
              <a:defRPr/>
            </a:pPr>
            <a:fld id="{B5F175B5-D144-4A1E-AF4C-C12EFAF5EA5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defRPr>
      </a:lvl2pPr>
      <a:lvl3pPr algn="ctr" rtl="0" eaLnBrk="1" fontAlgn="base" hangingPunct="1">
        <a:spcBef>
          <a:spcPct val="0"/>
        </a:spcBef>
        <a:spcAft>
          <a:spcPct val="0"/>
        </a:spcAft>
        <a:defRPr sz="4400">
          <a:solidFill>
            <a:schemeClr val="tx1"/>
          </a:solidFill>
          <a:latin typeface="Calibri" panose="020F0502020204030204" pitchFamily="34" charset="0"/>
        </a:defRPr>
      </a:lvl3pPr>
      <a:lvl4pPr algn="ctr" rtl="0" eaLnBrk="1" fontAlgn="base" hangingPunct="1">
        <a:spcBef>
          <a:spcPct val="0"/>
        </a:spcBef>
        <a:spcAft>
          <a:spcPct val="0"/>
        </a:spcAft>
        <a:defRPr sz="4400">
          <a:solidFill>
            <a:schemeClr val="tx1"/>
          </a:solidFill>
          <a:latin typeface="Calibri" panose="020F0502020204030204" pitchFamily="34" charset="0"/>
        </a:defRPr>
      </a:lvl4pPr>
      <a:lvl5pPr algn="ctr" rtl="0" eaLnBrk="1" fontAlgn="base" hangingPunct="1">
        <a:spcBef>
          <a:spcPct val="0"/>
        </a:spcBef>
        <a:spcAft>
          <a:spcPct val="0"/>
        </a:spcAft>
        <a:defRPr sz="4400">
          <a:solidFill>
            <a:schemeClr val="tx1"/>
          </a:solidFill>
          <a:latin typeface="Calibri" panose="020F0502020204030204" pitchFamily="34" charset="0"/>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899592" y="980728"/>
            <a:ext cx="7939608" cy="1022697"/>
          </a:xfrm>
        </p:spPr>
        <p:txBody>
          <a:bodyPr/>
          <a:lstStyle/>
          <a:p>
            <a:pPr eaLnBrk="1" hangingPunct="1"/>
            <a:r>
              <a:rPr lang="en-IN" altLang="en-US" b="1" dirty="0" smtClean="0">
                <a:latin typeface="Times New Roman" panose="02020603050405020304" pitchFamily="18" charset="0"/>
                <a:cs typeface="Times New Roman" panose="02020603050405020304" pitchFamily="18" charset="0"/>
              </a:rPr>
              <a:t>Categorising</a:t>
            </a:r>
            <a:r>
              <a:rPr lang="en-IN" altLang="en-US" b="1" dirty="0" smtClean="0">
                <a:latin typeface="Times New Roman" panose="02020603050405020304" pitchFamily="18" charset="0"/>
                <a:cs typeface="Times New Roman" panose="02020603050405020304" pitchFamily="18" charset="0"/>
              </a:rPr>
              <a:t> The Symptoms of Diabetes </a:t>
            </a:r>
            <a:r>
              <a:rPr lang="en-IN" altLang="en-US" b="1" dirty="0" smtClean="0">
                <a:latin typeface="Times New Roman" panose="02020603050405020304" pitchFamily="18" charset="0"/>
                <a:cs typeface="Times New Roman" panose="02020603050405020304" pitchFamily="18" charset="0"/>
              </a:rPr>
              <a:t>Type</a:t>
            </a:r>
            <a:r>
              <a:rPr lang="en-IN" altLang="en-US" dirty="0" smtClean="0">
                <a:latin typeface="Times New Roman" panose="02020603050405020304" pitchFamily="18" charset="0"/>
                <a:cs typeface="Times New Roman" panose="02020603050405020304" pitchFamily="18" charset="0"/>
              </a:rPr>
              <a:t/>
            </a:r>
            <a:br>
              <a:rPr lang="en-IN" altLang="en-US" dirty="0" smtClean="0">
                <a:latin typeface="Times New Roman" panose="02020603050405020304" pitchFamily="18" charset="0"/>
                <a:cs typeface="Times New Roman" panose="02020603050405020304" pitchFamily="18" charset="0"/>
              </a:rPr>
            </a:br>
            <a:endParaRPr lang="en-IN" altLang="en-US" dirty="0" smtClean="0">
              <a:latin typeface="Times New Roman" panose="02020603050405020304" pitchFamily="18" charset="0"/>
              <a:cs typeface="Times New Roman" panose="02020603050405020304" pitchFamily="18" charset="0"/>
            </a:endParaRPr>
          </a:p>
        </p:txBody>
      </p:sp>
      <p:sp>
        <p:nvSpPr>
          <p:cNvPr id="2051" name="Subtitle 2"/>
          <p:cNvSpPr>
            <a:spLocks noGrp="1"/>
          </p:cNvSpPr>
          <p:nvPr>
            <p:ph type="subTitle" idx="1"/>
          </p:nvPr>
        </p:nvSpPr>
        <p:spPr>
          <a:xfrm>
            <a:off x="1295400" y="2286000"/>
            <a:ext cx="6400800" cy="1752600"/>
          </a:xfrm>
        </p:spPr>
        <p:txBody>
          <a:bodyPr/>
          <a:lstStyle/>
          <a:p>
            <a:pPr eaLnBrk="1" hangingPunct="1"/>
            <a:r>
              <a:rPr lang="en-US" altLang="en-US" sz="2400" b="1" u="sng" dirty="0" smtClean="0">
                <a:solidFill>
                  <a:schemeClr val="tx1"/>
                </a:solidFill>
                <a:latin typeface="Times New Roman" panose="02020603050405020304" pitchFamily="18" charset="0"/>
                <a:cs typeface="Times New Roman" panose="02020603050405020304" pitchFamily="18" charset="0"/>
              </a:rPr>
              <a:t>By</a:t>
            </a:r>
          </a:p>
          <a:p>
            <a:pPr eaLnBrk="1" hangingPunct="1"/>
            <a:r>
              <a:rPr lang="en-US" altLang="en-US" sz="2400" b="1" dirty="0" smtClean="0">
                <a:solidFill>
                  <a:schemeClr val="tx1"/>
                </a:solidFill>
                <a:latin typeface="Times New Roman" panose="02020603050405020304" pitchFamily="18" charset="0"/>
                <a:cs typeface="Times New Roman" panose="02020603050405020304" pitchFamily="18" charset="0"/>
              </a:rPr>
              <a:t>Mr. </a:t>
            </a:r>
            <a:r>
              <a:rPr lang="en-US" altLang="en-US" sz="2400" b="1" dirty="0" err="1" smtClean="0">
                <a:solidFill>
                  <a:schemeClr val="tx1"/>
                </a:solidFill>
                <a:latin typeface="Times New Roman" panose="02020603050405020304" pitchFamily="18" charset="0"/>
                <a:cs typeface="Times New Roman" panose="02020603050405020304" pitchFamily="18" charset="0"/>
              </a:rPr>
              <a:t>Gopalakrishnan</a:t>
            </a:r>
            <a:r>
              <a:rPr lang="en-US" altLang="en-US" sz="2400" b="1" dirty="0" smtClean="0">
                <a:solidFill>
                  <a:schemeClr val="tx1"/>
                </a:solidFill>
                <a:latin typeface="Times New Roman" panose="02020603050405020304" pitchFamily="18" charset="0"/>
                <a:cs typeface="Times New Roman" panose="02020603050405020304" pitchFamily="18" charset="0"/>
              </a:rPr>
              <a:t> Kumar-IIT-B Alumnus</a:t>
            </a:r>
          </a:p>
          <a:p>
            <a:pPr eaLnBrk="1" hangingPunct="1"/>
            <a:r>
              <a:rPr lang="en-US" altLang="en-US" sz="2400" b="1" dirty="0" err="1" smtClean="0">
                <a:solidFill>
                  <a:schemeClr val="tx1"/>
                </a:solidFill>
                <a:latin typeface="Times New Roman" panose="02020603050405020304" pitchFamily="18" charset="0"/>
                <a:cs typeface="Times New Roman" panose="02020603050405020304" pitchFamily="18" charset="0"/>
              </a:rPr>
              <a:t>Consulant</a:t>
            </a:r>
            <a:r>
              <a:rPr lang="en-US" altLang="en-US" sz="2400" b="1" dirty="0" smtClean="0">
                <a:solidFill>
                  <a:schemeClr val="tx1"/>
                </a:solidFill>
                <a:latin typeface="Times New Roman" panose="02020603050405020304" pitchFamily="18" charset="0"/>
                <a:cs typeface="Times New Roman" panose="02020603050405020304" pitchFamily="18" charset="0"/>
              </a:rPr>
              <a:t> Data Scientist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Introduction </a:t>
            </a:r>
          </a:p>
        </p:txBody>
      </p:sp>
      <p:sp>
        <p:nvSpPr>
          <p:cNvPr id="3075" name="Content Placeholder 2"/>
          <p:cNvSpPr>
            <a:spLocks noGrp="1"/>
          </p:cNvSpPr>
          <p:nvPr>
            <p:ph idx="1"/>
          </p:nvPr>
        </p:nvSpPr>
        <p:spPr/>
        <p:txBody>
          <a:bodyPr/>
          <a:lstStyle/>
          <a:p>
            <a:pPr algn="just" eaLnBrk="1" hangingPunct="1"/>
            <a:r>
              <a:rPr lang="en-IN" altLang="en-US" sz="3000" smtClean="0">
                <a:latin typeface="Times New Roman" panose="02020603050405020304" pitchFamily="18" charset="0"/>
                <a:cs typeface="Times New Roman" panose="02020603050405020304" pitchFamily="18" charset="0"/>
              </a:rPr>
              <a:t>Diabetes mellitus is a chronic metabolic disease characterized by hyperglycemia and causes long term complications in multiple systems of the human body.</a:t>
            </a:r>
          </a:p>
          <a:p>
            <a:pPr algn="just" eaLnBrk="1" hangingPunct="1"/>
            <a:r>
              <a:rPr lang="en-IN" altLang="en-US" sz="3000" smtClean="0">
                <a:latin typeface="Times New Roman" panose="02020603050405020304" pitchFamily="18" charset="0"/>
                <a:cs typeface="Times New Roman" panose="02020603050405020304" pitchFamily="18" charset="0"/>
              </a:rPr>
              <a:t>The purpose of this project is to predict the ability of machine learning for classifying the types of Diabetes Mellitus (DM) using factors that determine diabetic types in susceptible individual, thus helps health care providers in different settings to find out the disease in their earliest phase which in turn enhance good prognosis.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Aim of Project Work</a:t>
            </a:r>
          </a:p>
        </p:txBody>
      </p:sp>
      <p:sp>
        <p:nvSpPr>
          <p:cNvPr id="4099" name="Content Placeholder 2"/>
          <p:cNvSpPr>
            <a:spLocks noGrp="1"/>
          </p:cNvSpPr>
          <p:nvPr>
            <p:ph idx="1"/>
          </p:nvPr>
        </p:nvSpPr>
        <p:spPr/>
        <p:txBody>
          <a:bodyPr/>
          <a:lstStyle/>
          <a:p>
            <a:pPr algn="just" eaLnBrk="1" hangingPunct="1"/>
            <a:r>
              <a:rPr lang="en-IN" altLang="en-US" sz="3000" smtClean="0">
                <a:latin typeface="Times New Roman" panose="02020603050405020304" pitchFamily="18" charset="0"/>
                <a:cs typeface="Times New Roman" panose="02020603050405020304" pitchFamily="18" charset="0"/>
              </a:rPr>
              <a:t>To identify the factors and symptoms of diabetes in patients and classify the patients as per "Type 1 diabetes" and "Type 2 diabetes". (Predictive analytics)</a:t>
            </a:r>
          </a:p>
          <a:p>
            <a:pPr algn="just" eaLnBrk="1" hangingPunct="1"/>
            <a:r>
              <a:rPr lang="en-IN" altLang="en-US" sz="3000" smtClean="0">
                <a:latin typeface="Times New Roman" panose="02020603050405020304" pitchFamily="18" charset="0"/>
                <a:cs typeface="Times New Roman" panose="02020603050405020304" pitchFamily="18" charset="0"/>
              </a:rPr>
              <a:t>To group the patients as per the types of diabetes they suffer and admit them in the proper ward. (Descriptive analytics) </a:t>
            </a:r>
          </a:p>
          <a:p>
            <a:pPr algn="just" eaLnBrk="1" hangingPunct="1">
              <a:buFont typeface="Arial" panose="020B0604020202020204" pitchFamily="34" charset="0"/>
              <a:buNone/>
            </a:pPr>
            <a:endParaRPr lang="en-IN" altLang="en-US" sz="300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Objectives</a:t>
            </a:r>
            <a:endParaRPr lang="en-IN" altLang="en-US" smtClean="0">
              <a:latin typeface="Times New Roman" panose="02020603050405020304" pitchFamily="18" charset="0"/>
              <a:cs typeface="Times New Roman" panose="02020603050405020304" pitchFamily="18" charset="0"/>
            </a:endParaRPr>
          </a:p>
        </p:txBody>
      </p:sp>
      <p:sp>
        <p:nvSpPr>
          <p:cNvPr id="5123" name="Content Placeholder 2"/>
          <p:cNvSpPr>
            <a:spLocks noGrp="1"/>
          </p:cNvSpPr>
          <p:nvPr>
            <p:ph idx="1"/>
          </p:nvPr>
        </p:nvSpPr>
        <p:spPr/>
        <p:txBody>
          <a:bodyPr/>
          <a:lstStyle/>
          <a:p>
            <a:pPr eaLnBrk="1" hangingPunct="1">
              <a:buFont typeface="Arial" panose="020B0604020202020204" pitchFamily="34" charset="0"/>
              <a:buNone/>
            </a:pPr>
            <a:r>
              <a:rPr lang="en-IN" altLang="en-US" sz="2800" smtClean="0">
                <a:latin typeface="Times New Roman" panose="02020603050405020304" pitchFamily="18" charset="0"/>
                <a:cs typeface="Times New Roman" panose="02020603050405020304" pitchFamily="18" charset="0"/>
              </a:rPr>
              <a:t>i.  Applying proper supervised ML techniques to identify "Type 1 diabetes" or "Type 2 diabetes" diabetic patients. </a:t>
            </a:r>
          </a:p>
          <a:p>
            <a:pPr eaLnBrk="1" hangingPunct="1">
              <a:buFont typeface="Arial" panose="020B0604020202020204" pitchFamily="34" charset="0"/>
              <a:buNone/>
            </a:pPr>
            <a:r>
              <a:rPr lang="en-IN" altLang="en-US" sz="2800" smtClean="0">
                <a:latin typeface="Times New Roman" panose="02020603050405020304" pitchFamily="18" charset="0"/>
                <a:cs typeface="Times New Roman" panose="02020603050405020304" pitchFamily="18" charset="0"/>
              </a:rPr>
              <a:t>ii. Harnessing suitable unsupervised learning to group "Type 1 diabetes" and "Type 2 diabetes" diabetic patients for admitting them in their respective wards. </a:t>
            </a:r>
          </a:p>
          <a:p>
            <a:pPr eaLnBrk="1" hangingPunct="1">
              <a:buFont typeface="Arial" panose="020B0604020202020204" pitchFamily="34" charset="0"/>
              <a:buNone/>
            </a:pPr>
            <a:r>
              <a:rPr lang="en-IN" altLang="en-US" sz="2800" smtClean="0">
                <a:latin typeface="Times New Roman" panose="02020603050405020304" pitchFamily="18" charset="0"/>
                <a:cs typeface="Times New Roman" panose="02020603050405020304" pitchFamily="18" charset="0"/>
              </a:rPr>
              <a:t>iii. Conducting the performance evaluation for achieving the best results. </a:t>
            </a:r>
          </a:p>
          <a:p>
            <a:pPr eaLnBrk="1" hangingPunct="1"/>
            <a:endParaRPr lang="en-IN" altLang="en-US" sz="2800" smtClean="0">
              <a:latin typeface="Times New Roman" panose="02020603050405020304" pitchFamily="18" charset="0"/>
              <a:cs typeface="Times New Roman" panose="02020603050405020304" pitchFamily="18" charset="0"/>
            </a:endParaRPr>
          </a:p>
          <a:p>
            <a:pPr eaLnBrk="1" hangingPunct="1"/>
            <a:endParaRPr lang="en-IN" altLang="en-US" sz="280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Results in Anticipation</a:t>
            </a:r>
            <a:endParaRPr lang="en-IN" altLang="en-US" smtClean="0">
              <a:latin typeface="Times New Roman" panose="02020603050405020304" pitchFamily="18" charset="0"/>
              <a:cs typeface="Times New Roman" panose="02020603050405020304" pitchFamily="18" charset="0"/>
            </a:endParaRPr>
          </a:p>
        </p:txBody>
      </p:sp>
      <p:sp>
        <p:nvSpPr>
          <p:cNvPr id="6147" name="Content Placeholder 2"/>
          <p:cNvSpPr>
            <a:spLocks noGrp="1"/>
          </p:cNvSpPr>
          <p:nvPr>
            <p:ph idx="1"/>
          </p:nvPr>
        </p:nvSpPr>
        <p:spPr/>
        <p:txBody>
          <a:bodyPr/>
          <a:lstStyle/>
          <a:p>
            <a:pPr algn="just" eaLnBrk="1" hangingPunct="1"/>
            <a:r>
              <a:rPr lang="en-IN" altLang="en-US" sz="3000" smtClean="0">
                <a:latin typeface="Times New Roman" panose="02020603050405020304" pitchFamily="18" charset="0"/>
                <a:cs typeface="Times New Roman" panose="02020603050405020304" pitchFamily="18" charset="0"/>
              </a:rPr>
              <a:t>Variables description used in the analysis.</a:t>
            </a:r>
          </a:p>
          <a:p>
            <a:pPr algn="just" eaLnBrk="1" hangingPunct="1"/>
            <a:r>
              <a:rPr lang="en-IN" altLang="en-US" sz="3000" smtClean="0">
                <a:latin typeface="Times New Roman" panose="02020603050405020304" pitchFamily="18" charset="0"/>
                <a:cs typeface="Times New Roman" panose="02020603050405020304" pitchFamily="18" charset="0"/>
              </a:rPr>
              <a:t>Exploratory Analysis </a:t>
            </a:r>
          </a:p>
          <a:p>
            <a:pPr algn="just" eaLnBrk="1" hangingPunct="1"/>
            <a:r>
              <a:rPr lang="en-IN" altLang="en-US" sz="3000" smtClean="0">
                <a:latin typeface="Times New Roman" panose="02020603050405020304" pitchFamily="18" charset="0"/>
                <a:cs typeface="Times New Roman" panose="02020603050405020304" pitchFamily="18" charset="0"/>
              </a:rPr>
              <a:t>Data Pre-processing </a:t>
            </a:r>
          </a:p>
          <a:p>
            <a:pPr algn="just" eaLnBrk="1" hangingPunct="1"/>
            <a:r>
              <a:rPr lang="en-IN" altLang="en-US" sz="3000" smtClean="0">
                <a:latin typeface="Times New Roman" panose="02020603050405020304" pitchFamily="18" charset="0"/>
                <a:cs typeface="Times New Roman" panose="02020603050405020304" pitchFamily="18" charset="0"/>
              </a:rPr>
              <a:t>Models </a:t>
            </a:r>
          </a:p>
          <a:p>
            <a:pPr algn="just" eaLnBrk="1" hangingPunct="1"/>
            <a:r>
              <a:rPr lang="en-IN" altLang="en-US" sz="3000" smtClean="0">
                <a:latin typeface="Times New Roman" panose="02020603050405020304" pitchFamily="18" charset="0"/>
                <a:cs typeface="Times New Roman" panose="02020603050405020304" pitchFamily="18" charset="0"/>
              </a:rPr>
              <a:t>Model Comparative analysis</a:t>
            </a:r>
          </a:p>
          <a:p>
            <a:pPr algn="just" eaLnBrk="1" hangingPunct="1"/>
            <a:r>
              <a:rPr lang="en-IN" altLang="en-US" sz="3000" smtClean="0">
                <a:latin typeface="Times New Roman" panose="02020603050405020304" pitchFamily="18" charset="0"/>
                <a:cs typeface="Times New Roman" panose="02020603050405020304" pitchFamily="18" charset="0"/>
              </a:rPr>
              <a:t>Compare accuracy, precision and execution time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8229600" cy="1143000"/>
          </a:xfrm>
        </p:spPr>
        <p:txBody>
          <a:bodyPr rtlCol="0">
            <a:normAutofit fontScale="90000"/>
          </a:bodyPr>
          <a:lstStyle/>
          <a:p>
            <a:pPr eaLnBrk="1" fontAlgn="auto" hangingPunct="1">
              <a:spcAft>
                <a:spcPts val="0"/>
              </a:spcAft>
              <a:defRPr/>
            </a:pPr>
            <a:r>
              <a:rPr lang="en-IN" dirty="0" smtClean="0">
                <a:latin typeface="Times New Roman" pitchFamily="18" charset="0"/>
                <a:cs typeface="Times New Roman" pitchFamily="18" charset="0"/>
              </a:rPr>
              <a:t/>
            </a:r>
            <a:br>
              <a:rPr lang="en-IN" dirty="0" smtClean="0">
                <a:latin typeface="Times New Roman" pitchFamily="18" charset="0"/>
                <a:cs typeface="Times New Roman" pitchFamily="18" charset="0"/>
              </a:rPr>
            </a:br>
            <a:r>
              <a:rPr lang="en-IN" b="1" dirty="0" smtClean="0">
                <a:latin typeface="Times New Roman" pitchFamily="18" charset="0"/>
                <a:cs typeface="Times New Roman" pitchFamily="18" charset="0"/>
              </a:rPr>
              <a:t>Methods and Techniques Adopted </a:t>
            </a:r>
            <a:br>
              <a:rPr lang="en-IN" b="1" dirty="0" smtClean="0">
                <a:latin typeface="Times New Roman" pitchFamily="18" charset="0"/>
                <a:cs typeface="Times New Roman" pitchFamily="18" charset="0"/>
              </a:rPr>
            </a:br>
            <a:endParaRPr lang="en-IN" dirty="0">
              <a:latin typeface="Times New Roman" pitchFamily="18" charset="0"/>
              <a:cs typeface="Times New Roman" pitchFamily="18" charset="0"/>
            </a:endParaRPr>
          </a:p>
        </p:txBody>
      </p:sp>
      <p:sp>
        <p:nvSpPr>
          <p:cNvPr id="7171" name="Content Placeholder 2"/>
          <p:cNvSpPr>
            <a:spLocks noGrp="1"/>
          </p:cNvSpPr>
          <p:nvPr>
            <p:ph idx="1"/>
          </p:nvPr>
        </p:nvSpPr>
        <p:spPr>
          <a:xfrm>
            <a:off x="609600" y="990600"/>
            <a:ext cx="8229600" cy="4525963"/>
          </a:xfrm>
        </p:spPr>
        <p:txBody>
          <a:bodyPr/>
          <a:lstStyle/>
          <a:p>
            <a:pPr eaLnBrk="1" hangingPunct="1">
              <a:buFont typeface="Arial" panose="020B0604020202020204" pitchFamily="34" charset="0"/>
              <a:buNone/>
            </a:pPr>
            <a:r>
              <a:rPr lang="en-IN" altLang="en-US" sz="2200" b="1" smtClean="0">
                <a:latin typeface="Times New Roman" panose="02020603050405020304" pitchFamily="18" charset="0"/>
                <a:cs typeface="Times New Roman" panose="02020603050405020304" pitchFamily="18" charset="0"/>
              </a:rPr>
              <a:t>Project Dataset, Code: </a:t>
            </a:r>
          </a:p>
          <a:p>
            <a:pPr eaLnBrk="1" hangingPunct="1">
              <a:buFont typeface="Arial" panose="020B0604020202020204" pitchFamily="34" charset="0"/>
              <a:buNone/>
            </a:pPr>
            <a:r>
              <a:rPr lang="en-IN" altLang="en-US" sz="2200" smtClean="0">
                <a:latin typeface="Times New Roman" panose="02020603050405020304" pitchFamily="18" charset="0"/>
                <a:cs typeface="Times New Roman" panose="02020603050405020304" pitchFamily="18" charset="0"/>
              </a:rPr>
              <a:t>The project work is done on “Clean_Dia.xlsx” dataset. </a:t>
            </a:r>
          </a:p>
          <a:p>
            <a:pPr eaLnBrk="1" hangingPunct="1">
              <a:buFont typeface="Arial" panose="020B0604020202020204" pitchFamily="34" charset="0"/>
              <a:buNone/>
            </a:pPr>
            <a:r>
              <a:rPr lang="en-IN" altLang="en-US" sz="2200" smtClean="0">
                <a:latin typeface="Times New Roman" panose="02020603050405020304" pitchFamily="18" charset="0"/>
                <a:cs typeface="Times New Roman" panose="02020603050405020304" pitchFamily="18" charset="0"/>
              </a:rPr>
              <a:t>The Code used in this project is from Jupyter/Python Consoles. </a:t>
            </a:r>
          </a:p>
          <a:p>
            <a:pPr eaLnBrk="1" hangingPunct="1">
              <a:buFont typeface="Arial" panose="020B0604020202020204" pitchFamily="34" charset="0"/>
              <a:buNone/>
            </a:pPr>
            <a:r>
              <a:rPr lang="en-IN" altLang="en-US" sz="2200" b="1" smtClean="0">
                <a:latin typeface="Times New Roman" panose="02020603050405020304" pitchFamily="18" charset="0"/>
                <a:cs typeface="Times New Roman" panose="02020603050405020304" pitchFamily="18" charset="0"/>
              </a:rPr>
              <a:t>Data Quality: </a:t>
            </a:r>
          </a:p>
          <a:p>
            <a:pPr eaLnBrk="1" hangingPunct="1">
              <a:buFont typeface="Arial" panose="020B0604020202020204" pitchFamily="34" charset="0"/>
              <a:buNone/>
            </a:pPr>
            <a:r>
              <a:rPr lang="en-IN" altLang="en-US" sz="2200" smtClean="0">
                <a:latin typeface="Times New Roman" panose="02020603050405020304" pitchFamily="18" charset="0"/>
                <a:cs typeface="Times New Roman" panose="02020603050405020304" pitchFamily="18" charset="0"/>
              </a:rPr>
              <a:t>In this project, wrangling is done by library loading and attaching various program packages. Data linkage is conducted by read.csv(file.choose()). File management and storage is done by R-Code aggression of R-Scripts and saving appropriate documents. </a:t>
            </a:r>
          </a:p>
          <a:p>
            <a:pPr eaLnBrk="1" hangingPunct="1">
              <a:buFont typeface="Arial" panose="020B0604020202020204" pitchFamily="34" charset="0"/>
              <a:buNone/>
            </a:pPr>
            <a:r>
              <a:rPr lang="en-IN" altLang="en-US" sz="2200" b="1" smtClean="0">
                <a:latin typeface="Times New Roman" panose="02020603050405020304" pitchFamily="18" charset="0"/>
                <a:cs typeface="Times New Roman" panose="02020603050405020304" pitchFamily="18" charset="0"/>
              </a:rPr>
              <a:t>Analytics: </a:t>
            </a:r>
          </a:p>
          <a:p>
            <a:pPr eaLnBrk="1" hangingPunct="1">
              <a:buFont typeface="Arial" panose="020B0604020202020204" pitchFamily="34" charset="0"/>
              <a:buNone/>
            </a:pPr>
            <a:r>
              <a:rPr lang="en-IN" altLang="en-US" sz="2200" b="1" smtClean="0">
                <a:latin typeface="Times New Roman" panose="02020603050405020304" pitchFamily="18" charset="0"/>
                <a:cs typeface="Times New Roman" panose="02020603050405020304" pitchFamily="18" charset="0"/>
              </a:rPr>
              <a:t>Exploratory Data Analysis: </a:t>
            </a:r>
          </a:p>
          <a:p>
            <a:pPr eaLnBrk="1" hangingPunct="1">
              <a:buFont typeface="Arial" panose="020B0604020202020204" pitchFamily="34" charset="0"/>
              <a:buNone/>
            </a:pPr>
            <a:r>
              <a:rPr lang="en-IN" altLang="en-US" sz="2200" smtClean="0">
                <a:latin typeface="Times New Roman" panose="02020603050405020304" pitchFamily="18" charset="0"/>
                <a:cs typeface="Times New Roman" panose="02020603050405020304" pitchFamily="18" charset="0"/>
              </a:rPr>
              <a:t>In this project, EDA is done by conducting by Visual Inspection of data, Description of data, Histogram of Integer distributions. </a:t>
            </a:r>
          </a:p>
          <a:p>
            <a:pPr eaLnBrk="1" hangingPunct="1">
              <a:buFont typeface="Arial" panose="020B0604020202020204" pitchFamily="34" charset="0"/>
              <a:buNone/>
            </a:pPr>
            <a:r>
              <a:rPr lang="en-IN" altLang="en-US" sz="2200" b="1" smtClean="0">
                <a:latin typeface="Times New Roman" panose="02020603050405020304" pitchFamily="18" charset="0"/>
                <a:cs typeface="Times New Roman" panose="02020603050405020304" pitchFamily="18" charset="0"/>
              </a:rPr>
              <a:t>Data Processing and Preprocessing: </a:t>
            </a:r>
          </a:p>
          <a:p>
            <a:pPr eaLnBrk="1" hangingPunct="1">
              <a:buFont typeface="Arial" panose="020B0604020202020204" pitchFamily="34" charset="0"/>
              <a:buNone/>
            </a:pPr>
            <a:r>
              <a:rPr lang="en-IN" altLang="en-US" sz="2200" smtClean="0">
                <a:latin typeface="Times New Roman" panose="02020603050405020304" pitchFamily="18" charset="0"/>
                <a:cs typeface="Times New Roman" panose="02020603050405020304" pitchFamily="18" charset="0"/>
              </a:rPr>
              <a:t>In this project, 4 blocks of python-codes- Apriori, Binning, Handling missing values, PCA have been used. </a:t>
            </a:r>
          </a:p>
          <a:p>
            <a:pPr eaLnBrk="1" hangingPunct="1">
              <a:buFont typeface="Arial" panose="020B0604020202020204" pitchFamily="34" charset="0"/>
              <a:buNone/>
            </a:pPr>
            <a:endParaRPr lang="en-IN" altLang="en-US" sz="220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95400"/>
            <a:ext cx="8229600" cy="4525963"/>
          </a:xfrm>
        </p:spPr>
        <p:txBody>
          <a:bodyPr rtlCol="0">
            <a:normAutofit fontScale="77500" lnSpcReduction="20000"/>
          </a:bodyPr>
          <a:lstStyle/>
          <a:p>
            <a:pPr eaLnBrk="1" fontAlgn="auto" hangingPunct="1">
              <a:spcAft>
                <a:spcPts val="0"/>
              </a:spcAft>
              <a:buFont typeface="Arial" panose="020B0604020202020204" pitchFamily="34" charset="0"/>
              <a:buNone/>
              <a:defRPr/>
            </a:pPr>
            <a:r>
              <a:rPr lang="en-IN" b="1" dirty="0" smtClean="0">
                <a:latin typeface="Times New Roman" pitchFamily="18" charset="0"/>
                <a:cs typeface="Times New Roman" pitchFamily="18" charset="0"/>
              </a:rPr>
              <a:t>Model Feature Selection: </a:t>
            </a:r>
          </a:p>
          <a:p>
            <a:pPr eaLnBrk="1" fontAlgn="auto" hangingPunct="1">
              <a:spcAft>
                <a:spcPts val="0"/>
              </a:spcAft>
              <a:buFont typeface="Arial" panose="020B0604020202020204" pitchFamily="34" charset="0"/>
              <a:buNone/>
              <a:defRPr/>
            </a:pPr>
            <a:r>
              <a:rPr lang="en-IN" dirty="0" smtClean="0">
                <a:latin typeface="Times New Roman" pitchFamily="18" charset="0"/>
                <a:cs typeface="Times New Roman" pitchFamily="18" charset="0"/>
              </a:rPr>
              <a:t>In this present project, the target variable is used by the following the steps below: </a:t>
            </a:r>
          </a:p>
          <a:p>
            <a:pPr eaLnBrk="1" fontAlgn="auto" hangingPunct="1">
              <a:spcAft>
                <a:spcPts val="0"/>
              </a:spcAft>
              <a:buFont typeface="Arial" panose="020B0604020202020204" pitchFamily="34" charset="0"/>
              <a:buNone/>
              <a:defRPr/>
            </a:pPr>
            <a:r>
              <a:rPr lang="en-IN" dirty="0" smtClean="0">
                <a:latin typeface="Times New Roman" pitchFamily="18" charset="0"/>
                <a:cs typeface="Times New Roman" pitchFamily="18" charset="0"/>
              </a:rPr>
              <a:t>Feature selection is done by using Python Programming. It involves Python flask, shell to load dataset and subset only numerical features. </a:t>
            </a:r>
          </a:p>
          <a:p>
            <a:pPr eaLnBrk="1" fontAlgn="auto" hangingPunct="1">
              <a:spcAft>
                <a:spcPts val="0"/>
              </a:spcAft>
              <a:buFont typeface="Arial" panose="020B0604020202020204" pitchFamily="34" charset="0"/>
              <a:buNone/>
              <a:defRPr/>
            </a:pPr>
            <a:r>
              <a:rPr lang="en-IN" b="1" dirty="0" smtClean="0">
                <a:latin typeface="Times New Roman" pitchFamily="18" charset="0"/>
                <a:cs typeface="Times New Roman" pitchFamily="18" charset="0"/>
              </a:rPr>
              <a:t>Model Comparative Analysis: </a:t>
            </a:r>
          </a:p>
          <a:p>
            <a:pPr eaLnBrk="1" fontAlgn="auto" hangingPunct="1">
              <a:spcAft>
                <a:spcPts val="0"/>
              </a:spcAft>
              <a:buFont typeface="Arial" panose="020B0604020202020204" pitchFamily="34" charset="0"/>
              <a:buNone/>
              <a:defRPr/>
            </a:pPr>
            <a:r>
              <a:rPr lang="en-IN" b="1" dirty="0" smtClean="0">
                <a:latin typeface="Times New Roman" pitchFamily="18" charset="0"/>
                <a:cs typeface="Times New Roman" pitchFamily="18" charset="0"/>
              </a:rPr>
              <a:t>Model Evaluation: </a:t>
            </a:r>
          </a:p>
          <a:p>
            <a:pPr eaLnBrk="1" fontAlgn="auto" hangingPunct="1">
              <a:spcAft>
                <a:spcPts val="0"/>
              </a:spcAft>
              <a:buFont typeface="Arial" panose="020B0604020202020204" pitchFamily="34" charset="0"/>
              <a:buNone/>
              <a:defRPr/>
            </a:pPr>
            <a:r>
              <a:rPr lang="en-IN" dirty="0" smtClean="0">
                <a:latin typeface="Times New Roman" pitchFamily="18" charset="0"/>
                <a:cs typeface="Times New Roman" pitchFamily="18" charset="0"/>
              </a:rPr>
              <a:t>It involves developing algorithms, namely LR, LDA, KNN, CART, NB, and SVM, to effective verify Model accuracy of the models.</a:t>
            </a:r>
          </a:p>
          <a:p>
            <a:pPr eaLnBrk="1" fontAlgn="auto" hangingPunct="1">
              <a:spcAft>
                <a:spcPts val="0"/>
              </a:spcAft>
              <a:buFont typeface="Arial" panose="020B0604020202020204" pitchFamily="34" charset="0"/>
              <a:buNone/>
              <a:defRPr/>
            </a:pPr>
            <a:r>
              <a:rPr lang="en-IN" dirty="0" smtClean="0">
                <a:latin typeface="Times New Roman" pitchFamily="18" charset="0"/>
                <a:cs typeface="Times New Roman" pitchFamily="18" charset="0"/>
              </a:rPr>
              <a:t>Model evaluation is done by Gradient Regression Algorithm in which accuracy is calculated. </a:t>
            </a:r>
          </a:p>
          <a:p>
            <a:pPr eaLnBrk="1" fontAlgn="auto" hangingPunct="1">
              <a:spcAft>
                <a:spcPts val="0"/>
              </a:spcAft>
              <a:defRPr/>
            </a:pPr>
            <a:endParaRPr lang="en-IN" dirty="0"/>
          </a:p>
        </p:txBody>
      </p:sp>
      <p:sp>
        <p:nvSpPr>
          <p:cNvPr id="4" name="Title 1"/>
          <p:cNvSpPr>
            <a:spLocks noGrp="1"/>
          </p:cNvSpPr>
          <p:nvPr>
            <p:ph type="title"/>
          </p:nvPr>
        </p:nvSpPr>
        <p:spPr/>
        <p:txBody>
          <a:bodyPr rtlCol="0">
            <a:normAutofit fontScale="90000"/>
          </a:bodyPr>
          <a:lstStyle/>
          <a:p>
            <a:pPr eaLnBrk="1" fontAlgn="auto" hangingPunct="1">
              <a:spcAft>
                <a:spcPts val="0"/>
              </a:spcAft>
              <a:defRPr/>
            </a:pPr>
            <a:r>
              <a:rPr lang="en-IN" dirty="0" smtClean="0">
                <a:latin typeface="Times New Roman" pitchFamily="18" charset="0"/>
                <a:cs typeface="Times New Roman" pitchFamily="18" charset="0"/>
              </a:rPr>
              <a:t/>
            </a:r>
            <a:br>
              <a:rPr lang="en-IN" dirty="0" smtClean="0">
                <a:latin typeface="Times New Roman" pitchFamily="18" charset="0"/>
                <a:cs typeface="Times New Roman" pitchFamily="18" charset="0"/>
              </a:rPr>
            </a:br>
            <a:r>
              <a:rPr lang="en-IN" b="1" dirty="0" smtClean="0">
                <a:latin typeface="Times New Roman" pitchFamily="18" charset="0"/>
                <a:cs typeface="Times New Roman" pitchFamily="18" charset="0"/>
              </a:rPr>
              <a:t>Methods and Techniques Adopted </a:t>
            </a:r>
            <a:br>
              <a:rPr lang="en-IN" b="1" dirty="0" smtClean="0">
                <a:latin typeface="Times New Roman" pitchFamily="18" charset="0"/>
                <a:cs typeface="Times New Roman" pitchFamily="18" charset="0"/>
              </a:rPr>
            </a:b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Conclusion</a:t>
            </a:r>
          </a:p>
        </p:txBody>
      </p:sp>
      <p:sp>
        <p:nvSpPr>
          <p:cNvPr id="75779" name="Content Placeholder 2"/>
          <p:cNvSpPr>
            <a:spLocks noGrp="1"/>
          </p:cNvSpPr>
          <p:nvPr>
            <p:ph idx="1"/>
          </p:nvPr>
        </p:nvSpPr>
        <p:spPr>
          <a:xfrm>
            <a:off x="457200" y="1447800"/>
            <a:ext cx="8229600" cy="4525963"/>
          </a:xfrm>
        </p:spPr>
        <p:txBody>
          <a:bodyPr/>
          <a:lstStyle/>
          <a:p>
            <a:pPr eaLnBrk="1" hangingPunct="1"/>
            <a:r>
              <a:rPr lang="en-IN" altLang="en-US" sz="2800" smtClean="0">
                <a:latin typeface="Times New Roman" panose="02020603050405020304" pitchFamily="18" charset="0"/>
                <a:cs typeface="Times New Roman" panose="02020603050405020304" pitchFamily="18" charset="0"/>
              </a:rPr>
              <a:t>Based on the Model Scores, Decision Tree Classifier (CART), Gaussian NB (NB) are the effective Models, in this project.</a:t>
            </a:r>
          </a:p>
          <a:p>
            <a:pPr eaLnBrk="1" hangingPunct="1"/>
            <a:r>
              <a:rPr lang="en-IN" altLang="en-US" sz="2800" smtClean="0">
                <a:latin typeface="Times New Roman" panose="02020603050405020304" pitchFamily="18" charset="0"/>
                <a:cs typeface="Times New Roman" panose="02020603050405020304" pitchFamily="18" charset="0"/>
              </a:rPr>
              <a:t>The patients suffering from DM have been classified into Type1DM, Type2DM, and Type0DM using Gradient Boosting Algorithm.</a:t>
            </a:r>
          </a:p>
          <a:p>
            <a:pPr eaLnBrk="1" hangingPunct="1"/>
            <a:r>
              <a:rPr lang="en-IN" altLang="en-US" sz="2800" smtClean="0"/>
              <a:t>iii. The high risk factors and symptoms predominant in Type1DM are identified as </a:t>
            </a:r>
          </a:p>
          <a:p>
            <a:pPr eaLnBrk="1" hangingPunct="1"/>
            <a:r>
              <a:rPr lang="en-IN" altLang="en-US" sz="2800" smtClean="0"/>
              <a:t>a. Predominant in the age-group 0-19 years and 57-90 years. </a:t>
            </a:r>
          </a:p>
          <a:p>
            <a:pPr eaLnBrk="1" hangingPunct="1"/>
            <a:r>
              <a:rPr lang="en-IN" altLang="en-US" sz="2800" smtClean="0"/>
              <a:t>b. Alcoholism</a:t>
            </a:r>
            <a:endParaRPr lang="en-IN" altLang="en-US" sz="280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rtlCol="0">
            <a:normAutofit fontScale="47500" lnSpcReduction="20000"/>
          </a:bodyPr>
          <a:lstStyle/>
          <a:p>
            <a:pPr eaLnBrk="1" fontAlgn="auto" hangingPunct="1">
              <a:spcAft>
                <a:spcPts val="0"/>
              </a:spcAft>
              <a:defRPr/>
            </a:pPr>
            <a:endParaRPr lang="en-IN" dirty="0" smtClean="0"/>
          </a:p>
          <a:p>
            <a:pPr eaLnBrk="1" fontAlgn="auto" hangingPunct="1">
              <a:spcAft>
                <a:spcPts val="0"/>
              </a:spcAft>
              <a:defRPr/>
            </a:pPr>
            <a:r>
              <a:rPr lang="en-IN" dirty="0" smtClean="0"/>
              <a:t>c. Dinner Habits </a:t>
            </a:r>
          </a:p>
          <a:p>
            <a:pPr eaLnBrk="1" fontAlgn="auto" hangingPunct="1">
              <a:spcAft>
                <a:spcPts val="0"/>
              </a:spcAft>
              <a:defRPr/>
            </a:pPr>
            <a:r>
              <a:rPr lang="en-IN" dirty="0" smtClean="0"/>
              <a:t>d. Wound Healing </a:t>
            </a:r>
          </a:p>
          <a:p>
            <a:pPr eaLnBrk="1" fontAlgn="auto" hangingPunct="1">
              <a:spcAft>
                <a:spcPts val="0"/>
              </a:spcAft>
              <a:defRPr/>
            </a:pPr>
            <a:r>
              <a:rPr lang="en-IN" dirty="0" smtClean="0"/>
              <a:t>e. Family History </a:t>
            </a:r>
          </a:p>
          <a:p>
            <a:pPr eaLnBrk="1" fontAlgn="auto" hangingPunct="1">
              <a:spcAft>
                <a:spcPts val="0"/>
              </a:spcAft>
              <a:defRPr/>
            </a:pPr>
            <a:r>
              <a:rPr lang="en-IN" dirty="0" smtClean="0"/>
              <a:t>f. Weight Loss </a:t>
            </a:r>
          </a:p>
          <a:p>
            <a:pPr eaLnBrk="1" fontAlgn="auto" hangingPunct="1">
              <a:spcAft>
                <a:spcPts val="0"/>
              </a:spcAft>
              <a:defRPr/>
            </a:pPr>
            <a:r>
              <a:rPr lang="en-IN" dirty="0" smtClean="0"/>
              <a:t>iv. The high risk factors and symptoms predominant in Type2DM are identified as </a:t>
            </a:r>
          </a:p>
          <a:p>
            <a:pPr eaLnBrk="1" fontAlgn="auto" hangingPunct="1">
              <a:spcAft>
                <a:spcPts val="0"/>
              </a:spcAft>
              <a:defRPr/>
            </a:pPr>
            <a:r>
              <a:rPr lang="en-IN" dirty="0" smtClean="0"/>
              <a:t>a. Allergy </a:t>
            </a:r>
          </a:p>
          <a:p>
            <a:pPr eaLnBrk="1" fontAlgn="auto" hangingPunct="1">
              <a:spcAft>
                <a:spcPts val="0"/>
              </a:spcAft>
              <a:defRPr/>
            </a:pPr>
            <a:r>
              <a:rPr lang="en-IN" dirty="0" smtClean="0"/>
              <a:t>b. Age Group 19-55 years </a:t>
            </a:r>
          </a:p>
          <a:p>
            <a:pPr eaLnBrk="1" fontAlgn="auto" hangingPunct="1">
              <a:spcAft>
                <a:spcPts val="0"/>
              </a:spcAft>
              <a:defRPr/>
            </a:pPr>
            <a:r>
              <a:rPr lang="en-IN" dirty="0" smtClean="0"/>
              <a:t>c. </a:t>
            </a:r>
            <a:r>
              <a:rPr lang="en-IN" dirty="0" err="1" smtClean="0"/>
              <a:t>PCos</a:t>
            </a:r>
            <a:r>
              <a:rPr lang="en-IN" dirty="0" smtClean="0"/>
              <a:t> </a:t>
            </a:r>
          </a:p>
          <a:p>
            <a:pPr eaLnBrk="1" fontAlgn="auto" hangingPunct="1">
              <a:spcAft>
                <a:spcPts val="0"/>
              </a:spcAft>
              <a:defRPr/>
            </a:pPr>
            <a:r>
              <a:rPr lang="en-IN" dirty="0" smtClean="0"/>
              <a:t>d. Gender </a:t>
            </a:r>
          </a:p>
          <a:p>
            <a:pPr eaLnBrk="1" fontAlgn="auto" hangingPunct="1">
              <a:spcAft>
                <a:spcPts val="0"/>
              </a:spcAft>
              <a:defRPr/>
            </a:pPr>
            <a:r>
              <a:rPr lang="en-IN" dirty="0" smtClean="0"/>
              <a:t>e. Hand and Feet Numbness [100% Predominant in Type2] </a:t>
            </a:r>
          </a:p>
          <a:p>
            <a:pPr eaLnBrk="1" fontAlgn="auto" hangingPunct="1">
              <a:spcAft>
                <a:spcPts val="0"/>
              </a:spcAft>
              <a:defRPr/>
            </a:pPr>
            <a:r>
              <a:rPr lang="en-IN" dirty="0" smtClean="0"/>
              <a:t>f. Gradual Weight Gain [Extremely High] </a:t>
            </a:r>
          </a:p>
          <a:p>
            <a:pPr eaLnBrk="1" fontAlgn="auto" hangingPunct="1">
              <a:spcAft>
                <a:spcPts val="0"/>
              </a:spcAft>
              <a:defRPr/>
            </a:pPr>
            <a:r>
              <a:rPr lang="en-IN" dirty="0" smtClean="0"/>
              <a:t>v. The Risk Factors and Symptoms equally predominant in both Type1 and Type2 </a:t>
            </a:r>
          </a:p>
          <a:p>
            <a:pPr eaLnBrk="1" fontAlgn="auto" hangingPunct="1">
              <a:spcAft>
                <a:spcPts val="0"/>
              </a:spcAft>
              <a:defRPr/>
            </a:pPr>
            <a:r>
              <a:rPr lang="en-IN" dirty="0" smtClean="0"/>
              <a:t>are identified </a:t>
            </a:r>
          </a:p>
          <a:p>
            <a:pPr eaLnBrk="1" fontAlgn="auto" hangingPunct="1">
              <a:spcAft>
                <a:spcPts val="0"/>
              </a:spcAft>
              <a:defRPr/>
            </a:pPr>
            <a:r>
              <a:rPr lang="en-IN" dirty="0" smtClean="0"/>
              <a:t>a. </a:t>
            </a:r>
            <a:r>
              <a:rPr lang="en-IN" dirty="0" err="1" smtClean="0"/>
              <a:t>Micturition</a:t>
            </a:r>
            <a:r>
              <a:rPr lang="en-IN" dirty="0" smtClean="0"/>
              <a:t> </a:t>
            </a:r>
          </a:p>
          <a:p>
            <a:pPr eaLnBrk="1" fontAlgn="auto" hangingPunct="1">
              <a:spcAft>
                <a:spcPts val="0"/>
              </a:spcAft>
              <a:defRPr/>
            </a:pPr>
            <a:r>
              <a:rPr lang="en-IN" dirty="0" smtClean="0"/>
              <a:t>b. Visual Impairment </a:t>
            </a:r>
          </a:p>
          <a:p>
            <a:pPr eaLnBrk="1" fontAlgn="auto" hangingPunct="1">
              <a:spcAft>
                <a:spcPts val="0"/>
              </a:spcAft>
              <a:defRPr/>
            </a:pPr>
            <a:r>
              <a:rPr lang="en-IN" dirty="0" smtClean="0"/>
              <a:t>c. Frequent Thirst</a:t>
            </a:r>
            <a:endParaRPr lang="en-IN" dirty="0" smtClean="0">
              <a:latin typeface="Times New Roman" pitchFamily="18" charset="0"/>
              <a:cs typeface="Times New Roman" pitchFamily="18" charset="0"/>
            </a:endParaRPr>
          </a:p>
          <a:p>
            <a:pPr eaLnBrk="1" fontAlgn="auto" hangingPunct="1">
              <a:spcAft>
                <a:spcPts val="0"/>
              </a:spcAft>
              <a:defRPr/>
            </a:pPr>
            <a:endParaRPr lang="en-IN" dirty="0"/>
          </a:p>
        </p:txBody>
      </p:sp>
      <p:sp>
        <p:nvSpPr>
          <p:cNvPr id="76803"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Conclusion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rtlCol="0">
            <a:normAutofit lnSpcReduction="10000"/>
          </a:bodyPr>
          <a:lstStyle/>
          <a:p>
            <a:pPr eaLnBrk="1" fontAlgn="auto" hangingPunct="1">
              <a:spcAft>
                <a:spcPts val="0"/>
              </a:spcAft>
              <a:defRPr/>
            </a:pPr>
            <a:r>
              <a:rPr lang="en-IN" dirty="0" smtClean="0">
                <a:latin typeface="Times New Roman" pitchFamily="18" charset="0"/>
                <a:cs typeface="Times New Roman" pitchFamily="18" charset="0"/>
              </a:rPr>
              <a:t>The Probability Density and </a:t>
            </a:r>
            <a:r>
              <a:rPr lang="en-IN" dirty="0" err="1" smtClean="0">
                <a:latin typeface="Times New Roman" pitchFamily="18" charset="0"/>
                <a:cs typeface="Times New Roman" pitchFamily="18" charset="0"/>
              </a:rPr>
              <a:t>Bsl_ae</a:t>
            </a:r>
            <a:r>
              <a:rPr lang="en-IN" dirty="0" smtClean="0">
                <a:latin typeface="Times New Roman" pitchFamily="18" charset="0"/>
                <a:cs typeface="Times New Roman" pitchFamily="18" charset="0"/>
              </a:rPr>
              <a:t> Curve is narrowly distributed among Type1DM in the range of 180-350 </a:t>
            </a:r>
            <a:r>
              <a:rPr lang="en-IN" dirty="0" err="1" smtClean="0">
                <a:latin typeface="Times New Roman" pitchFamily="18" charset="0"/>
                <a:cs typeface="Times New Roman" pitchFamily="18" charset="0"/>
              </a:rPr>
              <a:t>bsl_ae</a:t>
            </a:r>
            <a:r>
              <a:rPr lang="en-IN" dirty="0" smtClean="0">
                <a:latin typeface="Times New Roman" pitchFamily="18" charset="0"/>
                <a:cs typeface="Times New Roman" pitchFamily="18" charset="0"/>
              </a:rPr>
              <a:t> and widely distributed among Type2DM in the range of 100-400 </a:t>
            </a:r>
            <a:r>
              <a:rPr lang="en-IN" dirty="0" err="1" smtClean="0">
                <a:latin typeface="Times New Roman" pitchFamily="18" charset="0"/>
                <a:cs typeface="Times New Roman" pitchFamily="18" charset="0"/>
              </a:rPr>
              <a:t>bsl_ae</a:t>
            </a:r>
            <a:r>
              <a:rPr lang="en-IN" dirty="0" smtClean="0">
                <a:latin typeface="Times New Roman" pitchFamily="18" charset="0"/>
                <a:cs typeface="Times New Roman" pitchFamily="18" charset="0"/>
              </a:rPr>
              <a:t>. </a:t>
            </a:r>
          </a:p>
          <a:p>
            <a:pPr eaLnBrk="1" fontAlgn="auto" hangingPunct="1">
              <a:spcAft>
                <a:spcPts val="0"/>
              </a:spcAft>
              <a:defRPr/>
            </a:pPr>
            <a:r>
              <a:rPr lang="en-IN" dirty="0" smtClean="0">
                <a:latin typeface="Times New Roman" pitchFamily="18" charset="0"/>
                <a:cs typeface="Times New Roman" pitchFamily="18" charset="0"/>
              </a:rPr>
              <a:t>Hence, the </a:t>
            </a:r>
            <a:r>
              <a:rPr lang="en-IN" dirty="0" err="1" smtClean="0">
                <a:latin typeface="Times New Roman" pitchFamily="18" charset="0"/>
                <a:cs typeface="Times New Roman" pitchFamily="18" charset="0"/>
              </a:rPr>
              <a:t>bsl_ae</a:t>
            </a:r>
            <a:r>
              <a:rPr lang="en-IN" dirty="0" smtClean="0">
                <a:latin typeface="Times New Roman" pitchFamily="18" charset="0"/>
                <a:cs typeface="Times New Roman" pitchFamily="18" charset="0"/>
              </a:rPr>
              <a:t> of majority of the patients of Type1DM falls in the range of 180-350 and the </a:t>
            </a:r>
            <a:r>
              <a:rPr lang="en-IN" dirty="0" err="1" smtClean="0">
                <a:latin typeface="Times New Roman" pitchFamily="18" charset="0"/>
                <a:cs typeface="Times New Roman" pitchFamily="18" charset="0"/>
              </a:rPr>
              <a:t>bsl_ae</a:t>
            </a:r>
            <a:r>
              <a:rPr lang="en-IN" dirty="0" smtClean="0">
                <a:latin typeface="Times New Roman" pitchFamily="18" charset="0"/>
                <a:cs typeface="Times New Roman" pitchFamily="18" charset="0"/>
              </a:rPr>
              <a:t> of the patients of Type2DM are in the range of 100-400. </a:t>
            </a:r>
          </a:p>
          <a:p>
            <a:pPr eaLnBrk="1" fontAlgn="auto" hangingPunct="1">
              <a:spcAft>
                <a:spcPts val="0"/>
              </a:spcAft>
              <a:defRPr/>
            </a:pPr>
            <a:endParaRPr lang="en-IN" dirty="0" smtClean="0">
              <a:latin typeface="Times New Roman" pitchFamily="18" charset="0"/>
              <a:cs typeface="Times New Roman" pitchFamily="18" charset="0"/>
            </a:endParaRPr>
          </a:p>
          <a:p>
            <a:pPr eaLnBrk="1" fontAlgn="auto" hangingPunct="1">
              <a:spcAft>
                <a:spcPts val="0"/>
              </a:spcAft>
              <a:defRPr/>
            </a:pPr>
            <a:endParaRPr lang="en-IN" dirty="0"/>
          </a:p>
        </p:txBody>
      </p:sp>
      <p:sp>
        <p:nvSpPr>
          <p:cNvPr id="77827"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Conclusion</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pPr eaLnBrk="1" hangingPunct="1"/>
            <a:r>
              <a:rPr lang="en-IN" altLang="en-US" b="1" smtClean="0">
                <a:latin typeface="Times New Roman" panose="02020603050405020304" pitchFamily="18" charset="0"/>
                <a:cs typeface="Times New Roman" panose="02020603050405020304" pitchFamily="18" charset="0"/>
              </a:rPr>
              <a:t>References </a:t>
            </a:r>
          </a:p>
        </p:txBody>
      </p:sp>
      <p:sp>
        <p:nvSpPr>
          <p:cNvPr id="3" name="Content Placeholder 2"/>
          <p:cNvSpPr>
            <a:spLocks noGrp="1"/>
          </p:cNvSpPr>
          <p:nvPr>
            <p:ph idx="1"/>
          </p:nvPr>
        </p:nvSpPr>
        <p:spPr/>
        <p:txBody>
          <a:bodyPr rtlCol="0">
            <a:normAutofit fontScale="92500"/>
          </a:bodyPr>
          <a:lstStyle/>
          <a:p>
            <a:pPr eaLnBrk="1" fontAlgn="auto" hangingPunct="1">
              <a:spcAft>
                <a:spcPts val="0"/>
              </a:spcAft>
              <a:defRPr/>
            </a:pPr>
            <a:r>
              <a:rPr lang="en-IN" dirty="0" smtClean="0">
                <a:latin typeface="Times New Roman" pitchFamily="18" charset="0"/>
                <a:cs typeface="Times New Roman" pitchFamily="18" charset="0"/>
              </a:rPr>
              <a:t>References- From </a:t>
            </a:r>
            <a:r>
              <a:rPr lang="en-IN" i="1" dirty="0" err="1" smtClean="0">
                <a:latin typeface="Times New Roman" pitchFamily="18" charset="0"/>
                <a:cs typeface="Times New Roman" pitchFamily="18" charset="0"/>
              </a:rPr>
              <a:t>Kaggle</a:t>
            </a:r>
            <a:endParaRPr lang="en-IN" i="1" dirty="0" smtClean="0">
              <a:latin typeface="Times New Roman" pitchFamily="18" charset="0"/>
              <a:cs typeface="Times New Roman" pitchFamily="18" charset="0"/>
            </a:endParaRPr>
          </a:p>
          <a:p>
            <a:pPr eaLnBrk="1" fontAlgn="auto" hangingPunct="1">
              <a:spcAft>
                <a:spcPts val="0"/>
              </a:spcAft>
              <a:defRPr/>
            </a:pPr>
            <a:r>
              <a:rPr lang="en-IN" dirty="0" smtClean="0">
                <a:latin typeface="Times New Roman" pitchFamily="18" charset="0"/>
                <a:cs typeface="Times New Roman" pitchFamily="18" charset="0"/>
              </a:rPr>
              <a:t>Detecting early Alzheimer's using MRI data and machine learning.</a:t>
            </a:r>
          </a:p>
          <a:p>
            <a:pPr eaLnBrk="1" fontAlgn="auto" hangingPunct="1">
              <a:spcAft>
                <a:spcPts val="0"/>
              </a:spcAft>
              <a:defRPr/>
            </a:pPr>
            <a:r>
              <a:rPr lang="en-IN" dirty="0" smtClean="0">
                <a:latin typeface="Times New Roman" pitchFamily="18" charset="0"/>
                <a:cs typeface="Times New Roman" pitchFamily="18" charset="0"/>
              </a:rPr>
              <a:t>Diabetes prediction with demographic features and body measurements.</a:t>
            </a:r>
          </a:p>
          <a:p>
            <a:pPr eaLnBrk="1" fontAlgn="auto" hangingPunct="1">
              <a:spcAft>
                <a:spcPts val="0"/>
              </a:spcAft>
              <a:defRPr/>
            </a:pPr>
            <a:r>
              <a:rPr lang="en-IN" dirty="0" smtClean="0">
                <a:latin typeface="Times New Roman" pitchFamily="18" charset="0"/>
                <a:cs typeface="Times New Roman" pitchFamily="18" charset="0"/>
              </a:rPr>
              <a:t>How to install </a:t>
            </a:r>
            <a:r>
              <a:rPr lang="en-IN" dirty="0" err="1" smtClean="0">
                <a:latin typeface="Times New Roman" pitchFamily="18" charset="0"/>
                <a:cs typeface="Times New Roman" pitchFamily="18" charset="0"/>
              </a:rPr>
              <a:t>Nvidia</a:t>
            </a:r>
            <a:r>
              <a:rPr lang="en-IN" dirty="0" smtClean="0">
                <a:latin typeface="Times New Roman" pitchFamily="18" charset="0"/>
                <a:cs typeface="Times New Roman" pitchFamily="18" charset="0"/>
              </a:rPr>
              <a:t>-Apex in notebook.</a:t>
            </a:r>
          </a:p>
          <a:p>
            <a:pPr eaLnBrk="1" fontAlgn="auto" hangingPunct="1">
              <a:spcAft>
                <a:spcPts val="0"/>
              </a:spcAft>
              <a:defRPr/>
            </a:pPr>
            <a:r>
              <a:rPr lang="en-IN" dirty="0" smtClean="0">
                <a:latin typeface="Times New Roman" pitchFamily="18" charset="0"/>
                <a:cs typeface="Times New Roman" pitchFamily="18" charset="0"/>
              </a:rPr>
              <a:t>Random Forest Benchmark ®.</a:t>
            </a:r>
          </a:p>
          <a:p>
            <a:pPr eaLnBrk="1" fontAlgn="auto" hangingPunct="1">
              <a:spcAft>
                <a:spcPts val="0"/>
              </a:spcAft>
              <a:defRPr/>
            </a:pPr>
            <a:r>
              <a:rPr lang="en-IN" dirty="0" smtClean="0">
                <a:latin typeface="Times New Roman" pitchFamily="18" charset="0"/>
                <a:cs typeface="Times New Roman" pitchFamily="18" charset="0"/>
              </a:rPr>
              <a:t>Back to (predict) the future - Interactive M5 EDA.</a:t>
            </a: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IABETES -Project_Report_Summary_Gopal_ [Compatibility Mode]" id="{76474A49-E59C-424C-9097-5D6F31DE0B53}" vid="{7C497DE5-3E73-495C-8599-9FD3BC7327BD}"/>
    </a:ext>
  </a:extLst>
</a:theme>
</file>

<file path=docProps/app.xml><?xml version="1.0" encoding="utf-8"?>
<Properties xmlns="http://schemas.openxmlformats.org/officeDocument/2006/extended-properties" xmlns:vt="http://schemas.openxmlformats.org/officeDocument/2006/docPropsVTypes">
  <Template>DIABETES -Project_Report_Summary_Gopal 3rd dec</Template>
  <TotalTime>11</TotalTime>
  <Words>681</Words>
  <Application>Microsoft Office PowerPoint</Application>
  <PresentationFormat>On-screen Show (4:3)</PresentationFormat>
  <Paragraphs>74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Categorising The Symptoms of Diabetes Type </vt:lpstr>
      <vt:lpstr>Introduction </vt:lpstr>
      <vt:lpstr>Aim of Project Work</vt:lpstr>
      <vt:lpstr>Objectives</vt:lpstr>
      <vt:lpstr>Results in Anticipation</vt:lpstr>
      <vt:lpstr> Methods and Techniques Adopted  </vt:lpstr>
      <vt:lpstr> Methods and Techniques Adopted  </vt:lpstr>
      <vt:lpstr>Conclusion</vt:lpstr>
      <vt:lpstr>Conclusion</vt:lpstr>
      <vt:lpstr>Conclusion</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Identifying Risk factors influencing Diabetes Type</dc:title>
  <dc:creator>ADMIN</dc:creator>
  <cp:lastModifiedBy>LENOVO</cp:lastModifiedBy>
  <cp:revision>6</cp:revision>
  <cp:lastPrinted>2024-05-12T05:05:45Z</cp:lastPrinted>
  <dcterms:created xsi:type="dcterms:W3CDTF">2022-12-04T03:06:06Z</dcterms:created>
  <dcterms:modified xsi:type="dcterms:W3CDTF">2024-05-12T05:06:37Z</dcterms:modified>
</cp:coreProperties>
</file>