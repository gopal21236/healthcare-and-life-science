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9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4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2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1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8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6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2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2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0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39442-84F0-4A8C-B0F5-3DE79715460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98D16-9924-43AF-96AB-FDFFC530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f7py8rTzTeEwSZuKljU4EjggUZvmLe0U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Hospital Bill Verification Automation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663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https://colab.research.google.com/drive/1f7py8rTzTeEwSZuKljU4EjggUZvmLe0U?usp=sharing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Executive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Healthcare insurance claims are highly vulnerable to billing discrepancies, overcharging, inflated pharmacy costs, and extended room stays. Manual verification processes are time-consuming, inconsistent, and costly.</a:t>
            </a:r>
          </a:p>
          <a:p>
            <a:r>
              <a:rPr lang="en-US" dirty="0" smtClean="0"/>
              <a:t>This project automates hospital bill verification using rule-based validation, risk scoring, and analytics-driven visualization. The system detects overbilling, flags suspicious claims, and optimizes manual review allocation while maintaining compliance and audit transparency.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76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Business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Insurance companies face key challenges in hospital bill processing:</a:t>
            </a:r>
          </a:p>
          <a:p>
            <a:r>
              <a:rPr lang="en-US" dirty="0" smtClean="0"/>
              <a:t>Inflated hospital charges</a:t>
            </a:r>
          </a:p>
          <a:p>
            <a:r>
              <a:rPr lang="en-US" dirty="0" smtClean="0"/>
              <a:t>Unnecessary extended room stays</a:t>
            </a:r>
          </a:p>
          <a:p>
            <a:r>
              <a:rPr lang="en-US" dirty="0" smtClean="0"/>
              <a:t>Excessive pharmacy billing</a:t>
            </a:r>
          </a:p>
          <a:p>
            <a:r>
              <a:rPr lang="en-US" dirty="0" smtClean="0"/>
              <a:t>Manual workload overload</a:t>
            </a:r>
          </a:p>
          <a:p>
            <a:r>
              <a:rPr lang="en-US" dirty="0" smtClean="0"/>
              <a:t>Delayed claim settlement</a:t>
            </a:r>
          </a:p>
          <a:p>
            <a:r>
              <a:rPr lang="en-US" dirty="0" smtClean="0"/>
              <a:t>Fraud risk exposure</a:t>
            </a:r>
          </a:p>
          <a:p>
            <a:r>
              <a:rPr lang="en-US" dirty="0" smtClean="0"/>
              <a:t>Without automation, verification teams struggle to scale operations while maintaining fraud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3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project aims to:</a:t>
            </a:r>
          </a:p>
          <a:p>
            <a:r>
              <a:rPr lang="en-US" dirty="0" smtClean="0"/>
              <a:t>Automate hospital bill validation</a:t>
            </a:r>
          </a:p>
          <a:p>
            <a:r>
              <a:rPr lang="en-US" dirty="0" smtClean="0"/>
              <a:t>Detect overbilling using policy rules</a:t>
            </a:r>
          </a:p>
          <a:p>
            <a:r>
              <a:rPr lang="en-US" dirty="0" smtClean="0"/>
              <a:t>Create explainable fraud risk scores</a:t>
            </a:r>
          </a:p>
          <a:p>
            <a:r>
              <a:rPr lang="en-US" dirty="0" smtClean="0"/>
              <a:t>Reduce manual review dependency</a:t>
            </a:r>
          </a:p>
          <a:p>
            <a:r>
              <a:rPr lang="en-US" dirty="0" smtClean="0"/>
              <a:t>Improve turnaround time (TAT)</a:t>
            </a:r>
          </a:p>
          <a:p>
            <a:r>
              <a:rPr lang="en-US" dirty="0" smtClean="0"/>
              <a:t>Provide actionable business insights via visualization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1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simulated hospital billing dataset includes:</a:t>
            </a:r>
          </a:p>
          <a:p>
            <a:r>
              <a:rPr lang="en-US" dirty="0" smtClean="0"/>
              <a:t>Hospital Charges</a:t>
            </a:r>
          </a:p>
          <a:p>
            <a:r>
              <a:rPr lang="en-US" dirty="0" smtClean="0"/>
              <a:t>Pharmacy Charges</a:t>
            </a:r>
          </a:p>
          <a:p>
            <a:r>
              <a:rPr lang="en-US" dirty="0" smtClean="0"/>
              <a:t>Lab Charges</a:t>
            </a:r>
          </a:p>
          <a:p>
            <a:r>
              <a:rPr lang="en-US" dirty="0" smtClean="0"/>
              <a:t>Room Days</a:t>
            </a:r>
          </a:p>
          <a:p>
            <a:r>
              <a:rPr lang="en-US" dirty="0" smtClean="0"/>
              <a:t>Derived Room Charges</a:t>
            </a:r>
          </a:p>
          <a:p>
            <a:r>
              <a:rPr lang="en-US" dirty="0" smtClean="0"/>
              <a:t>Total Bill Amount</a:t>
            </a:r>
          </a:p>
          <a:p>
            <a:r>
              <a:rPr lang="en-US" dirty="0" smtClean="0"/>
              <a:t>Verification Status</a:t>
            </a:r>
          </a:p>
          <a:p>
            <a:r>
              <a:rPr lang="en-US" dirty="0" smtClean="0"/>
              <a:t>Total Bill Calculation:</a:t>
            </a:r>
          </a:p>
          <a:p>
            <a:r>
              <a:rPr lang="en-US" dirty="0" smtClean="0"/>
              <a:t>Total Bill =</a:t>
            </a:r>
            <a:br>
              <a:rPr lang="en-US" dirty="0" smtClean="0"/>
            </a:br>
            <a:r>
              <a:rPr lang="en-US" dirty="0" smtClean="0"/>
              <a:t>Hospital Charges + Pharmacy Charges + Lab Charges + Room Charge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88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Automation Logic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5.1 Policy-Based Threshold Validation</a:t>
            </a:r>
          </a:p>
          <a:p>
            <a:r>
              <a:rPr lang="en-US" dirty="0"/>
              <a:t>Maximum allowable room rate per day</a:t>
            </a:r>
          </a:p>
          <a:p>
            <a:r>
              <a:rPr lang="en-US" dirty="0"/>
              <a:t>Maximum total claim limit</a:t>
            </a:r>
          </a:p>
          <a:p>
            <a:r>
              <a:rPr lang="en-US" dirty="0"/>
              <a:t>Pharmacy charge caps</a:t>
            </a:r>
          </a:p>
          <a:p>
            <a:r>
              <a:rPr lang="en-US" dirty="0"/>
              <a:t>Room stay duration limits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5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Rule-Based Flags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333954"/>
              </p:ext>
            </p:extLst>
          </p:nvPr>
        </p:nvGraphicFramePr>
        <p:xfrm>
          <a:off x="838200" y="245162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66503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1556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540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Overbilling 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Detect claims exceeding policy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316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Excess Room 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Detect extended hospital stay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36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Pharmacy 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Detect high medication billing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34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51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Fraud Risk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Weighted scoring model:</a:t>
            </a:r>
          </a:p>
          <a:p>
            <a:r>
              <a:rPr lang="en-US" dirty="0"/>
              <a:t>Overbilling: 50% weight</a:t>
            </a:r>
          </a:p>
          <a:p>
            <a:r>
              <a:rPr lang="en-US" dirty="0"/>
              <a:t>Excess room stay: 30% weight</a:t>
            </a:r>
          </a:p>
          <a:p>
            <a:r>
              <a:rPr lang="en-US" dirty="0"/>
              <a:t>High pharmacy charges: 20% weight</a:t>
            </a:r>
          </a:p>
          <a:p>
            <a:r>
              <a:rPr lang="en-US" dirty="0"/>
              <a:t>Claims exceeding a defined risk threshold are flagged for </a:t>
            </a:r>
            <a:r>
              <a:rPr lang="en-US" b="1" dirty="0"/>
              <a:t>Manual Review</a:t>
            </a:r>
            <a:r>
              <a:rPr lang="en-US" dirty="0"/>
              <a:t>, others are </a:t>
            </a:r>
            <a:r>
              <a:rPr lang="en-US" b="1" dirty="0"/>
              <a:t>Auto Approved</a:t>
            </a:r>
            <a:r>
              <a:rPr lang="en-US" dirty="0"/>
              <a:t>.</a:t>
            </a:r>
          </a:p>
          <a:p>
            <a:r>
              <a:rPr lang="en-US" dirty="0"/>
              <a:t>This ensures </a:t>
            </a:r>
            <a:r>
              <a:rPr lang="en-US" dirty="0" smtClean="0"/>
              <a:t>explainability </a:t>
            </a:r>
            <a:r>
              <a:rPr lang="en-US" dirty="0"/>
              <a:t>and compliance.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6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214940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6.1 Histogram – Total Bill Distribution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Shows spread of total hospital bill amounts.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Majority of claims fall within normal policy range</a:t>
            </a:r>
          </a:p>
          <a:p>
            <a:r>
              <a:rPr lang="en-US" dirty="0"/>
              <a:t>High-value outliers indicate overbilling risk</a:t>
            </a:r>
          </a:p>
          <a:p>
            <a:r>
              <a:rPr lang="en-US" dirty="0"/>
              <a:t>Supports threshold tuning</a:t>
            </a:r>
          </a:p>
          <a:p>
            <a:r>
              <a:rPr lang="en-US" b="1" dirty="0"/>
              <a:t>Business Impact: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Improves fraud detection and pricing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3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83" y="1921030"/>
            <a:ext cx="5221234" cy="4160528"/>
          </a:xfrm>
        </p:spPr>
      </p:pic>
    </p:spTree>
    <p:extLst>
      <p:ext uri="{BB962C8B-B14F-4D97-AF65-F5344CB8AC3E}">
        <p14:creationId xmlns:p14="http://schemas.microsoft.com/office/powerpoint/2010/main" val="1358151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6.2 Bar Chart – Verification Status Distribution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Shows Auto Approved vs Manual Review cases.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Measures automation efficiency</a:t>
            </a:r>
          </a:p>
          <a:p>
            <a:r>
              <a:rPr lang="en-US" dirty="0"/>
              <a:t>Estimates manual workload</a:t>
            </a:r>
          </a:p>
          <a:p>
            <a:r>
              <a:rPr lang="en-US" dirty="0"/>
              <a:t>Indicates fraud prevalence</a:t>
            </a:r>
          </a:p>
          <a:p>
            <a:r>
              <a:rPr lang="en-US" b="1" dirty="0"/>
              <a:t>Business Impact: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Optimizes operational staffing and cost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2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98" y="1921030"/>
            <a:ext cx="5879604" cy="4160528"/>
          </a:xfrm>
        </p:spPr>
      </p:pic>
    </p:spTree>
    <p:extLst>
      <p:ext uri="{BB962C8B-B14F-4D97-AF65-F5344CB8AC3E}">
        <p14:creationId xmlns:p14="http://schemas.microsoft.com/office/powerpoint/2010/main" val="146765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6.3 Stacked Bar Chart – Charge Component Breakdown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Displays contribution of hospital, pharmacy, lab, and room charges.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Identifies which components drive risk</a:t>
            </a:r>
          </a:p>
          <a:p>
            <a:r>
              <a:rPr lang="en-US" dirty="0"/>
              <a:t>Pharmacy or room charges may dominate flagged cases</a:t>
            </a:r>
          </a:p>
          <a:p>
            <a:r>
              <a:rPr lang="en-US" b="1" dirty="0"/>
              <a:t>Business Impact: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negotiation with hospital networks.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25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650" y="1921030"/>
            <a:ext cx="5504699" cy="4160528"/>
          </a:xfrm>
        </p:spPr>
      </p:pic>
    </p:spTree>
    <p:extLst>
      <p:ext uri="{BB962C8B-B14F-4D97-AF65-F5344CB8AC3E}">
        <p14:creationId xmlns:p14="http://schemas.microsoft.com/office/powerpoint/2010/main" val="105862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Combined Stacked Bar Chart – Executive View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Combines charge components and total exposure by verification category.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Shows financial risk concentration</a:t>
            </a:r>
          </a:p>
          <a:p>
            <a:r>
              <a:rPr lang="en-US" dirty="0"/>
              <a:t>Highlights claim categories driving manual review</a:t>
            </a:r>
          </a:p>
          <a:p>
            <a:r>
              <a:rPr lang="en-US" b="1" dirty="0"/>
              <a:t>Business Impact: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Provides management-ready dashboard insight.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37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1690688"/>
            <a:ext cx="861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Overbilling is the primary driver of manual review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Room charges significantly influence total bill inflation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Automated validation can reduce manual verification by 60–80%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Pharmacy cost spikes are early fraud indicators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Visual analytics improves audit </a:t>
            </a:r>
            <a:r>
              <a:rPr lang="en-US" altLang="en-US" sz="2400" b="1" dirty="0" err="1"/>
              <a:t>explainability</a:t>
            </a: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78747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automation framework enables:</a:t>
            </a:r>
          </a:p>
          <a:p>
            <a:r>
              <a:rPr lang="en-US" dirty="0"/>
              <a:t>Faster claim settlement</a:t>
            </a:r>
          </a:p>
          <a:p>
            <a:r>
              <a:rPr lang="en-US" dirty="0"/>
              <a:t>Reduced operational costs</a:t>
            </a:r>
          </a:p>
          <a:p>
            <a:r>
              <a:rPr lang="en-US" dirty="0"/>
              <a:t>Improved fraud detection accuracy</a:t>
            </a:r>
          </a:p>
          <a:p>
            <a:r>
              <a:rPr lang="en-US" dirty="0"/>
              <a:t>Transparent audit trail</a:t>
            </a:r>
          </a:p>
          <a:p>
            <a:r>
              <a:rPr lang="en-US" dirty="0"/>
              <a:t>Scalable verification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80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Operational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4526" y="2052662"/>
            <a:ext cx="86827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Lower claim leakage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Reduced investigation turnaround 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Improved customer satisfaction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Data-driven decision-making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Compliance-ready reporting</a:t>
            </a:r>
          </a:p>
        </p:txBody>
      </p:sp>
    </p:spTree>
    <p:extLst>
      <p:ext uri="{BB962C8B-B14F-4D97-AF65-F5344CB8AC3E}">
        <p14:creationId xmlns:p14="http://schemas.microsoft.com/office/powerpoint/2010/main" val="1376131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4526" y="1690688"/>
            <a:ext cx="78165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Simulated dataset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OCR-based bill parsing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ML anomaly detection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Static policy thresholds</a:t>
            </a:r>
          </a:p>
        </p:txBody>
      </p:sp>
    </p:spTree>
    <p:extLst>
      <p:ext uri="{BB962C8B-B14F-4D97-AF65-F5344CB8AC3E}">
        <p14:creationId xmlns:p14="http://schemas.microsoft.com/office/powerpoint/2010/main" val="2956548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64631" y="1732387"/>
            <a:ext cx="701842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Machine learning anomaly detection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NLP-based invoice parsing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Real-time API integration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Predictive risk modeling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Network-level hospital fraud analysis</a:t>
            </a:r>
          </a:p>
        </p:txBody>
      </p:sp>
    </p:spTree>
    <p:extLst>
      <p:ext uri="{BB962C8B-B14F-4D97-AF65-F5344CB8AC3E}">
        <p14:creationId xmlns:p14="http://schemas.microsoft.com/office/powerpoint/2010/main" val="2445921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Hospital Bill Verification Automation transforms manual review processes into rule-driven, explainable, and scalable systems. By combining policy logic, risk scoring, and visualization analytics, insurers can significantly reduce fraud exposure, optimize operations, and improve customer trust.</a:t>
            </a:r>
          </a:p>
          <a:p>
            <a:r>
              <a:rPr lang="en-US" dirty="0"/>
              <a:t>This project demonstrates how structured automation improves healthcare claim governance while maintaining compliance and operational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4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550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CIDFont+F1</vt:lpstr>
      <vt:lpstr>Office Theme</vt:lpstr>
      <vt:lpstr>Hospital Bill Verification Automation</vt:lpstr>
      <vt:lpstr>Google Colab URL</vt:lpstr>
      <vt:lpstr>Executive Summary</vt:lpstr>
      <vt:lpstr>Business Problem</vt:lpstr>
      <vt:lpstr>Project Objectives</vt:lpstr>
      <vt:lpstr>Data Overview</vt:lpstr>
      <vt:lpstr>Automation Logic Design</vt:lpstr>
      <vt:lpstr>Rule-Based Flags</vt:lpstr>
      <vt:lpstr>Fraud Risk Score</vt:lpstr>
      <vt:lpstr>Data Visualization </vt:lpstr>
      <vt:lpstr>Visualization &amp; Analytics</vt:lpstr>
      <vt:lpstr>Data Visualization </vt:lpstr>
      <vt:lpstr>Visualization &amp; Analytics</vt:lpstr>
      <vt:lpstr>Data Visualization </vt:lpstr>
      <vt:lpstr>Visualization &amp; Analytics</vt:lpstr>
      <vt:lpstr>Data Visualization</vt:lpstr>
      <vt:lpstr>Visualization &amp; Analytics</vt:lpstr>
      <vt:lpstr>Key Insights</vt:lpstr>
      <vt:lpstr>Business Impact</vt:lpstr>
      <vt:lpstr>Operational Benefits</vt:lpstr>
      <vt:lpstr>Limitations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Bill Verification Automation</dc:title>
  <dc:creator>KUMAR</dc:creator>
  <cp:lastModifiedBy>KUMAR</cp:lastModifiedBy>
  <cp:revision>31</cp:revision>
  <dcterms:created xsi:type="dcterms:W3CDTF">2026-02-17T01:08:19Z</dcterms:created>
  <dcterms:modified xsi:type="dcterms:W3CDTF">2026-02-19T09:10:02Z</dcterms:modified>
</cp:coreProperties>
</file>