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7" r:id="rId9"/>
    <p:sldId id="263" r:id="rId10"/>
    <p:sldId id="268" r:id="rId11"/>
    <p:sldId id="264" r:id="rId12"/>
    <p:sldId id="269" r:id="rId13"/>
    <p:sldId id="265" r:id="rId14"/>
    <p:sldId id="270" r:id="rId15"/>
    <p:sldId id="266"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39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41B69D1-1E68-4A5B-BA2A-D4155D8E8AD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4C06D-701F-4D50-B3A8-68D3809A8FF5}" type="slidenum">
              <a:rPr lang="en-US" smtClean="0"/>
              <a:t>‹#›</a:t>
            </a:fld>
            <a:endParaRPr lang="en-US"/>
          </a:p>
        </p:txBody>
      </p:sp>
    </p:spTree>
    <p:extLst>
      <p:ext uri="{BB962C8B-B14F-4D97-AF65-F5344CB8AC3E}">
        <p14:creationId xmlns:p14="http://schemas.microsoft.com/office/powerpoint/2010/main" val="650986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41B69D1-1E68-4A5B-BA2A-D4155D8E8AD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4C06D-701F-4D50-B3A8-68D3809A8FF5}" type="slidenum">
              <a:rPr lang="en-US" smtClean="0"/>
              <a:t>‹#›</a:t>
            </a:fld>
            <a:endParaRPr lang="en-US"/>
          </a:p>
        </p:txBody>
      </p:sp>
    </p:spTree>
    <p:extLst>
      <p:ext uri="{BB962C8B-B14F-4D97-AF65-F5344CB8AC3E}">
        <p14:creationId xmlns:p14="http://schemas.microsoft.com/office/powerpoint/2010/main" val="3626155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41B69D1-1E68-4A5B-BA2A-D4155D8E8AD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4C06D-701F-4D50-B3A8-68D3809A8FF5}" type="slidenum">
              <a:rPr lang="en-US" smtClean="0"/>
              <a:t>‹#›</a:t>
            </a:fld>
            <a:endParaRPr lang="en-US"/>
          </a:p>
        </p:txBody>
      </p:sp>
    </p:spTree>
    <p:extLst>
      <p:ext uri="{BB962C8B-B14F-4D97-AF65-F5344CB8AC3E}">
        <p14:creationId xmlns:p14="http://schemas.microsoft.com/office/powerpoint/2010/main" val="10601741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41B69D1-1E68-4A5B-BA2A-D4155D8E8AD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A4C06D-701F-4D50-B3A8-68D3809A8FF5}" type="slidenum">
              <a:rPr lang="en-US" smtClean="0"/>
              <a:t>‹#›</a:t>
            </a:fld>
            <a:endParaRPr lang="en-US"/>
          </a:p>
        </p:txBody>
      </p:sp>
    </p:spTree>
    <p:extLst>
      <p:ext uri="{BB962C8B-B14F-4D97-AF65-F5344CB8AC3E}">
        <p14:creationId xmlns:p14="http://schemas.microsoft.com/office/powerpoint/2010/main" val="2804133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41B69D1-1E68-4A5B-BA2A-D4155D8E8AD4}" type="datetimeFigureOut">
              <a:rPr lang="en-US" smtClean="0"/>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1A4C06D-701F-4D50-B3A8-68D3809A8FF5}" type="slidenum">
              <a:rPr lang="en-US" smtClean="0"/>
              <a:t>‹#›</a:t>
            </a:fld>
            <a:endParaRPr lang="en-US"/>
          </a:p>
        </p:txBody>
      </p:sp>
    </p:spTree>
    <p:extLst>
      <p:ext uri="{BB962C8B-B14F-4D97-AF65-F5344CB8AC3E}">
        <p14:creationId xmlns:p14="http://schemas.microsoft.com/office/powerpoint/2010/main" val="324739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41B69D1-1E68-4A5B-BA2A-D4155D8E8AD4}" type="datetimeFigureOut">
              <a:rPr lang="en-US" smtClean="0"/>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A4C06D-701F-4D50-B3A8-68D3809A8FF5}" type="slidenum">
              <a:rPr lang="en-US" smtClean="0"/>
              <a:t>‹#›</a:t>
            </a:fld>
            <a:endParaRPr lang="en-US"/>
          </a:p>
        </p:txBody>
      </p:sp>
    </p:spTree>
    <p:extLst>
      <p:ext uri="{BB962C8B-B14F-4D97-AF65-F5344CB8AC3E}">
        <p14:creationId xmlns:p14="http://schemas.microsoft.com/office/powerpoint/2010/main" val="2893480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1B69D1-1E68-4A5B-BA2A-D4155D8E8AD4}" type="datetimeFigureOut">
              <a:rPr lang="en-US" smtClean="0"/>
              <a:t>1/12/2026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1A4C06D-701F-4D50-B3A8-68D3809A8FF5}" type="slidenum">
              <a:rPr lang="en-US" smtClean="0"/>
              <a:t>‹#›</a:t>
            </a:fld>
            <a:endParaRPr lang="en-US"/>
          </a:p>
        </p:txBody>
      </p:sp>
    </p:spTree>
    <p:extLst>
      <p:ext uri="{BB962C8B-B14F-4D97-AF65-F5344CB8AC3E}">
        <p14:creationId xmlns:p14="http://schemas.microsoft.com/office/powerpoint/2010/main" val="3789108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41B69D1-1E68-4A5B-BA2A-D4155D8E8AD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A4C06D-701F-4D50-B3A8-68D3809A8FF5}" type="slidenum">
              <a:rPr lang="en-US" smtClean="0"/>
              <a:t>‹#›</a:t>
            </a:fld>
            <a:endParaRPr lang="en-US"/>
          </a:p>
        </p:txBody>
      </p:sp>
    </p:spTree>
    <p:extLst>
      <p:ext uri="{BB962C8B-B14F-4D97-AF65-F5344CB8AC3E}">
        <p14:creationId xmlns:p14="http://schemas.microsoft.com/office/powerpoint/2010/main" val="246575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41B69D1-1E68-4A5B-BA2A-D4155D8E8AD4}"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1A4C06D-701F-4D50-B3A8-68D3809A8FF5}" type="slidenum">
              <a:rPr lang="en-US" smtClean="0"/>
              <a:t>‹#›</a:t>
            </a:fld>
            <a:endParaRPr lang="en-US"/>
          </a:p>
        </p:txBody>
      </p:sp>
    </p:spTree>
    <p:extLst>
      <p:ext uri="{BB962C8B-B14F-4D97-AF65-F5344CB8AC3E}">
        <p14:creationId xmlns:p14="http://schemas.microsoft.com/office/powerpoint/2010/main" val="1905880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41B69D1-1E68-4A5B-BA2A-D4155D8E8AD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4C06D-701F-4D50-B3A8-68D3809A8FF5}" type="slidenum">
              <a:rPr lang="en-US" smtClean="0"/>
              <a:t>‹#›</a:t>
            </a:fld>
            <a:endParaRPr lang="en-US"/>
          </a:p>
        </p:txBody>
      </p:sp>
    </p:spTree>
    <p:extLst>
      <p:ext uri="{BB962C8B-B14F-4D97-AF65-F5344CB8AC3E}">
        <p14:creationId xmlns:p14="http://schemas.microsoft.com/office/powerpoint/2010/main" val="446553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41B69D1-1E68-4A5B-BA2A-D4155D8E8AD4}"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1A4C06D-701F-4D50-B3A8-68D3809A8FF5}" type="slidenum">
              <a:rPr lang="en-US" smtClean="0"/>
              <a:t>‹#›</a:t>
            </a:fld>
            <a:endParaRPr lang="en-US"/>
          </a:p>
        </p:txBody>
      </p:sp>
    </p:spTree>
    <p:extLst>
      <p:ext uri="{BB962C8B-B14F-4D97-AF65-F5344CB8AC3E}">
        <p14:creationId xmlns:p14="http://schemas.microsoft.com/office/powerpoint/2010/main" val="2892192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1B69D1-1E68-4A5B-BA2A-D4155D8E8AD4}" type="datetimeFigureOut">
              <a:rPr lang="en-US" smtClean="0"/>
              <a:t>1/12/2026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A4C06D-701F-4D50-B3A8-68D3809A8FF5}" type="slidenum">
              <a:rPr lang="en-US" smtClean="0"/>
              <a:t>‹#›</a:t>
            </a:fld>
            <a:endParaRPr lang="en-US"/>
          </a:p>
        </p:txBody>
      </p:sp>
    </p:spTree>
    <p:extLst>
      <p:ext uri="{BB962C8B-B14F-4D97-AF65-F5344CB8AC3E}">
        <p14:creationId xmlns:p14="http://schemas.microsoft.com/office/powerpoint/2010/main" val="3263245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opal21236/" TargetMode="External"/><Relationship Id="rId2" Type="http://schemas.openxmlformats.org/officeDocument/2006/relationships/hyperlink" Target="https://www.linkedin.com/in/gopalakrishnankumar-a73301110/" TargetMode="External"/><Relationship Id="rId1" Type="http://schemas.openxmlformats.org/officeDocument/2006/relationships/slideLayout" Target="../slideLayouts/slideLayout1.xml"/><Relationship Id="rId4" Type="http://schemas.openxmlformats.org/officeDocument/2006/relationships/hyperlink" Target="https://www.kaggle.com/gopalkk2"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zZCh1X9iMalC6KSznmDRDaOg1hltYvkq?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t>Client Portfolio Rebalancing Alerts </a:t>
            </a:r>
            <a:endParaRPr lang="en-US" b="1" dirty="0"/>
          </a:p>
        </p:txBody>
      </p:sp>
      <p:sp>
        <p:nvSpPr>
          <p:cNvPr id="4" name="Subtitle 2"/>
          <p:cNvSpPr>
            <a:spLocks noGrp="1"/>
          </p:cNvSpPr>
          <p:nvPr>
            <p:ph type="subTitle" idx="1"/>
          </p:nvPr>
        </p:nvSpPr>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Freelance Data Science Consultant</a:t>
            </a:r>
          </a:p>
          <a:p>
            <a:endParaRPr lang="en-US"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2"/>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3"/>
              </a:rPr>
              <a:t>Github:</a:t>
            </a:r>
            <a:r>
              <a:rPr lang="en-US" dirty="0">
                <a:solidFill>
                  <a:srgbClr val="0D0D0D"/>
                </a:solidFill>
                <a:latin typeface="CIDFont+F1"/>
                <a:hlinkClick r:id="rId3"/>
              </a:rPr>
              <a:t>https://github.com/Gopal21236/</a:t>
            </a:r>
            <a:endParaRPr lang="en-US" dirty="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4"/>
              </a:rPr>
              <a:t>https://www.kaggle.com/gopalkk2</a:t>
            </a:r>
            <a:endParaRPr lang="en-US" sz="2000" dirty="0" smtClean="0"/>
          </a:p>
          <a:p>
            <a:endParaRPr lang="en-US" sz="2000" dirty="0"/>
          </a:p>
        </p:txBody>
      </p:sp>
    </p:spTree>
    <p:extLst>
      <p:ext uri="{BB962C8B-B14F-4D97-AF65-F5344CB8AC3E}">
        <p14:creationId xmlns:p14="http://schemas.microsoft.com/office/powerpoint/2010/main" val="4076743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smtClean="0">
                <a:hlinkClick r:id="rId2"/>
              </a:rPr>
              <a:t>https://colab.research.google.com/drive/1zZCh1X9iMalC6KSznmDRDaOg1hltYvkq?usp=sharing</a:t>
            </a:r>
            <a:endParaRPr lang="en-US" dirty="0" smtClean="0"/>
          </a:p>
          <a:p>
            <a:endParaRPr lang="en-US" dirty="0"/>
          </a:p>
        </p:txBody>
      </p:sp>
    </p:spTree>
    <p:extLst>
      <p:ext uri="{BB962C8B-B14F-4D97-AF65-F5344CB8AC3E}">
        <p14:creationId xmlns:p14="http://schemas.microsoft.com/office/powerpoint/2010/main" val="23738922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p>
        </p:txBody>
      </p:sp>
      <p:sp>
        <p:nvSpPr>
          <p:cNvPr id="3" name="Content Placeholder 2"/>
          <p:cNvSpPr>
            <a:spLocks noGrp="1"/>
          </p:cNvSpPr>
          <p:nvPr>
            <p:ph idx="1"/>
          </p:nvPr>
        </p:nvSpPr>
        <p:spPr/>
        <p:txBody>
          <a:bodyPr/>
          <a:lstStyle/>
          <a:p>
            <a:r>
              <a:rPr lang="en-US" dirty="0"/>
              <a:t>Portfolio rebalancing is a critical aspect of investment management, ensuring that a client’s asset allocation remains aligned with their financial goals, risk appetite, and market conditions. Over time, market movements cause portfolio drift, leading to over-exposure or under-exposure in certain asset classes.</a:t>
            </a:r>
          </a:p>
          <a:p>
            <a:r>
              <a:rPr lang="en-US" dirty="0"/>
              <a:t>This project, </a:t>
            </a:r>
            <a:r>
              <a:rPr lang="en-US" b="1" dirty="0"/>
              <a:t>Client Portfolio Rebalancing Alerts</a:t>
            </a:r>
            <a:r>
              <a:rPr lang="en-US" dirty="0"/>
              <a:t>, presents a Python-based analytical framework that monitors portfolio allocation, detects deviations from target allocation, and generates rebalancing alerts. Visualization techniques are used extensively to support decision-making and client communication.</a:t>
            </a:r>
          </a:p>
          <a:p>
            <a:endParaRPr lang="en-US" dirty="0"/>
          </a:p>
        </p:txBody>
      </p:sp>
    </p:spTree>
    <p:extLst>
      <p:ext uri="{BB962C8B-B14F-4D97-AF65-F5344CB8AC3E}">
        <p14:creationId xmlns:p14="http://schemas.microsoft.com/office/powerpoint/2010/main" val="699796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Objectives of the Project</a:t>
            </a:r>
          </a:p>
        </p:txBody>
      </p:sp>
      <p:sp>
        <p:nvSpPr>
          <p:cNvPr id="3" name="Content Placeholder 2"/>
          <p:cNvSpPr>
            <a:spLocks noGrp="1"/>
          </p:cNvSpPr>
          <p:nvPr>
            <p:ph idx="1"/>
          </p:nvPr>
        </p:nvSpPr>
        <p:spPr/>
        <p:txBody>
          <a:bodyPr/>
          <a:lstStyle/>
          <a:p>
            <a:r>
              <a:rPr lang="en-US" dirty="0"/>
              <a:t>The key objectives of Project 1C are:</a:t>
            </a:r>
          </a:p>
          <a:p>
            <a:r>
              <a:rPr lang="en-US" dirty="0"/>
              <a:t>To monitor client portfolio allocations against predefined targets</a:t>
            </a:r>
          </a:p>
          <a:p>
            <a:r>
              <a:rPr lang="en-US" dirty="0"/>
              <a:t>To identify over-allocated and under-allocated asset classes</a:t>
            </a:r>
          </a:p>
          <a:p>
            <a:r>
              <a:rPr lang="en-US" dirty="0"/>
              <a:t>To trigger rebalancing alerts based on deviation thresholds</a:t>
            </a:r>
          </a:p>
          <a:p>
            <a:r>
              <a:rPr lang="en-US" dirty="0"/>
              <a:t>To visualize portfolio health using analytical charts</a:t>
            </a:r>
          </a:p>
          <a:p>
            <a:r>
              <a:rPr lang="en-US" dirty="0"/>
              <a:t>To support proactive, data-driven portfolio management</a:t>
            </a:r>
          </a:p>
          <a:p>
            <a:endParaRPr lang="en-US" dirty="0"/>
          </a:p>
        </p:txBody>
      </p:sp>
    </p:spTree>
    <p:extLst>
      <p:ext uri="{BB962C8B-B14F-4D97-AF65-F5344CB8AC3E}">
        <p14:creationId xmlns:p14="http://schemas.microsoft.com/office/powerpoint/2010/main" val="1014372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Portfolio Data Overview</a:t>
            </a:r>
          </a:p>
        </p:txBody>
      </p:sp>
      <p:sp>
        <p:nvSpPr>
          <p:cNvPr id="3" name="Content Placeholder 2"/>
          <p:cNvSpPr>
            <a:spLocks noGrp="1"/>
          </p:cNvSpPr>
          <p:nvPr>
            <p:ph idx="1"/>
          </p:nvPr>
        </p:nvSpPr>
        <p:spPr/>
        <p:txBody>
          <a:bodyPr>
            <a:normAutofit fontScale="92500" lnSpcReduction="20000"/>
          </a:bodyPr>
          <a:lstStyle/>
          <a:p>
            <a:r>
              <a:rPr lang="en-US" dirty="0"/>
              <a:t>The simulated portfolio includes multiple asset classes such as:</a:t>
            </a:r>
          </a:p>
          <a:p>
            <a:r>
              <a:rPr lang="en-US" dirty="0"/>
              <a:t>Equity</a:t>
            </a:r>
          </a:p>
          <a:p>
            <a:r>
              <a:rPr lang="en-US" dirty="0"/>
              <a:t>Debt</a:t>
            </a:r>
          </a:p>
          <a:p>
            <a:r>
              <a:rPr lang="en-US" dirty="0"/>
              <a:t>Gold</a:t>
            </a:r>
          </a:p>
          <a:p>
            <a:r>
              <a:rPr lang="en-US" dirty="0"/>
              <a:t>Cash</a:t>
            </a:r>
          </a:p>
          <a:p>
            <a:r>
              <a:rPr lang="en-US" dirty="0"/>
              <a:t>For each asset, the following parameters are analyzed:</a:t>
            </a:r>
          </a:p>
          <a:p>
            <a:r>
              <a:rPr lang="en-US" dirty="0"/>
              <a:t>Target allocation (%)</a:t>
            </a:r>
          </a:p>
          <a:p>
            <a:r>
              <a:rPr lang="en-US" dirty="0"/>
              <a:t>Current allocation (%)</a:t>
            </a:r>
          </a:p>
          <a:p>
            <a:r>
              <a:rPr lang="en-US" dirty="0"/>
              <a:t>Deviation from target (%)</a:t>
            </a:r>
          </a:p>
          <a:p>
            <a:r>
              <a:rPr lang="en-US" dirty="0"/>
              <a:t>Additionally, multiple clients are simulated to demonstrate comparative portfolio analysis.</a:t>
            </a:r>
          </a:p>
          <a:p>
            <a:endParaRPr lang="en-US" dirty="0"/>
          </a:p>
        </p:txBody>
      </p:sp>
    </p:spTree>
    <p:extLst>
      <p:ext uri="{BB962C8B-B14F-4D97-AF65-F5344CB8AC3E}">
        <p14:creationId xmlns:p14="http://schemas.microsoft.com/office/powerpoint/2010/main" val="997322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Rebalancing Logic</a:t>
            </a:r>
          </a:p>
        </p:txBody>
      </p:sp>
      <p:sp>
        <p:nvSpPr>
          <p:cNvPr id="3" name="Content Placeholder 2"/>
          <p:cNvSpPr>
            <a:spLocks noGrp="1"/>
          </p:cNvSpPr>
          <p:nvPr>
            <p:ph idx="1"/>
          </p:nvPr>
        </p:nvSpPr>
        <p:spPr/>
        <p:txBody>
          <a:bodyPr/>
          <a:lstStyle/>
          <a:p>
            <a:r>
              <a:rPr lang="en-US" dirty="0"/>
              <a:t>A deviation threshold is defined (for example ±5%).</a:t>
            </a:r>
          </a:p>
          <a:p>
            <a:r>
              <a:rPr lang="en-US" dirty="0"/>
              <a:t>Assets exceeding this threshold are flagged for rebalancing.</a:t>
            </a:r>
          </a:p>
          <a:p>
            <a:r>
              <a:rPr lang="en-US" dirty="0"/>
              <a:t>Positive deviation indicates </a:t>
            </a:r>
            <a:r>
              <a:rPr lang="en-US" b="1" dirty="0"/>
              <a:t>over-allocation</a:t>
            </a:r>
            <a:r>
              <a:rPr lang="en-US" dirty="0"/>
              <a:t> (sell/reduce).</a:t>
            </a:r>
          </a:p>
          <a:p>
            <a:r>
              <a:rPr lang="en-US" dirty="0"/>
              <a:t>Negative deviation indicates </a:t>
            </a:r>
            <a:r>
              <a:rPr lang="en-US" b="1" dirty="0"/>
              <a:t>under-allocation</a:t>
            </a:r>
            <a:r>
              <a:rPr lang="en-US" dirty="0"/>
              <a:t> (buy/increase).</a:t>
            </a:r>
          </a:p>
          <a:p>
            <a:r>
              <a:rPr lang="en-US" dirty="0"/>
              <a:t>This rule-based approach ensures disciplined portfolio management.</a:t>
            </a:r>
          </a:p>
          <a:p>
            <a:endParaRPr lang="en-US" dirty="0"/>
          </a:p>
        </p:txBody>
      </p:sp>
    </p:spTree>
    <p:extLst>
      <p:ext uri="{BB962C8B-B14F-4D97-AF65-F5344CB8AC3E}">
        <p14:creationId xmlns:p14="http://schemas.microsoft.com/office/powerpoint/2010/main" val="3459296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Role of Visualization in Portfolio Analytics</a:t>
            </a:r>
          </a:p>
        </p:txBody>
      </p:sp>
      <p:sp>
        <p:nvSpPr>
          <p:cNvPr id="3" name="Content Placeholder 2"/>
          <p:cNvSpPr>
            <a:spLocks noGrp="1"/>
          </p:cNvSpPr>
          <p:nvPr>
            <p:ph idx="1"/>
          </p:nvPr>
        </p:nvSpPr>
        <p:spPr/>
        <p:txBody>
          <a:bodyPr/>
          <a:lstStyle/>
          <a:p>
            <a:r>
              <a:rPr lang="en-US" dirty="0"/>
              <a:t>Visualization is essential for translating numerical portfolio data into intuitive insights. Graphical representations help portfolio managers and clients quickly understand risk exposure, allocation drift, and rebalancing needs without complex calculations.</a:t>
            </a:r>
          </a:p>
          <a:p>
            <a:endParaRPr lang="en-US" dirty="0"/>
          </a:p>
        </p:txBody>
      </p:sp>
    </p:spTree>
    <p:extLst>
      <p:ext uri="{BB962C8B-B14F-4D97-AF65-F5344CB8AC3E}">
        <p14:creationId xmlns:p14="http://schemas.microsoft.com/office/powerpoint/2010/main" val="601579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2523" y="1921030"/>
            <a:ext cx="5266954" cy="4160528"/>
          </a:xfrm>
        </p:spPr>
      </p:pic>
    </p:spTree>
    <p:extLst>
      <p:ext uri="{BB962C8B-B14F-4D97-AF65-F5344CB8AC3E}">
        <p14:creationId xmlns:p14="http://schemas.microsoft.com/office/powerpoint/2010/main" val="2296888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Key Visualizations Used</a:t>
            </a:r>
          </a:p>
        </p:txBody>
      </p:sp>
      <p:sp>
        <p:nvSpPr>
          <p:cNvPr id="3" name="Content Placeholder 2"/>
          <p:cNvSpPr>
            <a:spLocks noGrp="1"/>
          </p:cNvSpPr>
          <p:nvPr>
            <p:ph idx="1"/>
          </p:nvPr>
        </p:nvSpPr>
        <p:spPr/>
        <p:txBody>
          <a:bodyPr>
            <a:normAutofit fontScale="92500" lnSpcReduction="20000"/>
          </a:bodyPr>
          <a:lstStyle/>
          <a:p>
            <a:r>
              <a:rPr lang="en-US" b="1" dirty="0"/>
              <a:t>6.1 Histogram – Portfolio Allocation Deviation</a:t>
            </a:r>
          </a:p>
          <a:p>
            <a:r>
              <a:rPr lang="en-US" b="1" dirty="0"/>
              <a:t>Purpose:</a:t>
            </a:r>
            <a:r>
              <a:rPr lang="en-US" dirty="0"/>
              <a:t/>
            </a:r>
            <a:br>
              <a:rPr lang="en-US" dirty="0"/>
            </a:br>
            <a:r>
              <a:rPr lang="en-US" dirty="0"/>
              <a:t>To visualize the distribution of deviations from target allocation across asset classes.</a:t>
            </a:r>
          </a:p>
          <a:p>
            <a:r>
              <a:rPr lang="en-US" b="1" dirty="0"/>
              <a:t>Insights:</a:t>
            </a:r>
            <a:endParaRPr lang="en-US" dirty="0"/>
          </a:p>
          <a:p>
            <a:r>
              <a:rPr lang="en-US" dirty="0"/>
              <a:t>Assets clustered near zero deviation are well balanced</a:t>
            </a:r>
          </a:p>
          <a:p>
            <a:r>
              <a:rPr lang="en-US" dirty="0"/>
              <a:t>Assets with large positive or negative deviations indicate rebalancing urgency</a:t>
            </a:r>
          </a:p>
          <a:p>
            <a:r>
              <a:rPr lang="en-US" b="1" dirty="0"/>
              <a:t>Business Value:</a:t>
            </a:r>
            <a:endParaRPr lang="en-US" dirty="0"/>
          </a:p>
          <a:p>
            <a:r>
              <a:rPr lang="en-US" dirty="0"/>
              <a:t>Detects concentration risk</a:t>
            </a:r>
          </a:p>
          <a:p>
            <a:r>
              <a:rPr lang="en-US" dirty="0"/>
              <a:t>Helps prioritize rebalancing actions</a:t>
            </a:r>
          </a:p>
          <a:p>
            <a:endParaRPr lang="en-US" dirty="0"/>
          </a:p>
        </p:txBody>
      </p:sp>
    </p:spTree>
    <p:extLst>
      <p:ext uri="{BB962C8B-B14F-4D97-AF65-F5344CB8AC3E}">
        <p14:creationId xmlns:p14="http://schemas.microsoft.com/office/powerpoint/2010/main" val="188053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03671" y="1921030"/>
            <a:ext cx="5184658" cy="4160528"/>
          </a:xfrm>
        </p:spPr>
      </p:pic>
    </p:spTree>
    <p:extLst>
      <p:ext uri="{BB962C8B-B14F-4D97-AF65-F5344CB8AC3E}">
        <p14:creationId xmlns:p14="http://schemas.microsoft.com/office/powerpoint/2010/main" val="3247586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Key Visualizations Used</a:t>
            </a:r>
          </a:p>
        </p:txBody>
      </p:sp>
      <p:sp>
        <p:nvSpPr>
          <p:cNvPr id="3" name="Content Placeholder 2"/>
          <p:cNvSpPr>
            <a:spLocks noGrp="1"/>
          </p:cNvSpPr>
          <p:nvPr>
            <p:ph idx="1"/>
          </p:nvPr>
        </p:nvSpPr>
        <p:spPr/>
        <p:txBody>
          <a:bodyPr>
            <a:normAutofit fontScale="92500" lnSpcReduction="20000"/>
          </a:bodyPr>
          <a:lstStyle/>
          <a:p>
            <a:r>
              <a:rPr lang="en-US" b="1" dirty="0"/>
              <a:t>6.2 Bar Chart – Target vs Current Allocation</a:t>
            </a:r>
          </a:p>
          <a:p>
            <a:r>
              <a:rPr lang="en-US" b="1" dirty="0" smtClean="0"/>
              <a:t>Purpose</a:t>
            </a:r>
            <a:r>
              <a:rPr lang="en-US" b="1" dirty="0"/>
              <a:t>:</a:t>
            </a:r>
            <a:r>
              <a:rPr lang="en-US" dirty="0"/>
              <a:t/>
            </a:r>
            <a:br>
              <a:rPr lang="en-US" dirty="0"/>
            </a:br>
            <a:r>
              <a:rPr lang="en-US" dirty="0"/>
              <a:t>To directly compare target allocation with current allocation for each asset class.</a:t>
            </a:r>
          </a:p>
          <a:p>
            <a:r>
              <a:rPr lang="en-US" b="1" dirty="0"/>
              <a:t>Insights:</a:t>
            </a:r>
            <a:endParaRPr lang="en-US" dirty="0"/>
          </a:p>
          <a:p>
            <a:r>
              <a:rPr lang="en-US" dirty="0"/>
              <a:t>Highlights portfolio drift clearly</a:t>
            </a:r>
          </a:p>
          <a:p>
            <a:r>
              <a:rPr lang="en-US" dirty="0"/>
              <a:t>Identifies over-exposed and under-exposed assets</a:t>
            </a:r>
          </a:p>
          <a:p>
            <a:r>
              <a:rPr lang="en-US" b="1" dirty="0"/>
              <a:t>Business Value:</a:t>
            </a:r>
            <a:endParaRPr lang="en-US" dirty="0"/>
          </a:p>
          <a:p>
            <a:r>
              <a:rPr lang="en-US" dirty="0"/>
              <a:t>Improves transparency for clients</a:t>
            </a:r>
          </a:p>
          <a:p>
            <a:r>
              <a:rPr lang="en-US" dirty="0"/>
              <a:t>Supports justification of rebalancing decisions</a:t>
            </a:r>
          </a:p>
          <a:p>
            <a:r>
              <a:rPr lang="en-US" b="1" dirty="0" smtClean="0"/>
              <a:t>hart </a:t>
            </a:r>
            <a:r>
              <a:rPr lang="en-US" b="1" dirty="0"/>
              <a:t>– Target vs Current Allocation</a:t>
            </a:r>
          </a:p>
        </p:txBody>
      </p:sp>
    </p:spTree>
    <p:extLst>
      <p:ext uri="{BB962C8B-B14F-4D97-AF65-F5344CB8AC3E}">
        <p14:creationId xmlns:p14="http://schemas.microsoft.com/office/powerpoint/2010/main" val="4271036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7095" y="1921030"/>
            <a:ext cx="5257810" cy="4160528"/>
          </a:xfrm>
        </p:spPr>
      </p:pic>
    </p:spTree>
    <p:extLst>
      <p:ext uri="{BB962C8B-B14F-4D97-AF65-F5344CB8AC3E}">
        <p14:creationId xmlns:p14="http://schemas.microsoft.com/office/powerpoint/2010/main" val="468071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Key Visualizations Used</a:t>
            </a:r>
          </a:p>
        </p:txBody>
      </p:sp>
      <p:sp>
        <p:nvSpPr>
          <p:cNvPr id="3" name="Content Placeholder 2"/>
          <p:cNvSpPr>
            <a:spLocks noGrp="1"/>
          </p:cNvSpPr>
          <p:nvPr>
            <p:ph idx="1"/>
          </p:nvPr>
        </p:nvSpPr>
        <p:spPr/>
        <p:txBody>
          <a:bodyPr>
            <a:normAutofit lnSpcReduction="10000"/>
          </a:bodyPr>
          <a:lstStyle/>
          <a:p>
            <a:r>
              <a:rPr lang="en-US" b="1" dirty="0"/>
              <a:t>6.3 Stacked Bar Chart – Allocation and Deviation</a:t>
            </a:r>
          </a:p>
          <a:p>
            <a:r>
              <a:rPr lang="en-US" b="1" dirty="0"/>
              <a:t>Purpose:</a:t>
            </a:r>
            <a:r>
              <a:rPr lang="en-US" dirty="0"/>
              <a:t/>
            </a:r>
            <a:br>
              <a:rPr lang="en-US" dirty="0"/>
            </a:br>
            <a:r>
              <a:rPr lang="en-US" dirty="0"/>
              <a:t>To combine target allocation and deviation in a single visualization.</a:t>
            </a:r>
          </a:p>
          <a:p>
            <a:r>
              <a:rPr lang="en-US" b="1" dirty="0"/>
              <a:t>Insights:</a:t>
            </a:r>
            <a:endParaRPr lang="en-US" dirty="0"/>
          </a:p>
          <a:p>
            <a:r>
              <a:rPr lang="en-US" dirty="0"/>
              <a:t>Shows base allocation and excess/shortfall together</a:t>
            </a:r>
          </a:p>
          <a:p>
            <a:r>
              <a:rPr lang="en-US" dirty="0"/>
              <a:t>Makes magnitude of deviation visually clear</a:t>
            </a:r>
          </a:p>
          <a:p>
            <a:r>
              <a:rPr lang="en-US" b="1" dirty="0"/>
              <a:t>Business Value:</a:t>
            </a:r>
            <a:endParaRPr lang="en-US" dirty="0"/>
          </a:p>
          <a:p>
            <a:r>
              <a:rPr lang="en-US" dirty="0"/>
              <a:t>Strong visual support for buy/sell recommendations</a:t>
            </a:r>
          </a:p>
          <a:p>
            <a:r>
              <a:rPr lang="en-US" dirty="0"/>
              <a:t>Ideal for portfolio review meetings</a:t>
            </a:r>
          </a:p>
          <a:p>
            <a:endParaRPr lang="en-US" dirty="0"/>
          </a:p>
        </p:txBody>
      </p:sp>
    </p:spTree>
    <p:extLst>
      <p:ext uri="{BB962C8B-B14F-4D97-AF65-F5344CB8AC3E}">
        <p14:creationId xmlns:p14="http://schemas.microsoft.com/office/powerpoint/2010/main" val="2413712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35090" y="1921030"/>
            <a:ext cx="5321819" cy="4160528"/>
          </a:xfrm>
        </p:spPr>
      </p:pic>
    </p:spTree>
    <p:extLst>
      <p:ext uri="{BB962C8B-B14F-4D97-AF65-F5344CB8AC3E}">
        <p14:creationId xmlns:p14="http://schemas.microsoft.com/office/powerpoint/2010/main" val="754510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Key Visualizations Used</a:t>
            </a:r>
          </a:p>
        </p:txBody>
      </p:sp>
      <p:sp>
        <p:nvSpPr>
          <p:cNvPr id="3" name="Content Placeholder 2"/>
          <p:cNvSpPr>
            <a:spLocks noGrp="1"/>
          </p:cNvSpPr>
          <p:nvPr>
            <p:ph idx="1"/>
          </p:nvPr>
        </p:nvSpPr>
        <p:spPr/>
        <p:txBody>
          <a:bodyPr>
            <a:normAutofit fontScale="92500"/>
          </a:bodyPr>
          <a:lstStyle/>
          <a:p>
            <a:r>
              <a:rPr lang="en-US" b="1" dirty="0"/>
              <a:t>6.4 Combined Stacked Bar Chart – Portfolio Rebalancing Status by Client</a:t>
            </a:r>
          </a:p>
          <a:p>
            <a:r>
              <a:rPr lang="en-US" b="1" dirty="0"/>
              <a:t>Purpose:</a:t>
            </a:r>
            <a:r>
              <a:rPr lang="en-US" dirty="0"/>
              <a:t/>
            </a:r>
            <a:br>
              <a:rPr lang="en-US" dirty="0"/>
            </a:br>
            <a:r>
              <a:rPr lang="en-US" dirty="0"/>
              <a:t>To compare portfolio health across multiple clients using a single chart.</a:t>
            </a:r>
          </a:p>
          <a:p>
            <a:r>
              <a:rPr lang="en-US" b="1" dirty="0"/>
              <a:t>Chart Structure:</a:t>
            </a:r>
            <a:endParaRPr lang="en-US" dirty="0"/>
          </a:p>
          <a:p>
            <a:r>
              <a:rPr lang="en-US" b="1" dirty="0"/>
              <a:t>X-axis:</a:t>
            </a:r>
            <a:r>
              <a:rPr lang="en-US" dirty="0"/>
              <a:t> Clients (Client A, Client B, Client C)</a:t>
            </a:r>
          </a:p>
          <a:p>
            <a:r>
              <a:rPr lang="en-US" b="1" dirty="0"/>
              <a:t>Y-axis:</a:t>
            </a:r>
            <a:r>
              <a:rPr lang="en-US" dirty="0"/>
              <a:t> Portfolio allocation percentage</a:t>
            </a:r>
          </a:p>
          <a:p>
            <a:r>
              <a:rPr lang="en-US" b="1" dirty="0"/>
              <a:t>Stacks represent:</a:t>
            </a:r>
            <a:endParaRPr lang="en-US" dirty="0"/>
          </a:p>
          <a:p>
            <a:pPr lvl="1"/>
            <a:r>
              <a:rPr lang="en-US" dirty="0"/>
              <a:t>Allocation within target range</a:t>
            </a:r>
          </a:p>
          <a:p>
            <a:pPr lvl="1"/>
            <a:r>
              <a:rPr lang="en-US" dirty="0"/>
              <a:t>Over-allocated portion</a:t>
            </a:r>
          </a:p>
          <a:p>
            <a:pPr lvl="1"/>
            <a:r>
              <a:rPr lang="en-US" dirty="0"/>
              <a:t>Under-allocated portion</a:t>
            </a:r>
          </a:p>
          <a:p>
            <a:endParaRPr lang="en-US" dirty="0"/>
          </a:p>
        </p:txBody>
      </p:sp>
    </p:spTree>
    <p:extLst>
      <p:ext uri="{BB962C8B-B14F-4D97-AF65-F5344CB8AC3E}">
        <p14:creationId xmlns:p14="http://schemas.microsoft.com/office/powerpoint/2010/main" val="1229042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Analysis of Combined Stacked Bar Chart</a:t>
            </a:r>
          </a:p>
        </p:txBody>
      </p:sp>
      <p:sp>
        <p:nvSpPr>
          <p:cNvPr id="3" name="Content Placeholder 2"/>
          <p:cNvSpPr>
            <a:spLocks noGrp="1"/>
          </p:cNvSpPr>
          <p:nvPr>
            <p:ph idx="1"/>
          </p:nvPr>
        </p:nvSpPr>
        <p:spPr/>
        <p:txBody>
          <a:bodyPr>
            <a:normAutofit lnSpcReduction="10000"/>
          </a:bodyPr>
          <a:lstStyle/>
          <a:p>
            <a:r>
              <a:rPr lang="en-US" b="1" dirty="0"/>
              <a:t>Key Observations:</a:t>
            </a:r>
          </a:p>
          <a:p>
            <a:r>
              <a:rPr lang="en-US" dirty="0"/>
              <a:t>Clients with higher </a:t>
            </a:r>
            <a:r>
              <a:rPr lang="en-US" b="1" dirty="0"/>
              <a:t>over-allocated segments</a:t>
            </a:r>
            <a:r>
              <a:rPr lang="en-US" dirty="0"/>
              <a:t> face higher risk exposure</a:t>
            </a:r>
          </a:p>
          <a:p>
            <a:r>
              <a:rPr lang="en-US" dirty="0"/>
              <a:t>Clients with larger </a:t>
            </a:r>
            <a:r>
              <a:rPr lang="en-US" b="1" dirty="0"/>
              <a:t>within-range segments</a:t>
            </a:r>
            <a:r>
              <a:rPr lang="en-US" dirty="0"/>
              <a:t> exhibit disciplined portfolio management</a:t>
            </a:r>
          </a:p>
          <a:p>
            <a:r>
              <a:rPr lang="en-US" dirty="0"/>
              <a:t>Under-allocated segments highlight growth opportunities</a:t>
            </a:r>
          </a:p>
          <a:p>
            <a:r>
              <a:rPr lang="en-US" b="1" dirty="0"/>
              <a:t>Analytical Insights:</a:t>
            </a:r>
          </a:p>
          <a:p>
            <a:r>
              <a:rPr lang="en-US" dirty="0"/>
              <a:t>Client A shows moderate over-allocation, requiring partial rebalancing</a:t>
            </a:r>
          </a:p>
          <a:p>
            <a:r>
              <a:rPr lang="en-US" dirty="0"/>
              <a:t>Client B exhibits higher imbalance, indicating urgent action</a:t>
            </a:r>
          </a:p>
          <a:p>
            <a:r>
              <a:rPr lang="en-US" dirty="0"/>
              <a:t>Client C maintains strong allocation discipline</a:t>
            </a:r>
          </a:p>
          <a:p>
            <a:endParaRPr lang="en-US" dirty="0"/>
          </a:p>
        </p:txBody>
      </p:sp>
    </p:spTree>
    <p:extLst>
      <p:ext uri="{BB962C8B-B14F-4D97-AF65-F5344CB8AC3E}">
        <p14:creationId xmlns:p14="http://schemas.microsoft.com/office/powerpoint/2010/main" val="20755316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Business Impact</a:t>
            </a:r>
          </a:p>
        </p:txBody>
      </p:sp>
      <p:sp>
        <p:nvSpPr>
          <p:cNvPr id="3" name="Content Placeholder 2"/>
          <p:cNvSpPr>
            <a:spLocks noGrp="1"/>
          </p:cNvSpPr>
          <p:nvPr>
            <p:ph idx="1"/>
          </p:nvPr>
        </p:nvSpPr>
        <p:spPr/>
        <p:txBody>
          <a:bodyPr/>
          <a:lstStyle/>
          <a:p>
            <a:r>
              <a:rPr lang="en-US" dirty="0"/>
              <a:t>The portfolio rebalancing alert system delivers the following benefits:</a:t>
            </a:r>
          </a:p>
          <a:p>
            <a:r>
              <a:rPr lang="en-US" dirty="0"/>
              <a:t>Reduces portfolio risk due to asset concentration</a:t>
            </a:r>
          </a:p>
          <a:p>
            <a:r>
              <a:rPr lang="en-US" dirty="0"/>
              <a:t>Improves long-term return consistency</a:t>
            </a:r>
          </a:p>
          <a:p>
            <a:r>
              <a:rPr lang="en-US" dirty="0"/>
              <a:t>Enhances client confidence through transparency</a:t>
            </a:r>
          </a:p>
          <a:p>
            <a:r>
              <a:rPr lang="en-US" dirty="0"/>
              <a:t>Supports scalable portfolio monitoring</a:t>
            </a:r>
          </a:p>
          <a:p>
            <a:r>
              <a:rPr lang="en-US" dirty="0"/>
              <a:t>Enables evidence-based advisory decisions</a:t>
            </a:r>
          </a:p>
          <a:p>
            <a:endParaRPr lang="en-US" dirty="0"/>
          </a:p>
        </p:txBody>
      </p:sp>
    </p:spTree>
    <p:extLst>
      <p:ext uri="{BB962C8B-B14F-4D97-AF65-F5344CB8AC3E}">
        <p14:creationId xmlns:p14="http://schemas.microsoft.com/office/powerpoint/2010/main" val="2179719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Learning Outcomes</a:t>
            </a:r>
            <a:endParaRPr lang="en-US" b="1" dirty="0"/>
          </a:p>
        </p:txBody>
      </p:sp>
      <p:sp>
        <p:nvSpPr>
          <p:cNvPr id="3" name="Content Placeholder 2"/>
          <p:cNvSpPr>
            <a:spLocks noGrp="1"/>
          </p:cNvSpPr>
          <p:nvPr>
            <p:ph idx="1"/>
          </p:nvPr>
        </p:nvSpPr>
        <p:spPr/>
        <p:txBody>
          <a:bodyPr/>
          <a:lstStyle/>
          <a:p>
            <a:r>
              <a:rPr lang="en-US" dirty="0"/>
              <a:t>Through this project, learners gain:</a:t>
            </a:r>
          </a:p>
          <a:p>
            <a:r>
              <a:rPr lang="en-US" dirty="0"/>
              <a:t>Understanding of asset allocation principles</a:t>
            </a:r>
          </a:p>
          <a:p>
            <a:r>
              <a:rPr lang="en-US" dirty="0"/>
              <a:t>Hands-on experience with portfolio analytics in Python</a:t>
            </a:r>
          </a:p>
          <a:p>
            <a:r>
              <a:rPr lang="en-US" dirty="0"/>
              <a:t>Data visualization and interpretation skills</a:t>
            </a:r>
          </a:p>
          <a:p>
            <a:r>
              <a:rPr lang="en-US" dirty="0"/>
              <a:t>Practical exposure to wealth management workflows</a:t>
            </a:r>
          </a:p>
          <a:p>
            <a:r>
              <a:rPr lang="en-US" dirty="0"/>
              <a:t>Ability to design client-friendly analytical dashboards</a:t>
            </a:r>
          </a:p>
          <a:p>
            <a:endParaRPr lang="en-US" dirty="0"/>
          </a:p>
        </p:txBody>
      </p:sp>
    </p:spTree>
    <p:extLst>
      <p:ext uri="{BB962C8B-B14F-4D97-AF65-F5344CB8AC3E}">
        <p14:creationId xmlns:p14="http://schemas.microsoft.com/office/powerpoint/2010/main" val="3182621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p:txBody>
          <a:bodyPr/>
          <a:lstStyle/>
          <a:p>
            <a:r>
              <a:rPr lang="en-US" dirty="0"/>
              <a:t>Project 1C demonstrates how analytics and visualization can significantly enhance portfolio monitoring and rebalancing decisions. By integrating deviation analysis with intuitive visual tools such as combined stacked bar charts, the system enables proactive risk management and informed client advisory.</a:t>
            </a:r>
          </a:p>
          <a:p>
            <a:r>
              <a:rPr lang="en-US" dirty="0"/>
              <a:t>The approach closely reflects real-world wealth management practices and can be extended to live market data, Power BI dashboards, or automated advisory platforms.</a:t>
            </a:r>
          </a:p>
          <a:p>
            <a:endParaRPr lang="en-US" dirty="0"/>
          </a:p>
        </p:txBody>
      </p:sp>
    </p:spTree>
    <p:extLst>
      <p:ext uri="{BB962C8B-B14F-4D97-AF65-F5344CB8AC3E}">
        <p14:creationId xmlns:p14="http://schemas.microsoft.com/office/powerpoint/2010/main" val="3230970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Future Enhancements</a:t>
            </a:r>
          </a:p>
        </p:txBody>
      </p:sp>
      <p:sp>
        <p:nvSpPr>
          <p:cNvPr id="5" name="Rectangle 4"/>
          <p:cNvSpPr/>
          <p:nvPr/>
        </p:nvSpPr>
        <p:spPr>
          <a:xfrm>
            <a:off x="1194148" y="1690688"/>
            <a:ext cx="9027090" cy="1938992"/>
          </a:xfrm>
          <a:prstGeom prst="rect">
            <a:avLst/>
          </a:prstGeom>
        </p:spPr>
        <p:txBody>
          <a:bodyPr wrap="square">
            <a:spAutoFit/>
          </a:bodyPr>
          <a:lstStyle/>
          <a:p>
            <a:pPr lvl="0" eaLnBrk="0" fontAlgn="base" hangingPunct="0">
              <a:spcBef>
                <a:spcPct val="0"/>
              </a:spcBef>
              <a:spcAft>
                <a:spcPct val="0"/>
              </a:spcAft>
              <a:buFontTx/>
              <a:buChar char="•"/>
            </a:pPr>
            <a:r>
              <a:rPr lang="en-US" altLang="en-US" sz="2400" dirty="0">
                <a:latin typeface="Arial" panose="020B0604020202020204" pitchFamily="34" charset="0"/>
              </a:rPr>
              <a:t>Time-series portfolio drift analysis</a:t>
            </a:r>
          </a:p>
          <a:p>
            <a:pPr lvl="0" eaLnBrk="0" fontAlgn="base" hangingPunct="0">
              <a:spcBef>
                <a:spcPct val="0"/>
              </a:spcBef>
              <a:spcAft>
                <a:spcPct val="0"/>
              </a:spcAft>
              <a:buFontTx/>
              <a:buChar char="•"/>
            </a:pPr>
            <a:r>
              <a:rPr lang="en-US" altLang="en-US" sz="2400" dirty="0">
                <a:latin typeface="Arial" panose="020B0604020202020204" pitchFamily="34" charset="0"/>
              </a:rPr>
              <a:t>Transaction cost–aware rebalancing</a:t>
            </a:r>
          </a:p>
          <a:p>
            <a:pPr lvl="0" eaLnBrk="0" fontAlgn="base" hangingPunct="0">
              <a:spcBef>
                <a:spcPct val="0"/>
              </a:spcBef>
              <a:spcAft>
                <a:spcPct val="0"/>
              </a:spcAft>
              <a:buFontTx/>
              <a:buChar char="•"/>
            </a:pPr>
            <a:r>
              <a:rPr lang="en-US" altLang="en-US" sz="2400" dirty="0">
                <a:latin typeface="Arial" panose="020B0604020202020204" pitchFamily="34" charset="0"/>
              </a:rPr>
              <a:t>Risk-adjusted asset allocation</a:t>
            </a:r>
          </a:p>
          <a:p>
            <a:pPr lvl="0" eaLnBrk="0" fontAlgn="base" hangingPunct="0">
              <a:spcBef>
                <a:spcPct val="0"/>
              </a:spcBef>
              <a:spcAft>
                <a:spcPct val="0"/>
              </a:spcAft>
              <a:buFontTx/>
              <a:buChar char="•"/>
            </a:pPr>
            <a:r>
              <a:rPr lang="en-US" altLang="en-US" sz="2400" dirty="0">
                <a:latin typeface="Arial" panose="020B0604020202020204" pitchFamily="34" charset="0"/>
              </a:rPr>
              <a:t>Power BI / Streamlit dashboards</a:t>
            </a:r>
          </a:p>
          <a:p>
            <a:pPr lvl="0" eaLnBrk="0" fontAlgn="base" hangingPunct="0">
              <a:spcBef>
                <a:spcPct val="0"/>
              </a:spcBef>
              <a:spcAft>
                <a:spcPct val="0"/>
              </a:spcAft>
              <a:buFontTx/>
              <a:buChar char="•"/>
            </a:pPr>
            <a:r>
              <a:rPr lang="en-US" altLang="en-US" sz="2400" dirty="0">
                <a:latin typeface="Arial" panose="020B0604020202020204" pitchFamily="34" charset="0"/>
              </a:rPr>
              <a:t>Automated client alert notifications</a:t>
            </a:r>
          </a:p>
        </p:txBody>
      </p:sp>
    </p:spTree>
    <p:extLst>
      <p:ext uri="{BB962C8B-B14F-4D97-AF65-F5344CB8AC3E}">
        <p14:creationId xmlns:p14="http://schemas.microsoft.com/office/powerpoint/2010/main" val="23027929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596</Words>
  <Application>Microsoft Office PowerPoint</Application>
  <PresentationFormat>Widescreen</PresentationFormat>
  <Paragraphs>112</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CIDFont+F1</vt:lpstr>
      <vt:lpstr>Office Theme</vt:lpstr>
      <vt:lpstr>Client Portfolio Rebalancing Alerts </vt:lpstr>
      <vt:lpstr>Google Colab URL</vt:lpstr>
      <vt:lpstr>Introduction</vt:lpstr>
      <vt:lpstr>Objectives of the Project</vt:lpstr>
      <vt:lpstr>Portfolio Data Overview</vt:lpstr>
      <vt:lpstr>Rebalancing Logic</vt:lpstr>
      <vt:lpstr>Role of Visualization in Portfolio Analytics</vt:lpstr>
      <vt:lpstr>Data Visualization</vt:lpstr>
      <vt:lpstr>Key Visualizations Used</vt:lpstr>
      <vt:lpstr>Data Visualization </vt:lpstr>
      <vt:lpstr>Key Visualizations Used</vt:lpstr>
      <vt:lpstr>Data Visualization </vt:lpstr>
      <vt:lpstr>Key Visualizations Used</vt:lpstr>
      <vt:lpstr>Data Visualization </vt:lpstr>
      <vt:lpstr>Key Visualizations Used</vt:lpstr>
      <vt:lpstr>Analysis of Combined Stacked Bar Chart</vt:lpstr>
      <vt:lpstr>Business Impact</vt:lpstr>
      <vt:lpstr>Learning Outcomes</vt:lpstr>
      <vt:lpstr>Conclusion</vt:lpstr>
      <vt:lpstr>Future Enhancements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Client Portfolio Rebalancing Alerts </dc:title>
  <dc:creator>KUMAR</dc:creator>
  <cp:lastModifiedBy>KUMAR</cp:lastModifiedBy>
  <cp:revision>20</cp:revision>
  <dcterms:created xsi:type="dcterms:W3CDTF">2026-01-11T04:21:07Z</dcterms:created>
  <dcterms:modified xsi:type="dcterms:W3CDTF">2026-01-12T13:05:49Z</dcterms:modified>
</cp:coreProperties>
</file>