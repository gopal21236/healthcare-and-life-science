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  <p:sldId id="262" r:id="rId11"/>
    <p:sldId id="266" r:id="rId12"/>
    <p:sldId id="267" r:id="rId13"/>
    <p:sldId id="268" r:id="rId14"/>
    <p:sldId id="269" r:id="rId15"/>
    <p:sldId id="270" r:id="rId16"/>
    <p:sldId id="271" r:id="rId17"/>
    <p:sldId id="273" r:id="rId18"/>
    <p:sldId id="272" r:id="rId19"/>
    <p:sldId id="274" r:id="rId20"/>
    <p:sldId id="275" r:id="rId21"/>
    <p:sldId id="276" r:id="rId22"/>
    <p:sldId id="277" r:id="rId23"/>
    <p:sldId id="278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94" autoAdjust="0"/>
    <p:restoredTop sz="92364" autoAdjust="0"/>
  </p:normalViewPr>
  <p:slideViewPr>
    <p:cSldViewPr snapToGrid="0">
      <p:cViewPr varScale="1">
        <p:scale>
          <a:sx n="68" d="100"/>
          <a:sy n="68" d="100"/>
        </p:scale>
        <p:origin x="80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830D1-884C-465D-A963-E9B923E3ADF3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ACDB5-6DE6-4623-A65D-98D351EED3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61292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830D1-884C-465D-A963-E9B923E3ADF3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ACDB5-6DE6-4623-A65D-98D351EED3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46504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830D1-884C-465D-A963-E9B923E3ADF3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ACDB5-6DE6-4623-A65D-98D351EED3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73644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830D1-884C-465D-A963-E9B923E3ADF3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ACDB5-6DE6-4623-A65D-98D351EED3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9113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830D1-884C-465D-A963-E9B923E3ADF3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ACDB5-6DE6-4623-A65D-98D351EED3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01451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830D1-884C-465D-A963-E9B923E3ADF3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ACDB5-6DE6-4623-A65D-98D351EED3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39213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830D1-884C-465D-A963-E9B923E3ADF3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ACDB5-6DE6-4623-A65D-98D351EED3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86951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830D1-884C-465D-A963-E9B923E3ADF3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ACDB5-6DE6-4623-A65D-98D351EED3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528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830D1-884C-465D-A963-E9B923E3ADF3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ACDB5-6DE6-4623-A65D-98D351EED3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61173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830D1-884C-465D-A963-E9B923E3ADF3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ACDB5-6DE6-4623-A65D-98D351EED3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21391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830D1-884C-465D-A963-E9B923E3ADF3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ACDB5-6DE6-4623-A65D-98D351EED3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72891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8830D1-884C-465D-A963-E9B923E3ADF3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BACDB5-6DE6-4623-A65D-98D351EED3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31263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ithub.com/Gopalakrishnan-Kumar/" TargetMode="External"/><Relationship Id="rId2" Type="http://schemas.openxmlformats.org/officeDocument/2006/relationships/hyperlink" Target="https://www.linkedin.com/in/gopalakrishnankumar-a73301110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kaggle.com/gopalkk2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colab.research.google.com/drive/1sihJ5dY4wh0muxSez2CTfEGxUIbrQhsz?usp=sharing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 smtClean="0"/>
              <a:t>Traffic Volume Forecasting</a:t>
            </a:r>
            <a:endParaRPr lang="en-US" b="1" dirty="0"/>
          </a:p>
        </p:txBody>
      </p:sp>
      <p:sp>
        <p:nvSpPr>
          <p:cNvPr id="4" name="Subtitle 2"/>
          <p:cNvSpPr>
            <a:spLocks noGrp="1"/>
          </p:cNvSpPr>
          <p:nvPr>
            <p:ph type="subTitle" idx="1"/>
          </p:nvPr>
        </p:nvSpPr>
        <p:spPr>
          <a:xfrm>
            <a:off x="1524000" y="3572308"/>
            <a:ext cx="9144000" cy="1655762"/>
          </a:xfrm>
        </p:spPr>
        <p:txBody>
          <a:bodyPr/>
          <a:lstStyle/>
          <a:p>
            <a:r>
              <a:rPr lang="en-US" b="1" dirty="0" smtClean="0"/>
              <a:t>By </a:t>
            </a:r>
            <a:r>
              <a:rPr lang="en-US" b="1" dirty="0" err="1" smtClean="0"/>
              <a:t>Gopalakrishnan</a:t>
            </a:r>
            <a:r>
              <a:rPr lang="en-US" b="1" dirty="0" smtClean="0"/>
              <a:t> Kumar, </a:t>
            </a:r>
            <a:r>
              <a:rPr lang="en-US" b="1" dirty="0" err="1" smtClean="0"/>
              <a:t>MTech</a:t>
            </a:r>
            <a:r>
              <a:rPr lang="en-US" b="1" dirty="0" smtClean="0"/>
              <a:t> IIT-Bombay,</a:t>
            </a:r>
          </a:p>
          <a:p>
            <a:r>
              <a:rPr lang="en-US" b="1" dirty="0" smtClean="0"/>
              <a:t>Freelance Data Science Consultant</a:t>
            </a:r>
          </a:p>
          <a:p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2355273" y="4519136"/>
            <a:ext cx="6096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 smtClean="0">
                <a:solidFill>
                  <a:srgbClr val="0D0D0D"/>
                </a:solidFill>
                <a:latin typeface="CIDFont+F1"/>
              </a:rPr>
              <a:t>LinkedIn: Profile Link : </a:t>
            </a:r>
            <a:r>
              <a:rPr lang="en-US" dirty="0" smtClean="0">
                <a:solidFill>
                  <a:srgbClr val="0D0D0D"/>
                </a:solidFill>
                <a:latin typeface="CIDFont+F1"/>
                <a:hlinkClick r:id="rId2"/>
              </a:rPr>
              <a:t>https://www.linkedin.com/in/gopalakrishnankumar-a73301110/</a:t>
            </a:r>
            <a:endParaRPr lang="en-US" dirty="0" smtClean="0">
              <a:solidFill>
                <a:srgbClr val="0D0D0D"/>
              </a:solidFill>
              <a:latin typeface="CIDFont+F1"/>
            </a:endParaRPr>
          </a:p>
          <a:p>
            <a:endParaRPr lang="en-US" dirty="0" smtClean="0">
              <a:solidFill>
                <a:srgbClr val="0D0D0D"/>
              </a:solidFill>
              <a:latin typeface="CIDFont+F1"/>
            </a:endParaRPr>
          </a:p>
          <a:p>
            <a:r>
              <a:rPr lang="en-US" dirty="0" err="1" smtClean="0">
                <a:solidFill>
                  <a:srgbClr val="0D0D0D"/>
                </a:solidFill>
                <a:latin typeface="CIDFont+F1"/>
              </a:rPr>
              <a:t>Github:</a:t>
            </a:r>
            <a:r>
              <a:rPr lang="en-US" dirty="0" err="1" smtClean="0">
                <a:solidFill>
                  <a:srgbClr val="0D0D0D"/>
                </a:solidFill>
                <a:latin typeface="CIDFont+F1"/>
                <a:hlinkClick r:id="rId3"/>
              </a:rPr>
              <a:t>https</a:t>
            </a:r>
            <a:r>
              <a:rPr lang="en-US" dirty="0" smtClean="0">
                <a:solidFill>
                  <a:srgbClr val="0D0D0D"/>
                </a:solidFill>
                <a:latin typeface="CIDFont+F1"/>
                <a:hlinkClick r:id="rId3"/>
              </a:rPr>
              <a:t>://www.github.com/Gopalakrishnan-Kumar/</a:t>
            </a:r>
            <a:r>
              <a:rPr lang="en-US" dirty="0" smtClean="0">
                <a:solidFill>
                  <a:srgbClr val="0D0D0D"/>
                </a:solidFill>
                <a:latin typeface="CIDFont+F1"/>
              </a:rPr>
              <a:t>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55273" y="6065737"/>
            <a:ext cx="615028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err="1" smtClean="0"/>
              <a:t>Kaggle</a:t>
            </a:r>
            <a:r>
              <a:rPr lang="en-US" sz="2000" dirty="0" smtClean="0"/>
              <a:t> URL- </a:t>
            </a:r>
            <a:r>
              <a:rPr lang="en-US" sz="2000" dirty="0" smtClean="0">
                <a:hlinkClick r:id="rId4"/>
              </a:rPr>
              <a:t>https://www.kaggle.com/gopalkk2</a:t>
            </a:r>
            <a:endParaRPr lang="en-US" sz="2000" dirty="0" smtClean="0"/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8101659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Google Colab URL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</a:t>
            </a:r>
            <a:r>
              <a:rPr lang="en-US" dirty="0" smtClean="0">
                <a:hlinkClick r:id="rId2"/>
              </a:rPr>
              <a:t>colab.research.google.com/drive/1sihJ5dY4wh0muxSez2CTfEGxUIbrQhsz?usp=sharing</a:t>
            </a:r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94057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Traffic congestion is a growing challenge in rapidly urbanizing cities.</a:t>
            </a:r>
            <a:br>
              <a:rPr lang="en-US" dirty="0"/>
            </a:br>
            <a:r>
              <a:rPr lang="en-US" dirty="0"/>
              <a:t>This project aims to </a:t>
            </a:r>
            <a:r>
              <a:rPr lang="en-US" b="1" dirty="0"/>
              <a:t>forecast daily vehicle counts</a:t>
            </a:r>
            <a:r>
              <a:rPr lang="en-US" dirty="0"/>
              <a:t> for specific roads using time series modeling.</a:t>
            </a:r>
            <a:br>
              <a:rPr lang="en-US" dirty="0"/>
            </a:br>
            <a:r>
              <a:rPr lang="en-US" dirty="0"/>
              <a:t>The insights help </a:t>
            </a:r>
            <a:r>
              <a:rPr lang="en-US" b="1" dirty="0"/>
              <a:t>city planners</a:t>
            </a:r>
            <a:r>
              <a:rPr lang="en-US" dirty="0"/>
              <a:t>, </a:t>
            </a:r>
            <a:r>
              <a:rPr lang="en-US" b="1" dirty="0"/>
              <a:t>transport departments</a:t>
            </a:r>
            <a:r>
              <a:rPr lang="en-US" dirty="0"/>
              <a:t>, and </a:t>
            </a:r>
            <a:r>
              <a:rPr lang="en-US" b="1" dirty="0"/>
              <a:t>infrastructure engineers</a:t>
            </a:r>
            <a:r>
              <a:rPr lang="en-US" dirty="0"/>
              <a:t> make data-driven decisions to optimize road usage, reduce congestion, and plan future infrastructure.</a:t>
            </a:r>
          </a:p>
        </p:txBody>
      </p:sp>
    </p:spTree>
    <p:extLst>
      <p:ext uri="{BB962C8B-B14F-4D97-AF65-F5344CB8AC3E}">
        <p14:creationId xmlns:p14="http://schemas.microsoft.com/office/powerpoint/2010/main" val="25818287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Business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 smtClean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665018" y="1376480"/>
            <a:ext cx="10237546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Predict 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future traffic volumes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for highways, main roads, and residential streets.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Identify 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seasonal traffic patterns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(e.g., festival, monsoon, or holiday peaks).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Support 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resource allocation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and 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infrastructure planning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(signal timings, road expansions, maintenance).</a:t>
            </a:r>
          </a:p>
        </p:txBody>
      </p:sp>
    </p:spTree>
    <p:extLst>
      <p:ext uri="{BB962C8B-B14F-4D97-AF65-F5344CB8AC3E}">
        <p14:creationId xmlns:p14="http://schemas.microsoft.com/office/powerpoint/2010/main" val="1249038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Dataset Description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24863434"/>
              </p:ext>
            </p:extLst>
          </p:nvPr>
        </p:nvGraphicFramePr>
        <p:xfrm>
          <a:off x="838200" y="1690688"/>
          <a:ext cx="10515600" cy="219456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2442388968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6512984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b="1" dirty="0"/>
                        <a:t>Feature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/>
                        <a:t>Description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227155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Date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/>
                        <a:t>Daily timestamp (2020–2023)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6299747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Traffic_Volume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/>
                        <a:t>Total number of vehicles recorded per day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5347158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Highway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/>
                        <a:t>Vehicle counts on major highways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4608852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Main_Road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/>
                        <a:t>Vehicle counts on city’s main arteries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8090835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Residential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Vehicle counts on residential streets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4430067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838200" y="4287481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/>
              <a:t>Data Type:</a:t>
            </a:r>
            <a:r>
              <a:rPr lang="en-US" dirty="0"/>
              <a:t> Time Series (daily frequency)</a:t>
            </a:r>
            <a:br>
              <a:rPr lang="en-US" dirty="0"/>
            </a:br>
            <a:r>
              <a:rPr lang="en-US" b="1" dirty="0"/>
              <a:t>Data Range:</a:t>
            </a:r>
            <a:r>
              <a:rPr lang="en-US" dirty="0"/>
              <a:t> January 2020 – December 2023</a:t>
            </a:r>
            <a:br>
              <a:rPr lang="en-US" dirty="0"/>
            </a:br>
            <a:r>
              <a:rPr lang="en-US" b="1" dirty="0"/>
              <a:t>Records:</a:t>
            </a:r>
            <a:r>
              <a:rPr lang="en-US" dirty="0"/>
              <a:t> ~1,460 entries</a:t>
            </a:r>
          </a:p>
        </p:txBody>
      </p:sp>
    </p:spTree>
    <p:extLst>
      <p:ext uri="{BB962C8B-B14F-4D97-AF65-F5344CB8AC3E}">
        <p14:creationId xmlns:p14="http://schemas.microsoft.com/office/powerpoint/2010/main" val="37623549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Data Visualization</a:t>
            </a:r>
            <a:endParaRPr lang="en-US" b="1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8834" y="1852449"/>
            <a:ext cx="9354331" cy="4297689"/>
          </a:xfrm>
        </p:spPr>
      </p:pic>
    </p:spTree>
    <p:extLst>
      <p:ext uri="{BB962C8B-B14F-4D97-AF65-F5344CB8AC3E}">
        <p14:creationId xmlns:p14="http://schemas.microsoft.com/office/powerpoint/2010/main" val="22976195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Data Characteristics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dataset used for this project was generated synthetically to represent realistic </a:t>
            </a:r>
            <a:r>
              <a:rPr lang="en-US" b="1" dirty="0"/>
              <a:t>daily vehicle counts</a:t>
            </a:r>
            <a:r>
              <a:rPr lang="en-US" dirty="0"/>
              <a:t> on various road types (Highway, Main Road, Residential) across a 4-year period (2020–2023). It captures </a:t>
            </a:r>
            <a:r>
              <a:rPr lang="en-US" b="1" dirty="0"/>
              <a:t>temporal, seasonal, and random variations</a:t>
            </a:r>
            <a:r>
              <a:rPr lang="en-US" dirty="0"/>
              <a:t> common in real-world traffic patterns.</a:t>
            </a:r>
          </a:p>
        </p:txBody>
      </p:sp>
    </p:spTree>
    <p:extLst>
      <p:ext uri="{BB962C8B-B14F-4D97-AF65-F5344CB8AC3E}">
        <p14:creationId xmlns:p14="http://schemas.microsoft.com/office/powerpoint/2010/main" val="22849535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Data Characteristics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84763003"/>
              </p:ext>
            </p:extLst>
          </p:nvPr>
        </p:nvGraphicFramePr>
        <p:xfrm>
          <a:off x="2416560" y="1767209"/>
          <a:ext cx="7358880" cy="4468170"/>
        </p:xfrm>
        <a:graphic>
          <a:graphicData uri="http://schemas.openxmlformats.org/drawingml/2006/table">
            <a:tbl>
              <a:tblPr/>
              <a:tblGrid>
                <a:gridCol w="3679440">
                  <a:extLst>
                    <a:ext uri="{9D8B030D-6E8A-4147-A177-3AD203B41FA5}">
                      <a16:colId xmlns:a16="http://schemas.microsoft.com/office/drawing/2014/main" val="3277826567"/>
                    </a:ext>
                  </a:extLst>
                </a:gridCol>
                <a:gridCol w="3679440">
                  <a:extLst>
                    <a:ext uri="{9D8B030D-6E8A-4147-A177-3AD203B41FA5}">
                      <a16:colId xmlns:a16="http://schemas.microsoft.com/office/drawing/2014/main" val="2198659468"/>
                    </a:ext>
                  </a:extLst>
                </a:gridCol>
              </a:tblGrid>
              <a:tr h="255961">
                <a:tc>
                  <a:txBody>
                    <a:bodyPr/>
                    <a:lstStyle/>
                    <a:p>
                      <a:r>
                        <a:rPr lang="en-US" sz="1300" b="1"/>
                        <a:t>Aspect</a:t>
                      </a:r>
                    </a:p>
                  </a:txBody>
                  <a:tcPr marL="63990" marR="63990" marT="31995" marB="31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1"/>
                        <a:t>Description</a:t>
                      </a:r>
                    </a:p>
                  </a:txBody>
                  <a:tcPr marL="63990" marR="63990" marT="31995" marB="31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64681808"/>
                  </a:ext>
                </a:extLst>
              </a:tr>
              <a:tr h="447932">
                <a:tc>
                  <a:txBody>
                    <a:bodyPr/>
                    <a:lstStyle/>
                    <a:p>
                      <a:r>
                        <a:rPr lang="en-US" sz="1300" b="1"/>
                        <a:t>Data Frequency</a:t>
                      </a:r>
                    </a:p>
                  </a:txBody>
                  <a:tcPr marL="63990" marR="63990" marT="31995" marB="31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1"/>
                        <a:t>Daily traffic observations aggregated from road sensors or counters.</a:t>
                      </a:r>
                    </a:p>
                  </a:txBody>
                  <a:tcPr marL="63990" marR="63990" marT="31995" marB="31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6888849"/>
                  </a:ext>
                </a:extLst>
              </a:tr>
              <a:tr h="255961">
                <a:tc>
                  <a:txBody>
                    <a:bodyPr/>
                    <a:lstStyle/>
                    <a:p>
                      <a:r>
                        <a:rPr lang="en-US" sz="1300" b="1"/>
                        <a:t>Duration</a:t>
                      </a:r>
                    </a:p>
                  </a:txBody>
                  <a:tcPr marL="63990" marR="63990" marT="31995" marB="31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1"/>
                        <a:t>4 years (January 2020 – December 2023).</a:t>
                      </a:r>
                    </a:p>
                  </a:txBody>
                  <a:tcPr marL="63990" marR="63990" marT="31995" marB="31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90440394"/>
                  </a:ext>
                </a:extLst>
              </a:tr>
              <a:tr h="255961">
                <a:tc>
                  <a:txBody>
                    <a:bodyPr/>
                    <a:lstStyle/>
                    <a:p>
                      <a:r>
                        <a:rPr lang="en-US" sz="1300" b="1"/>
                        <a:t>Granularity</a:t>
                      </a:r>
                    </a:p>
                  </a:txBody>
                  <a:tcPr marL="63990" marR="63990" marT="31995" marB="31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1"/>
                        <a:t>One record per day, per location type.</a:t>
                      </a:r>
                    </a:p>
                  </a:txBody>
                  <a:tcPr marL="63990" marR="63990" marT="31995" marB="31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75609526"/>
                  </a:ext>
                </a:extLst>
              </a:tr>
              <a:tr h="447932">
                <a:tc>
                  <a:txBody>
                    <a:bodyPr/>
                    <a:lstStyle/>
                    <a:p>
                      <a:r>
                        <a:rPr lang="en-US" sz="1300" b="1"/>
                        <a:t>Trend</a:t>
                      </a:r>
                    </a:p>
                  </a:txBody>
                  <a:tcPr marL="63990" marR="63990" marT="31995" marB="31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1"/>
                        <a:t>Gradual upward trend due to increased vehicle ownership and post-pandemic recovery.</a:t>
                      </a:r>
                    </a:p>
                  </a:txBody>
                  <a:tcPr marL="63990" marR="63990" marT="31995" marB="31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81576179"/>
                  </a:ext>
                </a:extLst>
              </a:tr>
              <a:tr h="447932">
                <a:tc>
                  <a:txBody>
                    <a:bodyPr/>
                    <a:lstStyle/>
                    <a:p>
                      <a:r>
                        <a:rPr lang="en-US" sz="1300" b="1"/>
                        <a:t>Seasonality</a:t>
                      </a:r>
                    </a:p>
                  </a:txBody>
                  <a:tcPr marL="63990" marR="63990" marT="31995" marB="31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1"/>
                        <a:t>Repeating annual cycle – higher traffic in summer, reduced during monsoon and holidays.</a:t>
                      </a:r>
                    </a:p>
                  </a:txBody>
                  <a:tcPr marL="63990" marR="63990" marT="31995" marB="31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81299277"/>
                  </a:ext>
                </a:extLst>
              </a:tr>
              <a:tr h="447932">
                <a:tc>
                  <a:txBody>
                    <a:bodyPr/>
                    <a:lstStyle/>
                    <a:p>
                      <a:r>
                        <a:rPr lang="en-US" sz="1300" b="1"/>
                        <a:t>Noise / Variability</a:t>
                      </a:r>
                    </a:p>
                  </a:txBody>
                  <a:tcPr marL="63990" marR="63990" marT="31995" marB="31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1"/>
                        <a:t>Random short-term fluctuations caused by weekends, accidents, or local events.</a:t>
                      </a:r>
                    </a:p>
                  </a:txBody>
                  <a:tcPr marL="63990" marR="63990" marT="31995" marB="31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59801150"/>
                  </a:ext>
                </a:extLst>
              </a:tr>
              <a:tr h="447932">
                <a:tc>
                  <a:txBody>
                    <a:bodyPr/>
                    <a:lstStyle/>
                    <a:p>
                      <a:r>
                        <a:rPr lang="en-US" sz="1300" b="1"/>
                        <a:t>Missing Values</a:t>
                      </a:r>
                    </a:p>
                  </a:txBody>
                  <a:tcPr marL="63990" marR="63990" marT="31995" marB="31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1"/>
                        <a:t>None (synthetic dataset simulated with complete records).</a:t>
                      </a:r>
                    </a:p>
                  </a:txBody>
                  <a:tcPr marL="63990" marR="63990" marT="31995" marB="31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59090800"/>
                  </a:ext>
                </a:extLst>
              </a:tr>
              <a:tr h="447932">
                <a:tc>
                  <a:txBody>
                    <a:bodyPr/>
                    <a:lstStyle/>
                    <a:p>
                      <a:r>
                        <a:rPr lang="en-US" sz="1300" b="1"/>
                        <a:t>Outliers</a:t>
                      </a:r>
                    </a:p>
                  </a:txBody>
                  <a:tcPr marL="63990" marR="63990" marT="31995" marB="31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1" dirty="0"/>
                        <a:t>Occasional spikes represent special events or peak hour surges.</a:t>
                      </a:r>
                    </a:p>
                  </a:txBody>
                  <a:tcPr marL="63990" marR="63990" marT="31995" marB="31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64647458"/>
                  </a:ext>
                </a:extLst>
              </a:tr>
              <a:tr h="639903">
                <a:tc>
                  <a:txBody>
                    <a:bodyPr/>
                    <a:lstStyle/>
                    <a:p>
                      <a:r>
                        <a:rPr lang="en-US" sz="1300" b="1"/>
                        <a:t>Data Range (Traffic_Volume)</a:t>
                      </a:r>
                    </a:p>
                  </a:txBody>
                  <a:tcPr marL="63990" marR="63990" marT="31995" marB="31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1"/>
                        <a:t>Typically between 8,000 – 14,000 vehicles per day, with peaks reaching 15,500+ during high-traffic periods.</a:t>
                      </a:r>
                    </a:p>
                  </a:txBody>
                  <a:tcPr marL="63990" marR="63990" marT="31995" marB="31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60789328"/>
                  </a:ext>
                </a:extLst>
              </a:tr>
              <a:tr h="255961">
                <a:tc>
                  <a:txBody>
                    <a:bodyPr/>
                    <a:lstStyle/>
                    <a:p>
                      <a:r>
                        <a:rPr lang="en-US" sz="1300" b="1"/>
                        <a:t>Units</a:t>
                      </a:r>
                    </a:p>
                  </a:txBody>
                  <a:tcPr marL="63990" marR="63990" marT="31995" marB="31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1" dirty="0"/>
                        <a:t>Vehicle counts per day.</a:t>
                      </a:r>
                    </a:p>
                  </a:txBody>
                  <a:tcPr marL="63990" marR="63990" marT="31995" marB="31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838891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331948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/>
              <a:t>Data Visualization</a:t>
            </a:r>
            <a:br>
              <a:rPr lang="en-US" b="1" dirty="0" smtClean="0"/>
            </a:br>
            <a:endParaRPr lang="en-US" b="1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9792" y="1852449"/>
            <a:ext cx="7772415" cy="4297689"/>
          </a:xfrm>
        </p:spPr>
      </p:pic>
    </p:spTree>
    <p:extLst>
      <p:ext uri="{BB962C8B-B14F-4D97-AF65-F5344CB8AC3E}">
        <p14:creationId xmlns:p14="http://schemas.microsoft.com/office/powerpoint/2010/main" val="17230691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Exploratory Data Analysis (EDA)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a. Histogram</a:t>
            </a:r>
          </a:p>
          <a:p>
            <a:r>
              <a:rPr lang="en-US" dirty="0"/>
              <a:t>Displayed the distribution of daily traffic volumes.</a:t>
            </a:r>
          </a:p>
          <a:p>
            <a:r>
              <a:rPr lang="en-US" dirty="0"/>
              <a:t>The distribution showed a </a:t>
            </a:r>
            <a:r>
              <a:rPr lang="en-US" b="1" dirty="0"/>
              <a:t>slight right skew</a:t>
            </a:r>
            <a:r>
              <a:rPr lang="en-US" dirty="0"/>
              <a:t>, meaning most days had moderate traffic with occasional high-volume days (rush hours, events).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64376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Data Visualization</a:t>
            </a:r>
            <a:endParaRPr lang="en-US" b="1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1474" y="1825625"/>
            <a:ext cx="8769052" cy="4351338"/>
          </a:xfrm>
        </p:spPr>
      </p:pic>
    </p:spTree>
    <p:extLst>
      <p:ext uri="{BB962C8B-B14F-4D97-AF65-F5344CB8AC3E}">
        <p14:creationId xmlns:p14="http://schemas.microsoft.com/office/powerpoint/2010/main" val="36785965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Exploratory Data Analysis (EDA)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b. Bar Chart (Monthly Average Traffic Volume)</a:t>
            </a:r>
          </a:p>
          <a:p>
            <a:r>
              <a:rPr lang="en-US" dirty="0"/>
              <a:t>Monthly analysis revealed </a:t>
            </a:r>
            <a:r>
              <a:rPr lang="en-US" b="1" dirty="0"/>
              <a:t>cyclic patterns</a:t>
            </a:r>
            <a:r>
              <a:rPr lang="en-US" dirty="0"/>
              <a:t>:</a:t>
            </a:r>
          </a:p>
          <a:p>
            <a:pPr lvl="1"/>
            <a:r>
              <a:rPr lang="en-US" b="1" dirty="0"/>
              <a:t>High volumes:</a:t>
            </a:r>
            <a:r>
              <a:rPr lang="en-US" dirty="0"/>
              <a:t> Summer &amp; post-lockdown recovery months (June–September).</a:t>
            </a:r>
          </a:p>
          <a:p>
            <a:pPr lvl="1"/>
            <a:r>
              <a:rPr lang="en-US" b="1" dirty="0"/>
              <a:t>Low volumes:</a:t>
            </a:r>
            <a:r>
              <a:rPr lang="en-US" dirty="0"/>
              <a:t> Rainy and winter months (January–February).</a:t>
            </a:r>
          </a:p>
          <a:p>
            <a:r>
              <a:rPr lang="en-US" dirty="0"/>
              <a:t>Indicates clear seasonality useful for forecasting.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481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Data Visualization</a:t>
            </a:r>
            <a:endParaRPr lang="en-US" b="1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0206" y="1852449"/>
            <a:ext cx="5751587" cy="4297689"/>
          </a:xfrm>
        </p:spPr>
      </p:pic>
    </p:spTree>
    <p:extLst>
      <p:ext uri="{BB962C8B-B14F-4D97-AF65-F5344CB8AC3E}">
        <p14:creationId xmlns:p14="http://schemas.microsoft.com/office/powerpoint/2010/main" val="4204697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Exploratory Data Analysis (EDA)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c. Stacked Bar Chart (By Road Type)</a:t>
            </a:r>
          </a:p>
          <a:p>
            <a:r>
              <a:rPr lang="en-US" dirty="0"/>
              <a:t>Highways contribute </a:t>
            </a:r>
            <a:r>
              <a:rPr lang="en-US" b="1" dirty="0"/>
              <a:t>~50%</a:t>
            </a:r>
            <a:r>
              <a:rPr lang="en-US" dirty="0"/>
              <a:t> of total volume.</a:t>
            </a:r>
          </a:p>
          <a:p>
            <a:r>
              <a:rPr lang="en-US" dirty="0"/>
              <a:t>Main roads ~30–35%, Residential ~15–20%.</a:t>
            </a:r>
          </a:p>
          <a:p>
            <a:r>
              <a:rPr lang="en-US" dirty="0"/>
              <a:t>Provides clarity on which segments dominate total traffic load.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96486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Data Visualization </a:t>
            </a:r>
            <a:endParaRPr lang="en-US" b="1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1474" y="1825625"/>
            <a:ext cx="8769052" cy="4351338"/>
          </a:xfrm>
        </p:spPr>
      </p:pic>
    </p:spTree>
    <p:extLst>
      <p:ext uri="{BB962C8B-B14F-4D97-AF65-F5344CB8AC3E}">
        <p14:creationId xmlns:p14="http://schemas.microsoft.com/office/powerpoint/2010/main" val="22873340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Exploratory Data Analysis (EDA)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d. Combined Stacked Bar Chart</a:t>
            </a:r>
          </a:p>
          <a:p>
            <a:r>
              <a:rPr lang="en-US" dirty="0"/>
              <a:t>Combines stacked bars for each road type with a </a:t>
            </a:r>
            <a:r>
              <a:rPr lang="en-US" b="1" dirty="0"/>
              <a:t>total traffic trend line</a:t>
            </a:r>
            <a:r>
              <a:rPr lang="en-US" dirty="0"/>
              <a:t>.</a:t>
            </a:r>
          </a:p>
          <a:p>
            <a:r>
              <a:rPr lang="en-US" dirty="0"/>
              <a:t>The </a:t>
            </a:r>
            <a:r>
              <a:rPr lang="en-US" b="1" dirty="0"/>
              <a:t>red line trend</a:t>
            </a:r>
            <a:r>
              <a:rPr lang="en-US" dirty="0"/>
              <a:t> shows consistent growth over the years due to urban expansion and vehicle ownership rise.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36969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Forecasting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07994"/>
            <a:ext cx="10515600" cy="4351338"/>
          </a:xfrm>
        </p:spPr>
        <p:txBody>
          <a:bodyPr/>
          <a:lstStyle/>
          <a:p>
            <a:r>
              <a:rPr lang="en-US" b="1" dirty="0"/>
              <a:t>Model Used: ARIMA (</a:t>
            </a:r>
            <a:r>
              <a:rPr lang="en-US" b="1" dirty="0" err="1"/>
              <a:t>AutoRegressive</a:t>
            </a:r>
            <a:r>
              <a:rPr lang="en-US" b="1" dirty="0"/>
              <a:t> Integrated Moving Average)</a:t>
            </a:r>
          </a:p>
          <a:p>
            <a:r>
              <a:rPr lang="en-US" b="1" dirty="0"/>
              <a:t>Order (</a:t>
            </a:r>
            <a:r>
              <a:rPr lang="en-US" b="1" dirty="0" err="1"/>
              <a:t>p,d,q</a:t>
            </a:r>
            <a:r>
              <a:rPr lang="en-US" b="1" dirty="0"/>
              <a:t>):</a:t>
            </a:r>
            <a:r>
              <a:rPr lang="en-US" dirty="0"/>
              <a:t> (2,1,2) after ACF/PACF tuning.</a:t>
            </a:r>
          </a:p>
          <a:p>
            <a:r>
              <a:rPr lang="en-US" b="1" dirty="0"/>
              <a:t>Training Period:</a:t>
            </a:r>
            <a:r>
              <a:rPr lang="en-US" dirty="0"/>
              <a:t> 2020–2023 minus last 30 days.</a:t>
            </a:r>
          </a:p>
          <a:p>
            <a:r>
              <a:rPr lang="en-US" b="1" dirty="0"/>
              <a:t>Testing Period:</a:t>
            </a:r>
            <a:r>
              <a:rPr lang="en-US" dirty="0"/>
              <a:t> Final 30 days for validation.</a:t>
            </a:r>
          </a:p>
          <a:p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5350140"/>
              </p:ext>
            </p:extLst>
          </p:nvPr>
        </p:nvGraphicFramePr>
        <p:xfrm>
          <a:off x="949036" y="3660473"/>
          <a:ext cx="10515600" cy="109728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1633686497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424244519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b="1" dirty="0"/>
                        <a:t>Metric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Value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1482801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MAE (Mean Absolute Error)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/>
                        <a:t>~450.23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0106893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 dirty="0"/>
                        <a:t>RMSE (Root Mean Square Error)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~675.41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86854368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949036" y="5035377"/>
            <a:ext cx="1219892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Model shows good predictive accuracy with slight deviation during high-fluctuation days.</a:t>
            </a:r>
          </a:p>
        </p:txBody>
      </p:sp>
    </p:spTree>
    <p:extLst>
      <p:ext uri="{BB962C8B-B14F-4D97-AF65-F5344CB8AC3E}">
        <p14:creationId xmlns:p14="http://schemas.microsoft.com/office/powerpoint/2010/main" val="41980546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Data Visualization</a:t>
            </a:r>
            <a:endParaRPr lang="en-US" b="1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1474" y="1825625"/>
            <a:ext cx="8769052" cy="4351338"/>
          </a:xfrm>
        </p:spPr>
      </p:pic>
    </p:spTree>
    <p:extLst>
      <p:ext uri="{BB962C8B-B14F-4D97-AF65-F5344CB8AC3E}">
        <p14:creationId xmlns:p14="http://schemas.microsoft.com/office/powerpoint/2010/main" val="20055337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Forecast Plot</a:t>
            </a:r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379826" y="1717434"/>
            <a:ext cx="11226019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blue line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Historical traffic (2020–2023).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red line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Predicted traffic for next 30 days.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Confidence Interval (pink band):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Reflects uncertainty bounds (95%).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Forecast indicates an 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upward trend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suggesting increasing traffic load due to 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city reopening and new vehicle registrations.</a:t>
            </a:r>
          </a:p>
        </p:txBody>
      </p:sp>
    </p:spTree>
    <p:extLst>
      <p:ext uri="{BB962C8B-B14F-4D97-AF65-F5344CB8AC3E}">
        <p14:creationId xmlns:p14="http://schemas.microsoft.com/office/powerpoint/2010/main" val="12802927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Business Insights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8862" y="1501115"/>
            <a:ext cx="11043138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b="1" dirty="0">
                <a:latin typeface="Arial" panose="020B0604020202020204" pitchFamily="34" charset="0"/>
              </a:rPr>
              <a:t>Consistent growth</a:t>
            </a:r>
            <a:r>
              <a:rPr lang="en-US" altLang="en-US" sz="2400" dirty="0">
                <a:latin typeface="Arial" panose="020B0604020202020204" pitchFamily="34" charset="0"/>
              </a:rPr>
              <a:t> in total vehicle count each year — potential signal for </a:t>
            </a:r>
            <a:r>
              <a:rPr lang="en-US" altLang="en-US" sz="2400" b="1" dirty="0">
                <a:latin typeface="Arial" panose="020B0604020202020204" pitchFamily="34" charset="0"/>
              </a:rPr>
              <a:t>road expansion</a:t>
            </a:r>
            <a:r>
              <a:rPr lang="en-US" altLang="en-US" sz="2400" dirty="0">
                <a:latin typeface="Arial" panose="020B0604020202020204" pitchFamily="34" charset="0"/>
              </a:rPr>
              <a:t> planning.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b="1" dirty="0">
                <a:latin typeface="Arial" panose="020B0604020202020204" pitchFamily="34" charset="0"/>
              </a:rPr>
              <a:t>Highway congestion</a:t>
            </a:r>
            <a:r>
              <a:rPr lang="en-US" altLang="en-US" sz="2400" dirty="0">
                <a:latin typeface="Arial" panose="020B0604020202020204" pitchFamily="34" charset="0"/>
              </a:rPr>
              <a:t> contributes ~50% of total load → need for </a:t>
            </a:r>
            <a:r>
              <a:rPr lang="en-US" altLang="en-US" sz="2400" b="1" dirty="0">
                <a:latin typeface="Arial" panose="020B0604020202020204" pitchFamily="34" charset="0"/>
              </a:rPr>
              <a:t>lane optimization</a:t>
            </a:r>
            <a:r>
              <a:rPr lang="en-US" altLang="en-US" sz="2400" dirty="0">
                <a:latin typeface="Arial" panose="020B0604020202020204" pitchFamily="34" charset="0"/>
              </a:rPr>
              <a:t> or express routes.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b="1" dirty="0">
                <a:latin typeface="Arial" panose="020B0604020202020204" pitchFamily="34" charset="0"/>
              </a:rPr>
              <a:t>Seasonality impact:</a:t>
            </a:r>
            <a:r>
              <a:rPr lang="en-US" altLang="en-US" sz="2400" dirty="0">
                <a:latin typeface="Arial" panose="020B0604020202020204" pitchFamily="34" charset="0"/>
              </a:rPr>
              <a:t> Traffic dips in monsoon → ideal period for </a:t>
            </a:r>
            <a:r>
              <a:rPr lang="en-US" altLang="en-US" sz="2400" b="1" dirty="0">
                <a:latin typeface="Arial" panose="020B0604020202020204" pitchFamily="34" charset="0"/>
              </a:rPr>
              <a:t>maintenance</a:t>
            </a:r>
            <a:r>
              <a:rPr lang="en-US" altLang="en-US" sz="2400" dirty="0">
                <a:latin typeface="Arial" panose="020B0604020202020204" pitchFamily="34" charset="0"/>
              </a:rPr>
              <a:t> or </a:t>
            </a:r>
            <a:r>
              <a:rPr lang="en-US" altLang="en-US" sz="2400" b="1" dirty="0">
                <a:latin typeface="Arial" panose="020B0604020202020204" pitchFamily="34" charset="0"/>
              </a:rPr>
              <a:t>road works</a:t>
            </a:r>
            <a:r>
              <a:rPr lang="en-US" altLang="en-US" sz="2400" dirty="0">
                <a:latin typeface="Arial" panose="020B0604020202020204" pitchFamily="34" charset="0"/>
              </a:rPr>
              <a:t>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b="1" dirty="0">
                <a:latin typeface="Arial" panose="020B0604020202020204" pitchFamily="34" charset="0"/>
              </a:rPr>
              <a:t>Forecast results</a:t>
            </a:r>
            <a:r>
              <a:rPr lang="en-US" altLang="en-US" sz="2400" dirty="0">
                <a:latin typeface="Arial" panose="020B0604020202020204" pitchFamily="34" charset="0"/>
              </a:rPr>
              <a:t> help </a:t>
            </a:r>
            <a:r>
              <a:rPr lang="en-US" altLang="en-US" sz="2400" b="1" dirty="0">
                <a:latin typeface="Arial" panose="020B0604020202020204" pitchFamily="34" charset="0"/>
              </a:rPr>
              <a:t>predict peak congestion days</a:t>
            </a:r>
            <a:r>
              <a:rPr lang="en-US" altLang="en-US" sz="2400" dirty="0">
                <a:latin typeface="Arial" panose="020B0604020202020204" pitchFamily="34" charset="0"/>
              </a:rPr>
              <a:t> and plan smart signal timing or public transport frequency.</a:t>
            </a:r>
          </a:p>
        </p:txBody>
      </p:sp>
    </p:spTree>
    <p:extLst>
      <p:ext uri="{BB962C8B-B14F-4D97-AF65-F5344CB8AC3E}">
        <p14:creationId xmlns:p14="http://schemas.microsoft.com/office/powerpoint/2010/main" val="575696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Recommendations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1064454" y="1690688"/>
            <a:ext cx="10794611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Arial" panose="020B0604020202020204" pitchFamily="34" charset="0"/>
              </a:rPr>
              <a:t>Install </a:t>
            </a:r>
            <a:r>
              <a:rPr lang="en-US" altLang="en-US" sz="2400" b="1" dirty="0">
                <a:latin typeface="Arial" panose="020B0604020202020204" pitchFamily="34" charset="0"/>
              </a:rPr>
              <a:t>smart sensors</a:t>
            </a:r>
            <a:r>
              <a:rPr lang="en-US" altLang="en-US" sz="2400" dirty="0">
                <a:latin typeface="Arial" panose="020B0604020202020204" pitchFamily="34" charset="0"/>
              </a:rPr>
              <a:t> to capture real-time vehicle data.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Arial" panose="020B0604020202020204" pitchFamily="34" charset="0"/>
              </a:rPr>
              <a:t>Integrate this model into a </a:t>
            </a:r>
            <a:r>
              <a:rPr lang="en-US" altLang="en-US" sz="2400" b="1" dirty="0">
                <a:latin typeface="Arial" panose="020B0604020202020204" pitchFamily="34" charset="0"/>
              </a:rPr>
              <a:t>live dashboard (Power BI or Tableau)</a:t>
            </a:r>
            <a:r>
              <a:rPr lang="en-US" altLang="en-US" sz="2400" dirty="0">
                <a:latin typeface="Arial" panose="020B0604020202020204" pitchFamily="34" charset="0"/>
              </a:rPr>
              <a:t>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Arial" panose="020B0604020202020204" pitchFamily="34" charset="0"/>
              </a:rPr>
              <a:t>Implement </a:t>
            </a:r>
            <a:r>
              <a:rPr lang="en-US" altLang="en-US" sz="2400" b="1" dirty="0">
                <a:latin typeface="Arial" panose="020B0604020202020204" pitchFamily="34" charset="0"/>
              </a:rPr>
              <a:t>AI-driven adaptive signal control</a:t>
            </a:r>
            <a:r>
              <a:rPr lang="en-US" altLang="en-US" sz="2400" dirty="0">
                <a:latin typeface="Arial" panose="020B0604020202020204" pitchFamily="34" charset="0"/>
              </a:rPr>
              <a:t> during forecasted peak hours.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Arial" panose="020B0604020202020204" pitchFamily="34" charset="0"/>
              </a:rPr>
              <a:t>Collect additional features (weather, holidays, accidents) for more accurate multi-factor forecasting.</a:t>
            </a:r>
          </a:p>
        </p:txBody>
      </p:sp>
    </p:spTree>
    <p:extLst>
      <p:ext uri="{BB962C8B-B14F-4D97-AF65-F5344CB8AC3E}">
        <p14:creationId xmlns:p14="http://schemas.microsoft.com/office/powerpoint/2010/main" val="41802860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project successfully demonstrates how </a:t>
            </a:r>
            <a:r>
              <a:rPr lang="en-US" b="1" dirty="0"/>
              <a:t>time series forecasting (ARIMA)</a:t>
            </a:r>
            <a:r>
              <a:rPr lang="en-US" dirty="0"/>
              <a:t> can predict </a:t>
            </a:r>
            <a:r>
              <a:rPr lang="en-US" b="1" dirty="0"/>
              <a:t>daily traffic volumes</a:t>
            </a:r>
            <a:r>
              <a:rPr lang="en-US" dirty="0"/>
              <a:t> and uncover </a:t>
            </a:r>
            <a:r>
              <a:rPr lang="en-US" b="1" dirty="0"/>
              <a:t>patterns in road usage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By leveraging historical data, city administrators can </a:t>
            </a:r>
            <a:r>
              <a:rPr lang="en-US" b="1" dirty="0"/>
              <a:t>plan infrastructure upgrades, manage congestion</a:t>
            </a:r>
            <a:r>
              <a:rPr lang="en-US" dirty="0"/>
              <a:t>, and </a:t>
            </a:r>
            <a:r>
              <a:rPr lang="en-US" b="1" dirty="0"/>
              <a:t>improve commuter experience</a:t>
            </a:r>
            <a:r>
              <a:rPr lang="en-US" dirty="0"/>
              <a:t> proactively.</a:t>
            </a:r>
          </a:p>
        </p:txBody>
      </p:sp>
    </p:spTree>
    <p:extLst>
      <p:ext uri="{BB962C8B-B14F-4D97-AF65-F5344CB8AC3E}">
        <p14:creationId xmlns:p14="http://schemas.microsoft.com/office/powerpoint/2010/main" val="41340572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Tools &amp; Technologies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1064456" y="1690688"/>
            <a:ext cx="10289344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b="1" dirty="0">
                <a:latin typeface="Arial" panose="020B0604020202020204" pitchFamily="34" charset="0"/>
              </a:rPr>
              <a:t>Python Libraries:</a:t>
            </a:r>
            <a:r>
              <a:rPr lang="en-US" altLang="en-US" sz="2400" dirty="0">
                <a:latin typeface="Arial" panose="020B0604020202020204" pitchFamily="34" charset="0"/>
              </a:rPr>
              <a:t> pandas, </a:t>
            </a:r>
            <a:r>
              <a:rPr lang="en-US" altLang="en-US" sz="2400" dirty="0" err="1">
                <a:latin typeface="Arial" panose="020B0604020202020204" pitchFamily="34" charset="0"/>
              </a:rPr>
              <a:t>matplotlib</a:t>
            </a:r>
            <a:r>
              <a:rPr lang="en-US" altLang="en-US" sz="2400" dirty="0">
                <a:latin typeface="Arial" panose="020B0604020202020204" pitchFamily="34" charset="0"/>
              </a:rPr>
              <a:t>, statsmodels, scikit-learn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b="1" dirty="0">
                <a:latin typeface="Arial" panose="020B0604020202020204" pitchFamily="34" charset="0"/>
              </a:rPr>
              <a:t>Model:</a:t>
            </a:r>
            <a:r>
              <a:rPr lang="en-US" altLang="en-US" sz="2400" dirty="0">
                <a:latin typeface="Arial" panose="020B0604020202020204" pitchFamily="34" charset="0"/>
              </a:rPr>
              <a:t> ARIMA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b="1" dirty="0">
                <a:latin typeface="Arial" panose="020B0604020202020204" pitchFamily="34" charset="0"/>
              </a:rPr>
              <a:t>Visualization:</a:t>
            </a:r>
            <a:r>
              <a:rPr lang="en-US" altLang="en-US" sz="2400" dirty="0">
                <a:latin typeface="Arial" panose="020B0604020202020204" pitchFamily="34" charset="0"/>
              </a:rPr>
              <a:t> Histogram, Bar Chart, Stacked Bar Chart, Combined Stacked Bar Chart, Forecast Plot</a:t>
            </a:r>
          </a:p>
        </p:txBody>
      </p:sp>
    </p:spTree>
    <p:extLst>
      <p:ext uri="{BB962C8B-B14F-4D97-AF65-F5344CB8AC3E}">
        <p14:creationId xmlns:p14="http://schemas.microsoft.com/office/powerpoint/2010/main" val="732042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248</TotalTime>
  <Words>819</Words>
  <Application>Microsoft Office PowerPoint</Application>
  <PresentationFormat>Widescreen</PresentationFormat>
  <Paragraphs>115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Arial</vt:lpstr>
      <vt:lpstr>Calibri</vt:lpstr>
      <vt:lpstr>Calibri Light</vt:lpstr>
      <vt:lpstr>CIDFont+F1</vt:lpstr>
      <vt:lpstr>Office Theme</vt:lpstr>
      <vt:lpstr>Traffic Volume Forecasting</vt:lpstr>
      <vt:lpstr>Google Colab URL</vt:lpstr>
      <vt:lpstr>Project Overview</vt:lpstr>
      <vt:lpstr>Business Objective</vt:lpstr>
      <vt:lpstr>Dataset Description</vt:lpstr>
      <vt:lpstr>Data Visualization</vt:lpstr>
      <vt:lpstr>Data Characteristics</vt:lpstr>
      <vt:lpstr>Data Characteristics</vt:lpstr>
      <vt:lpstr> Data Visualization </vt:lpstr>
      <vt:lpstr>Exploratory Data Analysis (EDA)</vt:lpstr>
      <vt:lpstr>Data Visualization</vt:lpstr>
      <vt:lpstr>Exploratory Data Analysis (EDA)</vt:lpstr>
      <vt:lpstr>Data Visualization</vt:lpstr>
      <vt:lpstr>Exploratory Data Analysis (EDA)</vt:lpstr>
      <vt:lpstr>Data Visualization </vt:lpstr>
      <vt:lpstr>Exploratory Data Analysis (EDA)</vt:lpstr>
      <vt:lpstr>Forecasting Model</vt:lpstr>
      <vt:lpstr>Data Visualization</vt:lpstr>
      <vt:lpstr>Forecast Plot</vt:lpstr>
      <vt:lpstr>Business Insights</vt:lpstr>
      <vt:lpstr>Recommendations</vt:lpstr>
      <vt:lpstr>Conclusion</vt:lpstr>
      <vt:lpstr>Tools &amp; Technologies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Traffic Volume Forecasting</dc:title>
  <dc:creator>KUMAR</dc:creator>
  <cp:lastModifiedBy>KUMAR</cp:lastModifiedBy>
  <cp:revision>25</cp:revision>
  <dcterms:created xsi:type="dcterms:W3CDTF">2025-11-06T11:47:30Z</dcterms:created>
  <dcterms:modified xsi:type="dcterms:W3CDTF">2025-11-12T03:28:14Z</dcterms:modified>
</cp:coreProperties>
</file>