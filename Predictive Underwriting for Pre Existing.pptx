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52FA-4ADF-41DD-9B60-AD3BE605A50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5A34-3980-4F00-83D3-DA3336C52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2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52FA-4ADF-41DD-9B60-AD3BE605A50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5A34-3980-4F00-83D3-DA3336C52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52FA-4ADF-41DD-9B60-AD3BE605A50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5A34-3980-4F00-83D3-DA3336C52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1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52FA-4ADF-41DD-9B60-AD3BE605A50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5A34-3980-4F00-83D3-DA3336C52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75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52FA-4ADF-41DD-9B60-AD3BE605A50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5A34-3980-4F00-83D3-DA3336C52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99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52FA-4ADF-41DD-9B60-AD3BE605A50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5A34-3980-4F00-83D3-DA3336C52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6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52FA-4ADF-41DD-9B60-AD3BE605A50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5A34-3980-4F00-83D3-DA3336C52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84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52FA-4ADF-41DD-9B60-AD3BE605A50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5A34-3980-4F00-83D3-DA3336C52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30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52FA-4ADF-41DD-9B60-AD3BE605A50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5A34-3980-4F00-83D3-DA3336C52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3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52FA-4ADF-41DD-9B60-AD3BE605A50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5A34-3980-4F00-83D3-DA3336C52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7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52FA-4ADF-41DD-9B60-AD3BE605A50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95A34-3980-4F00-83D3-DA3336C52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53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052FA-4ADF-41DD-9B60-AD3BE605A50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95A34-3980-4F00-83D3-DA3336C52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8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pal21236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bNGTf6S7ON8RpUFQUhOtbioyE8jRt7Aw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Predictive Underwriting for Pre Existing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Github:</a:t>
            </a:r>
            <a:r>
              <a:rPr lang="en-US" dirty="0">
                <a:solidFill>
                  <a:srgbClr val="0D0D0D"/>
                </a:solidFill>
                <a:latin typeface="CIDFont+F1"/>
                <a:hlinkClick r:id="rId3"/>
              </a:rPr>
              <a:t>https://github.com/Gopal21236/</a:t>
            </a:r>
            <a:endParaRPr lang="en-US" dirty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098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https://colab.research.google.com/drive/1bNGTf6S7ON8RpUFQUhOtbioyE8jRt7Aw?usp=sharing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08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Insurance underwriting is increasingly challenged by rising healthcare costs, complex medical histories, and regulatory requirements for </a:t>
            </a:r>
            <a:r>
              <a:rPr lang="en-US" dirty="0" err="1"/>
              <a:t>explainability</a:t>
            </a:r>
            <a:r>
              <a:rPr lang="en-US" dirty="0"/>
              <a:t>. Traditional rule-based underwriting struggles to balance risk accuracy, fairness, and scalability.</a:t>
            </a:r>
          </a:p>
          <a:p>
            <a:r>
              <a:rPr lang="en-US" dirty="0"/>
              <a:t>This project develops a </a:t>
            </a:r>
            <a:r>
              <a:rPr lang="en-US" b="1" dirty="0"/>
              <a:t>predictive underwriting framework for pre-existing conditions</a:t>
            </a:r>
            <a:r>
              <a:rPr lang="en-US" dirty="0"/>
              <a:t> using data analytics and machine learning. The model segments policyholders by medical risk, supports transparent decision-making, and enables insurers to optimize pricing, risk selection, and portfolio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98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Insurers face the following underwriting challenges:</a:t>
            </a:r>
          </a:p>
          <a:p>
            <a:r>
              <a:rPr lang="en-US" dirty="0"/>
              <a:t>Rising claims due to chronic and critical pre-existing conditions</a:t>
            </a:r>
          </a:p>
          <a:p>
            <a:r>
              <a:rPr lang="en-US" dirty="0"/>
              <a:t>Limited ability to accurately price medical risk at scale</a:t>
            </a:r>
          </a:p>
          <a:p>
            <a:r>
              <a:rPr lang="en-US" dirty="0"/>
              <a:t>Regulatory pressure for explainable and auditable decisions</a:t>
            </a:r>
          </a:p>
          <a:p>
            <a:r>
              <a:rPr lang="en-US" dirty="0"/>
              <a:t>Portfolio risk concentration without clear visibility into drivers</a:t>
            </a:r>
          </a:p>
          <a:p>
            <a:r>
              <a:rPr lang="en-US" dirty="0"/>
              <a:t>Without analytics-driven underwriting, insurers risk adverse selection, pricing inefficiencies, and compliance exposure.</a:t>
            </a:r>
          </a:p>
        </p:txBody>
      </p:sp>
    </p:spTree>
    <p:extLst>
      <p:ext uri="{BB962C8B-B14F-4D97-AF65-F5344CB8AC3E}">
        <p14:creationId xmlns:p14="http://schemas.microsoft.com/office/powerpoint/2010/main" val="139292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objectives of this project are to:</a:t>
            </a:r>
          </a:p>
          <a:p>
            <a:r>
              <a:rPr lang="en-US" dirty="0"/>
              <a:t>Predict underwriting risk based on pre-existing medical conditions</a:t>
            </a:r>
          </a:p>
          <a:p>
            <a:r>
              <a:rPr lang="en-US" dirty="0"/>
              <a:t>Segment policyholders into low, moderate, and high-risk categories</a:t>
            </a:r>
          </a:p>
          <a:p>
            <a:r>
              <a:rPr lang="en-US" dirty="0"/>
              <a:t>Support transparent and explainable underwriting decisions</a:t>
            </a:r>
          </a:p>
          <a:p>
            <a:r>
              <a:rPr lang="en-US" dirty="0"/>
              <a:t>Enable portfolio-level risk analytics and monitoring</a:t>
            </a:r>
          </a:p>
          <a:p>
            <a:r>
              <a:rPr lang="en-US" dirty="0"/>
              <a:t>Provide data-driven inputs for pricing and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342123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Description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underwriting dataset includes the following key features:</a:t>
            </a:r>
          </a:p>
          <a:p>
            <a:r>
              <a:rPr lang="en-US" dirty="0"/>
              <a:t>Age</a:t>
            </a:r>
          </a:p>
          <a:p>
            <a:r>
              <a:rPr lang="en-US" dirty="0"/>
              <a:t>Body Mass Index (BMI)</a:t>
            </a:r>
          </a:p>
          <a:p>
            <a:r>
              <a:rPr lang="en-US" dirty="0"/>
              <a:t>Smoking indicator</a:t>
            </a:r>
          </a:p>
          <a:p>
            <a:r>
              <a:rPr lang="en-US" dirty="0"/>
              <a:t>Hypertension indicator</a:t>
            </a:r>
          </a:p>
          <a:p>
            <a:r>
              <a:rPr lang="en-US" dirty="0"/>
              <a:t>Diabetes indicator</a:t>
            </a:r>
          </a:p>
          <a:p>
            <a:r>
              <a:rPr lang="en-US" dirty="0"/>
              <a:t>Prior claims count</a:t>
            </a:r>
          </a:p>
          <a:p>
            <a:r>
              <a:rPr lang="en-US" dirty="0"/>
              <a:t>These variables capture </a:t>
            </a:r>
            <a:r>
              <a:rPr lang="en-US" b="1" dirty="0"/>
              <a:t>medical severity, lifestyle risk, and historical utilization</a:t>
            </a:r>
            <a:r>
              <a:rPr lang="en-US" dirty="0"/>
              <a:t>, which are central to underwriting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86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logistic regression model</a:t>
            </a:r>
            <a:r>
              <a:rPr lang="en-US" dirty="0"/>
              <a:t> was used to classify policyholders into high-risk and low-risk categories.</a:t>
            </a:r>
          </a:p>
          <a:p>
            <a:r>
              <a:rPr lang="en-US" b="1" dirty="0"/>
              <a:t>Why Logistic Regression?</a:t>
            </a:r>
          </a:p>
          <a:p>
            <a:r>
              <a:rPr lang="en-US" dirty="0"/>
              <a:t>Interpretable and regulator-friendly</a:t>
            </a:r>
          </a:p>
          <a:p>
            <a:r>
              <a:rPr lang="en-US" dirty="0"/>
              <a:t>Supports probability-based decision thresholds</a:t>
            </a:r>
          </a:p>
          <a:p>
            <a:r>
              <a:rPr lang="en-US" dirty="0"/>
              <a:t>Easy to explain to business and compliance teams</a:t>
            </a:r>
          </a:p>
          <a:p>
            <a:r>
              <a:rPr lang="en-US" dirty="0"/>
              <a:t>The model outputs:</a:t>
            </a:r>
          </a:p>
          <a:p>
            <a:r>
              <a:rPr lang="en-US" dirty="0"/>
              <a:t>Risk classification (High / Low)</a:t>
            </a:r>
          </a:p>
          <a:p>
            <a:r>
              <a:rPr lang="en-US" dirty="0"/>
              <a:t>Probability of high underwriting risk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6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531" y="1921030"/>
            <a:ext cx="5138938" cy="4160528"/>
          </a:xfrm>
        </p:spPr>
      </p:pic>
    </p:spTree>
    <p:extLst>
      <p:ext uri="{BB962C8B-B14F-4D97-AF65-F5344CB8AC3E}">
        <p14:creationId xmlns:p14="http://schemas.microsoft.com/office/powerpoint/2010/main" val="2403087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and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Visualization techniques were applied to translate model outputs into actionable insights</a:t>
            </a:r>
            <a:r>
              <a:rPr lang="en-US" dirty="0" smtClean="0"/>
              <a:t>.</a:t>
            </a:r>
          </a:p>
          <a:p>
            <a:r>
              <a:rPr lang="en-US" b="1" dirty="0"/>
              <a:t>6.1 Histogram Analysis</a:t>
            </a:r>
          </a:p>
          <a:p>
            <a:r>
              <a:rPr lang="en-US" dirty="0"/>
              <a:t>The histogram shows the distribution of underwriting risk scores across policyholders. Most customers fall into mid-risk ranges, while fewer customers occupy extreme high-risk buckets.</a:t>
            </a:r>
          </a:p>
          <a:p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portfolio is not overly skewed toward high-risk customers, indicating balanced risk exposure.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992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531" y="1921030"/>
            <a:ext cx="5138938" cy="4160528"/>
          </a:xfrm>
        </p:spPr>
      </p:pic>
    </p:spTree>
    <p:extLst>
      <p:ext uri="{BB962C8B-B14F-4D97-AF65-F5344CB8AC3E}">
        <p14:creationId xmlns:p14="http://schemas.microsoft.com/office/powerpoint/2010/main" val="249246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Visualization </a:t>
            </a:r>
            <a:r>
              <a:rPr lang="en-US" b="1" dirty="0"/>
              <a:t>and Analytics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6.3 Stacked Bar Chart Analysis</a:t>
            </a:r>
          </a:p>
          <a:p>
            <a:r>
              <a:rPr lang="en-US" dirty="0"/>
              <a:t>The stacked bar chart decomposes each risk category by type of pre-existing condition (lifestyle, chronic, critical).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Low risk is driven mainly by lifestyle conditions</a:t>
            </a:r>
          </a:p>
          <a:p>
            <a:r>
              <a:rPr lang="en-US" dirty="0"/>
              <a:t>Moderate risk is dominated by chronic conditions</a:t>
            </a:r>
          </a:p>
          <a:p>
            <a:r>
              <a:rPr lang="en-US" dirty="0"/>
              <a:t>High risk has a higher share of critical conditions</a:t>
            </a:r>
          </a:p>
          <a:p>
            <a:r>
              <a:rPr lang="en-US" dirty="0"/>
              <a:t>This improves </a:t>
            </a:r>
            <a:r>
              <a:rPr lang="en-US" dirty="0" err="1" smtClean="0"/>
              <a:t>explaina</a:t>
            </a:r>
            <a:endParaRPr lang="en-US" dirty="0" smtClean="0"/>
          </a:p>
          <a:p>
            <a:r>
              <a:rPr lang="en-US" dirty="0" err="1" smtClean="0"/>
              <a:t>bility</a:t>
            </a:r>
            <a:r>
              <a:rPr lang="en-US" dirty="0" smtClean="0"/>
              <a:t> </a:t>
            </a:r>
            <a:r>
              <a:rPr lang="en-US" dirty="0"/>
              <a:t>by showing </a:t>
            </a:r>
            <a:r>
              <a:rPr lang="en-US" b="1" dirty="0"/>
              <a:t>why</a:t>
            </a:r>
            <a:r>
              <a:rPr lang="en-US" dirty="0"/>
              <a:t> customers fall into specific risk buckets.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33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802" y="1921030"/>
            <a:ext cx="5358395" cy="4160528"/>
          </a:xfrm>
        </p:spPr>
      </p:pic>
    </p:spTree>
    <p:extLst>
      <p:ext uri="{BB962C8B-B14F-4D97-AF65-F5344CB8AC3E}">
        <p14:creationId xmlns:p14="http://schemas.microsoft.com/office/powerpoint/2010/main" val="3439261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and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6.3 Stacked Bar Chart Analysis</a:t>
            </a:r>
          </a:p>
          <a:p>
            <a:r>
              <a:rPr lang="en-US" dirty="0"/>
              <a:t>The stacked bar chart decomposes each risk category by type of pre-existing condition (lifestyle, chronic, critical).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Low risk is driven mainly by lifestyle conditions</a:t>
            </a:r>
          </a:p>
          <a:p>
            <a:r>
              <a:rPr lang="en-US" dirty="0"/>
              <a:t>Moderate risk is dominated by chronic conditions</a:t>
            </a:r>
          </a:p>
          <a:p>
            <a:r>
              <a:rPr lang="en-US" dirty="0"/>
              <a:t>High risk has a higher share of critical conditions</a:t>
            </a:r>
          </a:p>
          <a:p>
            <a:r>
              <a:rPr lang="en-US" dirty="0"/>
              <a:t>This improves </a:t>
            </a:r>
            <a:r>
              <a:rPr lang="en-US" dirty="0" err="1"/>
              <a:t>explainability</a:t>
            </a:r>
            <a:r>
              <a:rPr lang="en-US" dirty="0"/>
              <a:t> by showing </a:t>
            </a:r>
            <a:r>
              <a:rPr lang="en-US" b="1" dirty="0"/>
              <a:t>why</a:t>
            </a:r>
            <a:r>
              <a:rPr lang="en-US" dirty="0"/>
              <a:t> customers fall into specific risk buckets.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682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202" y="1921030"/>
            <a:ext cx="5815596" cy="4160528"/>
          </a:xfrm>
        </p:spPr>
      </p:pic>
    </p:spTree>
    <p:extLst>
      <p:ext uri="{BB962C8B-B14F-4D97-AF65-F5344CB8AC3E}">
        <p14:creationId xmlns:p14="http://schemas.microsoft.com/office/powerpoint/2010/main" val="296102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Visualization and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6.4 Combined Stacked Bar Chart Analysis</a:t>
            </a:r>
          </a:p>
          <a:p>
            <a:r>
              <a:rPr lang="en-US" dirty="0"/>
              <a:t>The combined stacked bar chart integrates total policyholder volume with condition composition and annotated totals.</a:t>
            </a:r>
          </a:p>
          <a:p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Risk escalation is visible not only in volume but also in severity. High-risk categories show disproportionate contributions from critical conditions, justifying premium loading and underwriting constraints.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02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3499" y="1690688"/>
            <a:ext cx="952500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Pre-existing conditions significantly influence underwriting risk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Chronic and critical conditions drive high-risk classifications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Explainable models improve regulatory acceptance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Visualization enhances underwriting transparency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Portfolio-level analytics support risk appetite management</a:t>
            </a:r>
          </a:p>
        </p:txBody>
      </p:sp>
    </p:spTree>
    <p:extLst>
      <p:ext uri="{BB962C8B-B14F-4D97-AF65-F5344CB8AC3E}">
        <p14:creationId xmlns:p14="http://schemas.microsoft.com/office/powerpoint/2010/main" val="2000423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predictive underwriting framework enables insurers to:</a:t>
            </a:r>
          </a:p>
          <a:p>
            <a:r>
              <a:rPr lang="en-US" dirty="0"/>
              <a:t>Improve pricing accuracy and premium differentiation</a:t>
            </a:r>
          </a:p>
          <a:p>
            <a:r>
              <a:rPr lang="en-US" dirty="0"/>
              <a:t>Reduce adverse selection and claim volatility</a:t>
            </a:r>
          </a:p>
          <a:p>
            <a:r>
              <a:rPr lang="en-US" dirty="0"/>
              <a:t>Enhance transparency for regulators and auditors</a:t>
            </a:r>
          </a:p>
          <a:p>
            <a:r>
              <a:rPr lang="en-US" dirty="0"/>
              <a:t>Monitor portfolio risk in real time</a:t>
            </a:r>
          </a:p>
          <a:p>
            <a:r>
              <a:rPr lang="en-US" dirty="0"/>
              <a:t>Scale underwriting decisions consistently</a:t>
            </a:r>
          </a:p>
          <a:p>
            <a:r>
              <a:rPr lang="en-US" dirty="0"/>
              <a:t>Overall, the solution aligns underwriting decisions with both </a:t>
            </a:r>
            <a:r>
              <a:rPr lang="en-US" b="1" dirty="0"/>
              <a:t>profitability and compliance objectives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93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simulated data rather than production claims data</a:t>
            </a:r>
          </a:p>
          <a:p>
            <a:r>
              <a:rPr lang="en-US" dirty="0"/>
              <a:t>Does not include advanced models (e.g., gradient boosting)</a:t>
            </a:r>
          </a:p>
          <a:p>
            <a:r>
              <a:rPr lang="en-US" dirty="0"/>
              <a:t>No real-time integration with policy administration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32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Potential enhancements include:</a:t>
            </a:r>
          </a:p>
          <a:p>
            <a:r>
              <a:rPr lang="en-US" dirty="0"/>
              <a:t>Advanced ML models with </a:t>
            </a:r>
            <a:r>
              <a:rPr lang="en-US" dirty="0" err="1"/>
              <a:t>explainability</a:t>
            </a:r>
            <a:r>
              <a:rPr lang="en-US" dirty="0"/>
              <a:t> techniques (SHAP)</a:t>
            </a:r>
          </a:p>
          <a:p>
            <a:r>
              <a:rPr lang="en-US" dirty="0"/>
              <a:t>Integration with claims and policy systems</a:t>
            </a:r>
          </a:p>
          <a:p>
            <a:r>
              <a:rPr lang="en-US" dirty="0"/>
              <a:t>Dynamic premium optimization</a:t>
            </a:r>
          </a:p>
          <a:p>
            <a:r>
              <a:rPr lang="en-US" dirty="0"/>
              <a:t>Real-time underwriting decision engines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400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how predictive analytics can modernize underwriting for pre-existing conditions. By combining interpretable models with visualization-driven analytics, insurers can make transparent, scalable, and defensible underwriting decisions. The approach aligns strongly with modern actuarial practices and consulting-grade decision science.</a:t>
            </a:r>
          </a:p>
        </p:txBody>
      </p:sp>
    </p:spTree>
    <p:extLst>
      <p:ext uri="{BB962C8B-B14F-4D97-AF65-F5344CB8AC3E}">
        <p14:creationId xmlns:p14="http://schemas.microsoft.com/office/powerpoint/2010/main" val="496279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725</Words>
  <Application>Microsoft Office PowerPoint</Application>
  <PresentationFormat>Widescreen</PresentationFormat>
  <Paragraphs>100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CIDFont+F1</vt:lpstr>
      <vt:lpstr>Office Theme</vt:lpstr>
      <vt:lpstr>Predictive Underwriting for Pre Existing</vt:lpstr>
      <vt:lpstr>Google Colab URL</vt:lpstr>
      <vt:lpstr>Executive Summary</vt:lpstr>
      <vt:lpstr>Business Problem Definition</vt:lpstr>
      <vt:lpstr>Project Objectives</vt:lpstr>
      <vt:lpstr>Data Description and Features</vt:lpstr>
      <vt:lpstr>Modeling Approach</vt:lpstr>
      <vt:lpstr>Data Visualization </vt:lpstr>
      <vt:lpstr>Visualization and Analytics</vt:lpstr>
      <vt:lpstr>Data Visualization </vt:lpstr>
      <vt:lpstr> Visualization and Analytics </vt:lpstr>
      <vt:lpstr>Data Visualization</vt:lpstr>
      <vt:lpstr>Visualization and Analytics</vt:lpstr>
      <vt:lpstr>Data Visualization </vt:lpstr>
      <vt:lpstr>Visualization and Analytics</vt:lpstr>
      <vt:lpstr>Key Insights</vt:lpstr>
      <vt:lpstr>Business Impact</vt:lpstr>
      <vt:lpstr>Limitations</vt:lpstr>
      <vt:lpstr>Future Enhancements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 D Predictive Underwriting for Pre Existing</dc:title>
  <dc:creator>KUMAR</dc:creator>
  <cp:lastModifiedBy>KUMAR</cp:lastModifiedBy>
  <cp:revision>24</cp:revision>
  <dcterms:created xsi:type="dcterms:W3CDTF">2026-02-04T07:10:36Z</dcterms:created>
  <dcterms:modified xsi:type="dcterms:W3CDTF">2026-02-05T01:55:03Z</dcterms:modified>
</cp:coreProperties>
</file>