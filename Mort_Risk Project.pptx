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embeddedFontLst>
    <p:embeddedFont>
      <p:font typeface="Teko" panose="020B0604020202020204" charset="0"/>
      <p:regular r:id="rId28"/>
      <p:bold r:id="rId29"/>
    </p:embeddedFont>
    <p:embeddedFont>
      <p:font typeface="Calibri" panose="020F0502020204030204" pitchFamily="34" charset="0"/>
      <p:regular r:id="rId30"/>
      <p:bold r:id="rId31"/>
      <p:italic r:id="rId32"/>
      <p:boldItalic r:id="rId33"/>
    </p:embeddedFont>
    <p:embeddedFont>
      <p:font typeface="Calibri Light" panose="020F0302020204030204" pitchFamily="34" charset="0"/>
      <p:regular r:id="rId34"/>
      <p:italic r:id="rId35"/>
    </p:embeddedFont>
    <p:embeddedFont>
      <p:font typeface="Georgia" panose="02040502050405020303" pitchFamily="18"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gy0EP5gmU0MoHz/2o7k8tpYGgE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70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8" name="Google Shape;27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39799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4D42DBC-A3B2-400E-9EC5-684D27C51D7F}" type="datetimeFigureOut">
              <a:rPr lang="en-US" smtClean="0"/>
              <a:t>4/3/2024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6474486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14560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17557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38569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50269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8960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72352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64653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02050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26423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4"/>
        <p:cNvGrpSpPr/>
        <p:nvPr/>
      </p:nvGrpSpPr>
      <p:grpSpPr>
        <a:xfrm>
          <a:off x="0" y="0"/>
          <a:ext cx="0" cy="0"/>
          <a:chOff x="0" y="0"/>
          <a:chExt cx="0" cy="0"/>
        </a:xfrm>
      </p:grpSpPr>
      <p:sp>
        <p:nvSpPr>
          <p:cNvPr id="16" name="Google Shape;16;p28"/>
          <p:cNvSpPr txBox="1">
            <a:spLocks noGrp="1"/>
          </p:cNvSpPr>
          <p:nvPr>
            <p:ph type="title"/>
          </p:nvPr>
        </p:nvSpPr>
        <p:spPr>
          <a:xfrm>
            <a:off x="228600" y="191605"/>
            <a:ext cx="10515600" cy="507831"/>
          </a:xfrm>
          <a:prstGeom prst="rect">
            <a:avLst/>
          </a:prstGeom>
          <a:noFill/>
          <a:ln>
            <a:noFill/>
          </a:ln>
        </p:spPr>
        <p:txBody>
          <a:bodyPr spcFirstLastPara="1" wrap="square" lIns="91425" tIns="45700" rIns="91425" bIns="45700" anchor="ctr" anchorCtr="0">
            <a:spAutoFit/>
          </a:bodyPr>
          <a:lstStyle>
            <a:lvl1pPr lvl="0" algn="l">
              <a:lnSpc>
                <a:spcPct val="90000"/>
              </a:lnSpc>
              <a:spcBef>
                <a:spcPts val="0"/>
              </a:spcBef>
              <a:spcAft>
                <a:spcPts val="0"/>
              </a:spcAft>
              <a:buClr>
                <a:schemeClr val="dk1"/>
              </a:buClr>
              <a:buSzPts val="3000"/>
              <a:buFont typeface="Georgia"/>
              <a:buNone/>
              <a:defRPr sz="3000">
                <a:solidFill>
                  <a:schemeClr val="dk1"/>
                </a:solidFill>
                <a:latin typeface="Georgia"/>
                <a:ea typeface="Georgia"/>
                <a:cs typeface="Georgia"/>
                <a:sym typeface="Georg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8"/>
          <p:cNvSpPr txBox="1">
            <a:spLocks noGrp="1"/>
          </p:cNvSpPr>
          <p:nvPr>
            <p:ph type="sldNum" idx="12"/>
          </p:nvPr>
        </p:nvSpPr>
        <p:spPr>
          <a:xfrm>
            <a:off x="11639549" y="6350000"/>
            <a:ext cx="390525" cy="2889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85497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D42DBC-A3B2-400E-9EC5-684D27C51D7F}" type="datetimeFigureOut">
              <a:rPr lang="en-US" smtClean="0"/>
              <a:t>4/3/2024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268742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
        <p:nvSpPr>
          <p:cNvPr id="83" name="Google Shape;83;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4" name="Google Shape;84;p1"/>
          <p:cNvSpPr/>
          <p:nvPr/>
        </p:nvSpPr>
        <p:spPr>
          <a:xfrm>
            <a:off x="1114425" y="0"/>
            <a:ext cx="9963150" cy="6858000"/>
          </a:xfrm>
          <a:custGeom>
            <a:avLst/>
            <a:gdLst/>
            <a:ahLst/>
            <a:cxnLst/>
            <a:rect l="l" t="t" r="r" b="b"/>
            <a:pathLst>
              <a:path w="9963150" h="6858000" extrusionOk="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w="9525" cap="flat" cmpd="sng">
            <a:solidFill>
              <a:srgbClr val="EFEFEF"/>
            </a:solidFill>
            <a:prstDash val="solid"/>
            <a:miter lim="800000"/>
            <a:headEnd type="none" w="sm" len="sm"/>
            <a:tailEnd type="none" w="sm" len="sm"/>
          </a:ln>
          <a:effectLst>
            <a:outerShdw blurRad="139700" sx="102000" sy="102000" algn="ctr" rotWithShape="0">
              <a:srgbClr val="D8D8D8">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5" name="Google Shape;85;p1"/>
          <p:cNvSpPr/>
          <p:nvPr/>
        </p:nvSpPr>
        <p:spPr>
          <a:xfrm>
            <a:off x="1121664" y="0"/>
            <a:ext cx="9948672" cy="6858000"/>
          </a:xfrm>
          <a:custGeom>
            <a:avLst/>
            <a:gdLst/>
            <a:ahLst/>
            <a:cxnLst/>
            <a:rect l="l" t="t" r="r" b="b"/>
            <a:pathLst>
              <a:path w="9963150" h="6858000" extrusionOk="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86" name="Google Shape;86;p1"/>
          <p:cNvSpPr/>
          <p:nvPr/>
        </p:nvSpPr>
        <p:spPr>
          <a:xfrm>
            <a:off x="1524003" y="1999615"/>
            <a:ext cx="9144000" cy="2764028"/>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None/>
            </a:pPr>
            <a:r>
              <a:rPr lang="en-US" sz="6100" b="1" i="0" u="none" strike="noStrike" cap="none" dirty="0">
                <a:solidFill>
                  <a:schemeClr val="dk1"/>
                </a:solidFill>
                <a:latin typeface="Teko"/>
                <a:ea typeface="Teko"/>
                <a:cs typeface="Teko"/>
                <a:sym typeface="Teko"/>
              </a:rPr>
              <a:t>MORTALITY RISK FACTOR ANALYSIS</a:t>
            </a:r>
            <a:endParaRPr sz="6100" b="1" i="0" u="none" strike="noStrike" cap="none" dirty="0">
              <a:solidFill>
                <a:schemeClr val="dk1"/>
              </a:solidFill>
              <a:latin typeface="Teko"/>
              <a:ea typeface="Teko"/>
              <a:cs typeface="Teko"/>
              <a:sym typeface="Teko"/>
            </a:endParaRPr>
          </a:p>
        </p:txBody>
      </p:sp>
      <p:sp>
        <p:nvSpPr>
          <p:cNvPr id="87" name="Google Shape;87;p1"/>
          <p:cNvSpPr/>
          <p:nvPr/>
        </p:nvSpPr>
        <p:spPr>
          <a:xfrm>
            <a:off x="3718560" y="5524786"/>
            <a:ext cx="4754880" cy="274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p:nvPr/>
        </p:nvSpPr>
        <p:spPr>
          <a:xfrm>
            <a:off x="2956956" y="2527969"/>
            <a:ext cx="8904756" cy="101566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b="0" i="0" u="none" strike="noStrike" cap="none" dirty="0" err="1" smtClean="0">
                <a:solidFill>
                  <a:schemeClr val="dk1"/>
                </a:solidFill>
                <a:latin typeface="Times New Roman"/>
                <a:ea typeface="Times New Roman"/>
                <a:cs typeface="Times New Roman"/>
                <a:sym typeface="Times New Roman"/>
              </a:rPr>
              <a:t>Name:Gopalakrishnan</a:t>
            </a:r>
            <a:r>
              <a:rPr lang="en-US" sz="2000" dirty="0">
                <a:solidFill>
                  <a:schemeClr val="dk1"/>
                </a:solidFill>
                <a:latin typeface="Times New Roman"/>
                <a:ea typeface="Times New Roman"/>
                <a:cs typeface="Times New Roman"/>
                <a:sym typeface="Times New Roman"/>
              </a:rPr>
              <a:t> </a:t>
            </a:r>
            <a:r>
              <a:rPr lang="en-US" sz="2000" dirty="0" smtClean="0">
                <a:solidFill>
                  <a:schemeClr val="dk1"/>
                </a:solidFill>
                <a:latin typeface="Times New Roman"/>
                <a:ea typeface="Times New Roman"/>
                <a:cs typeface="Times New Roman"/>
                <a:sym typeface="Times New Roman"/>
              </a:rPr>
              <a:t>Kumar IIT- B Alumnus</a:t>
            </a:r>
            <a:endParaRPr sz="2000" b="0" i="0" u="none" strike="noStrike" cap="none" dirty="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000"/>
              <a:buFont typeface="Arial"/>
              <a:buChar char="•"/>
            </a:pPr>
            <a:r>
              <a:rPr lang="en-US" sz="2000" b="0" i="0" u="none" strike="noStrike" cap="none" dirty="0">
                <a:solidFill>
                  <a:schemeClr val="dk1"/>
                </a:solidFill>
                <a:latin typeface="Times New Roman"/>
                <a:ea typeface="Times New Roman"/>
                <a:cs typeface="Times New Roman"/>
                <a:sym typeface="Times New Roman"/>
              </a:rPr>
              <a:t>Occupation: </a:t>
            </a:r>
            <a:r>
              <a:rPr lang="en-US" sz="2000" dirty="0" smtClean="0">
                <a:solidFill>
                  <a:schemeClr val="dk1"/>
                </a:solidFill>
                <a:latin typeface="Times New Roman"/>
                <a:ea typeface="Times New Roman"/>
                <a:cs typeface="Times New Roman"/>
                <a:sym typeface="Times New Roman"/>
              </a:rPr>
              <a:t>Consultant Data Scientist</a:t>
            </a:r>
            <a:endParaRPr sz="2000" b="0" i="0" u="none" strike="noStrike" cap="none" dirty="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Clr>
                <a:schemeClr val="dk1"/>
              </a:buClr>
              <a:buSzPts val="2000"/>
              <a:buFont typeface="Arial"/>
              <a:buChar char="•"/>
            </a:pPr>
            <a:r>
              <a:rPr lang="en-US" sz="2000" b="0" i="0" u="none" strike="noStrike" cap="none" dirty="0">
                <a:solidFill>
                  <a:schemeClr val="dk1"/>
                </a:solidFill>
                <a:latin typeface="Times New Roman"/>
                <a:ea typeface="Times New Roman"/>
                <a:cs typeface="Times New Roman"/>
                <a:sym typeface="Times New Roman"/>
              </a:rPr>
              <a:t>LinkedIn URL: https://</a:t>
            </a:r>
            <a:r>
              <a:rPr lang="en-US" sz="2000" b="0" i="0" u="none" strike="noStrike" cap="none" dirty="0" smtClean="0">
                <a:solidFill>
                  <a:schemeClr val="dk1"/>
                </a:solidFill>
                <a:latin typeface="Times New Roman"/>
                <a:ea typeface="Times New Roman"/>
                <a:cs typeface="Times New Roman"/>
                <a:sym typeface="Times New Roman"/>
              </a:rPr>
              <a:t>www.linkedin.com/in/gopalakrishnan-kumar-a73301110/</a:t>
            </a:r>
            <a:endParaRPr sz="1600" b="0" i="0" u="none" strike="noStrike" cap="none" dirty="0">
              <a:solidFill>
                <a:schemeClr val="dk1"/>
              </a:solidFill>
              <a:latin typeface="Times New Roman"/>
              <a:ea typeface="Times New Roman"/>
              <a:cs typeface="Times New Roman"/>
              <a:sym typeface="Times New Roman"/>
            </a:endParaRPr>
          </a:p>
        </p:txBody>
      </p:sp>
      <p:sp>
        <p:nvSpPr>
          <p:cNvPr id="95" name="Google Shape;95;p2"/>
          <p:cNvSpPr txBox="1"/>
          <p:nvPr/>
        </p:nvSpPr>
        <p:spPr>
          <a:xfrm>
            <a:off x="861134" y="603682"/>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sz="3000">
                <a:latin typeface="Teko"/>
                <a:ea typeface="Teko"/>
                <a:cs typeface="Teko"/>
                <a:sym typeface="Teko"/>
              </a:rPr>
              <a:t>Project Goals</a:t>
            </a:r>
            <a:endParaRPr/>
          </a:p>
        </p:txBody>
      </p:sp>
      <p:sp>
        <p:nvSpPr>
          <p:cNvPr id="104" name="Google Shape;104;p3"/>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105" name="Google Shape;105;p3"/>
          <p:cNvGrpSpPr/>
          <p:nvPr/>
        </p:nvGrpSpPr>
        <p:grpSpPr>
          <a:xfrm>
            <a:off x="344433" y="3022632"/>
            <a:ext cx="10798487" cy="2380552"/>
            <a:chOff x="344433" y="2051082"/>
            <a:chExt cx="10798487" cy="2380552"/>
          </a:xfrm>
        </p:grpSpPr>
        <p:sp>
          <p:nvSpPr>
            <p:cNvPr id="106" name="Google Shape;106;p3"/>
            <p:cNvSpPr txBox="1"/>
            <p:nvPr/>
          </p:nvSpPr>
          <p:spPr>
            <a:xfrm>
              <a:off x="344433" y="2051082"/>
              <a:ext cx="5446766" cy="332399"/>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400" b="1">
                  <a:solidFill>
                    <a:schemeClr val="accent1"/>
                  </a:solidFill>
                  <a:latin typeface="Times New Roman"/>
                  <a:ea typeface="Times New Roman"/>
                  <a:cs typeface="Times New Roman"/>
                  <a:sym typeface="Times New Roman"/>
                </a:rPr>
                <a:t>Objectives</a:t>
              </a:r>
              <a:endParaRPr/>
            </a:p>
          </p:txBody>
        </p:sp>
        <p:sp>
          <p:nvSpPr>
            <p:cNvPr id="107" name="Google Shape;107;p3"/>
            <p:cNvSpPr txBox="1"/>
            <p:nvPr/>
          </p:nvSpPr>
          <p:spPr>
            <a:xfrm>
              <a:off x="6483555" y="2051082"/>
              <a:ext cx="4659365" cy="332399"/>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None/>
              </a:pPr>
              <a:r>
                <a:rPr lang="en-US" sz="2400" b="1">
                  <a:solidFill>
                    <a:schemeClr val="accent1"/>
                  </a:solidFill>
                  <a:latin typeface="Times New Roman"/>
                  <a:ea typeface="Times New Roman"/>
                  <a:cs typeface="Times New Roman"/>
                  <a:sym typeface="Times New Roman"/>
                </a:rPr>
                <a:t>Constraints</a:t>
              </a:r>
              <a:endParaRPr/>
            </a:p>
          </p:txBody>
        </p:sp>
        <p:sp>
          <p:nvSpPr>
            <p:cNvPr id="108" name="Google Shape;108;p3"/>
            <p:cNvSpPr txBox="1"/>
            <p:nvPr/>
          </p:nvSpPr>
          <p:spPr>
            <a:xfrm>
              <a:off x="344433" y="2921973"/>
              <a:ext cx="5446766" cy="1231106"/>
            </a:xfrm>
            <a:prstGeom prst="rect">
              <a:avLst/>
            </a:prstGeom>
            <a:noFill/>
            <a:ln>
              <a:noFill/>
            </a:ln>
          </p:spPr>
          <p:txBody>
            <a:bodyPr spcFirstLastPara="1" wrap="square" lIns="0" tIns="0" rIns="0" bIns="0" anchor="ctr"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 Identify the factors which are influencing mortality risk</a:t>
              </a:r>
              <a:endParaRPr sz="2000">
                <a:solidFill>
                  <a:schemeClr val="dk1"/>
                </a:solidFill>
                <a:latin typeface="Times New Roman"/>
                <a:ea typeface="Times New Roman"/>
                <a:cs typeface="Times New Roman"/>
                <a:sym typeface="Times New Roman"/>
              </a:endParaRPr>
            </a:p>
            <a:p>
              <a:pPr marL="342900" marR="0" lvl="0" indent="-342900" algn="l" rtl="0">
                <a:spcBef>
                  <a:spcPts val="0"/>
                </a:spcBef>
                <a:spcAft>
                  <a:spcPts val="0"/>
                </a:spcAft>
                <a:buNone/>
              </a:pPr>
              <a:endParaRPr sz="2000">
                <a:solidFill>
                  <a:schemeClr val="dk1"/>
                </a:solidFill>
                <a:latin typeface="Calibri"/>
                <a:ea typeface="Calibri"/>
                <a:cs typeface="Calibri"/>
                <a:sym typeface="Calibri"/>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p:txBody>
        </p:sp>
        <p:sp>
          <p:nvSpPr>
            <p:cNvPr id="109" name="Google Shape;109;p3"/>
            <p:cNvSpPr txBox="1"/>
            <p:nvPr/>
          </p:nvSpPr>
          <p:spPr>
            <a:xfrm>
              <a:off x="6483555" y="2538808"/>
              <a:ext cx="4659365" cy="1846659"/>
            </a:xfrm>
            <a:prstGeom prst="rect">
              <a:avLst/>
            </a:prstGeom>
            <a:noFill/>
            <a:ln>
              <a:noFill/>
            </a:ln>
          </p:spPr>
          <p:txBody>
            <a:bodyPr spcFirstLastPara="1" wrap="square" lIns="0" tIns="0" rIns="0" bIns="0" anchor="ctr" anchorCtr="0">
              <a:spAutoFit/>
            </a:bodyPr>
            <a:lstStyle/>
            <a:p>
              <a:pPr marL="285750" marR="0" lvl="0" indent="-28575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Limited dataset is not giving sufficient information</a:t>
              </a:r>
              <a:endParaRPr/>
            </a:p>
            <a:p>
              <a:pPr marL="285750" marR="0" lvl="0" indent="-285750" algn="l" rtl="0">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Mortality Risk also depends on several factors such as intensity of disease, type of medication etc.</a:t>
              </a: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Calibri"/>
                <a:ea typeface="Calibri"/>
                <a:cs typeface="Calibri"/>
                <a:sym typeface="Calibri"/>
              </a:endParaRPr>
            </a:p>
          </p:txBody>
        </p:sp>
        <p:cxnSp>
          <p:nvCxnSpPr>
            <p:cNvPr id="110" name="Google Shape;110;p3"/>
            <p:cNvCxnSpPr/>
            <p:nvPr/>
          </p:nvCxnSpPr>
          <p:spPr>
            <a:xfrm>
              <a:off x="344433" y="2440631"/>
              <a:ext cx="5446766" cy="0"/>
            </a:xfrm>
            <a:prstGeom prst="straightConnector1">
              <a:avLst/>
            </a:prstGeom>
            <a:noFill/>
            <a:ln w="9525" cap="flat" cmpd="sng">
              <a:solidFill>
                <a:schemeClr val="accent1"/>
              </a:solidFill>
              <a:prstDash val="solid"/>
              <a:miter lim="800000"/>
              <a:headEnd type="none" w="sm" len="sm"/>
              <a:tailEnd type="none" w="sm" len="sm"/>
            </a:ln>
          </p:spPr>
        </p:cxnSp>
        <p:cxnSp>
          <p:nvCxnSpPr>
            <p:cNvPr id="111" name="Google Shape;111;p3"/>
            <p:cNvCxnSpPr/>
            <p:nvPr/>
          </p:nvCxnSpPr>
          <p:spPr>
            <a:xfrm>
              <a:off x="6483555" y="2440631"/>
              <a:ext cx="4659365" cy="0"/>
            </a:xfrm>
            <a:prstGeom prst="straightConnector1">
              <a:avLst/>
            </a:prstGeom>
            <a:noFill/>
            <a:ln w="9525" cap="flat" cmpd="sng">
              <a:solidFill>
                <a:schemeClr val="accent1"/>
              </a:solidFill>
              <a:prstDash val="solid"/>
              <a:miter lim="800000"/>
              <a:headEnd type="none" w="sm" len="sm"/>
              <a:tailEnd type="none" w="sm" len="sm"/>
            </a:ln>
          </p:spPr>
        </p:cxnSp>
        <p:cxnSp>
          <p:nvCxnSpPr>
            <p:cNvPr id="112" name="Google Shape;112;p3"/>
            <p:cNvCxnSpPr/>
            <p:nvPr/>
          </p:nvCxnSpPr>
          <p:spPr>
            <a:xfrm>
              <a:off x="6096000" y="2538808"/>
              <a:ext cx="0" cy="1892826"/>
            </a:xfrm>
            <a:prstGeom prst="straightConnector1">
              <a:avLst/>
            </a:prstGeom>
            <a:noFill/>
            <a:ln w="9525" cap="flat" cmpd="sng">
              <a:solidFill>
                <a:srgbClr val="7F7F7F"/>
              </a:solidFill>
              <a:prstDash val="dot"/>
              <a:miter lim="800000"/>
              <a:headEnd type="none" w="sm" len="sm"/>
              <a:tailEnd type="none" w="sm" len="sm"/>
            </a:ln>
          </p:spPr>
        </p:cxnSp>
      </p:grpSp>
      <p:pic>
        <p:nvPicPr>
          <p:cNvPr id="113" name="Google Shape;113;p3"/>
          <p:cNvPicPr preferRelativeResize="0"/>
          <p:nvPr/>
        </p:nvPicPr>
        <p:blipFill rotWithShape="1">
          <a:blip r:embed="rId3">
            <a:alphaModFix/>
          </a:blip>
          <a:srcRect/>
          <a:stretch/>
        </p:blipFill>
        <p:spPr>
          <a:xfrm>
            <a:off x="344433" y="1972751"/>
            <a:ext cx="1388857" cy="819165"/>
          </a:xfrm>
          <a:prstGeom prst="rect">
            <a:avLst/>
          </a:prstGeom>
          <a:noFill/>
          <a:ln>
            <a:noFill/>
          </a:ln>
        </p:spPr>
      </p:pic>
      <p:pic>
        <p:nvPicPr>
          <p:cNvPr id="114" name="Google Shape;114;p3"/>
          <p:cNvPicPr preferRelativeResize="0"/>
          <p:nvPr/>
        </p:nvPicPr>
        <p:blipFill rotWithShape="1">
          <a:blip r:embed="rId4">
            <a:alphaModFix/>
          </a:blip>
          <a:srcRect/>
          <a:stretch/>
        </p:blipFill>
        <p:spPr>
          <a:xfrm>
            <a:off x="6483555" y="2007983"/>
            <a:ext cx="1400125" cy="91708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p:nvPr>
        </p:nvSpPr>
        <p:spPr>
          <a:xfrm>
            <a:off x="292962" y="183728"/>
            <a:ext cx="10460115" cy="507831"/>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a:latin typeface="Teko"/>
                <a:ea typeface="Teko"/>
                <a:cs typeface="Teko"/>
                <a:sym typeface="Teko"/>
              </a:rPr>
              <a:t>CRISP-ML(Q) Methodology</a:t>
            </a:r>
            <a:endParaRPr/>
          </a:p>
        </p:txBody>
      </p:sp>
      <p:sp>
        <p:nvSpPr>
          <p:cNvPr id="120" name="Google Shape;120;p4"/>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21" name="Google Shape;121;p4"/>
          <p:cNvPicPr preferRelativeResize="0"/>
          <p:nvPr/>
        </p:nvPicPr>
        <p:blipFill rotWithShape="1">
          <a:blip r:embed="rId3">
            <a:alphaModFix/>
          </a:blip>
          <a:srcRect/>
          <a:stretch/>
        </p:blipFill>
        <p:spPr>
          <a:xfrm>
            <a:off x="2551213" y="774659"/>
            <a:ext cx="5943612" cy="574541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126" name="Google Shape;126;p5"/>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a:latin typeface="Teko"/>
                <a:ea typeface="Teko"/>
                <a:cs typeface="Teko"/>
                <a:sym typeface="Teko"/>
              </a:rPr>
              <a:t>Technical Stacks</a:t>
            </a:r>
            <a:endParaRPr/>
          </a:p>
        </p:txBody>
      </p:sp>
      <p:sp>
        <p:nvSpPr>
          <p:cNvPr id="127" name="Google Shape;127;p5"/>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28" name="Google Shape;128;p5"/>
          <p:cNvSpPr txBox="1"/>
          <p:nvPr/>
        </p:nvSpPr>
        <p:spPr>
          <a:xfrm>
            <a:off x="3871356" y="1009404"/>
            <a:ext cx="7943404" cy="5416868"/>
          </a:xfrm>
          <a:prstGeom prst="rect">
            <a:avLst/>
          </a:prstGeom>
          <a:noFill/>
          <a:ln>
            <a:noFill/>
          </a:ln>
        </p:spPr>
        <p:txBody>
          <a:bodyPr spcFirstLastPara="1" wrap="square" lIns="91425" tIns="45700" rIns="91425" bIns="45700" anchor="t" anchorCtr="0">
            <a:spAutoFit/>
          </a:bodyPr>
          <a:lstStyle/>
          <a:p>
            <a:pPr marL="285750" marR="0" lvl="0" indent="-196850" algn="l" rtl="0">
              <a:spcBef>
                <a:spcPts val="0"/>
              </a:spcBef>
              <a:spcAft>
                <a:spcPts val="0"/>
              </a:spcAft>
              <a:buClr>
                <a:schemeClr val="dk1"/>
              </a:buClr>
              <a:buSzPts val="1400"/>
              <a:buFont typeface="Arial"/>
              <a:buNone/>
            </a:pPr>
            <a:endParaRPr sz="1400" b="1">
              <a:solidFill>
                <a:schemeClr val="dk1"/>
              </a:solidFill>
              <a:latin typeface="Times New Roman"/>
              <a:ea typeface="Times New Roman"/>
              <a:cs typeface="Times New Roman"/>
              <a:sym typeface="Times New Roman"/>
            </a:endParaRPr>
          </a:p>
          <a:p>
            <a:pPr marL="285750" marR="0" lvl="0" indent="-196850" algn="l" rtl="0">
              <a:spcBef>
                <a:spcPts val="0"/>
              </a:spcBef>
              <a:spcAft>
                <a:spcPts val="0"/>
              </a:spcAft>
              <a:buClr>
                <a:schemeClr val="dk1"/>
              </a:buClr>
              <a:buSzPts val="1400"/>
              <a:buFont typeface="Arial"/>
              <a:buNone/>
            </a:pPr>
            <a:endParaRPr sz="1400" b="1">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400"/>
              <a:buFont typeface="Arial"/>
              <a:buChar char="•"/>
            </a:pPr>
            <a:r>
              <a:rPr lang="en-US" sz="1400" b="1">
                <a:solidFill>
                  <a:schemeClr val="dk1"/>
                </a:solidFill>
                <a:latin typeface="Times New Roman"/>
                <a:ea typeface="Times New Roman"/>
                <a:cs typeface="Times New Roman"/>
                <a:sym typeface="Times New Roman"/>
              </a:rPr>
              <a:t>Microsoft Excel </a:t>
            </a:r>
            <a:r>
              <a:rPr lang="en-US" sz="1400">
                <a:solidFill>
                  <a:schemeClr val="dk1"/>
                </a:solidFill>
                <a:latin typeface="Times New Roman"/>
                <a:ea typeface="Times New Roman"/>
                <a:cs typeface="Times New Roman"/>
                <a:sym typeface="Times New Roman"/>
              </a:rPr>
              <a:t>- MS Excel is a commonly used Microsoft Office application. It is a spreadsheet program which is used to save and analyze numerical data. I extracted the data from the server and stored it in Excel for later use.</a:t>
            </a:r>
            <a:endParaRPr/>
          </a:p>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400"/>
              <a:buFont typeface="Arial"/>
              <a:buChar char="•"/>
            </a:pPr>
            <a:r>
              <a:rPr lang="en-US" sz="1400" b="1">
                <a:solidFill>
                  <a:schemeClr val="dk1"/>
                </a:solidFill>
                <a:latin typeface="Times New Roman"/>
                <a:ea typeface="Times New Roman"/>
                <a:cs typeface="Times New Roman"/>
                <a:sym typeface="Times New Roman"/>
              </a:rPr>
              <a:t>MySQL</a:t>
            </a:r>
            <a:r>
              <a:rPr lang="en-US" sz="1400">
                <a:solidFill>
                  <a:schemeClr val="dk1"/>
                </a:solidFill>
                <a:latin typeface="Times New Roman"/>
                <a:ea typeface="Times New Roman"/>
                <a:cs typeface="Times New Roman"/>
                <a:sym typeface="Times New Roman"/>
              </a:rPr>
              <a:t> - SQL (Structured Query Language) is a standardized programming language that's used to manage relational databases and perform various operations on the data. We used it to warehouse the data.</a:t>
            </a:r>
            <a:endParaRPr/>
          </a:p>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400"/>
              <a:buFont typeface="Arial"/>
              <a:buChar char="•"/>
            </a:pPr>
            <a:r>
              <a:rPr lang="en-US" sz="1400" b="1">
                <a:solidFill>
                  <a:schemeClr val="dk1"/>
                </a:solidFill>
                <a:latin typeface="Times New Roman"/>
                <a:ea typeface="Times New Roman"/>
                <a:cs typeface="Times New Roman"/>
                <a:sym typeface="Times New Roman"/>
              </a:rPr>
              <a:t>Spyder</a:t>
            </a:r>
            <a:r>
              <a:rPr lang="en-US" sz="1400">
                <a:solidFill>
                  <a:schemeClr val="dk1"/>
                </a:solidFill>
                <a:latin typeface="Times New Roman"/>
                <a:ea typeface="Times New Roman"/>
                <a:cs typeface="Times New Roman"/>
                <a:sym typeface="Times New Roman"/>
              </a:rPr>
              <a:t>- Spyder is an open-source cross-platform integrated development environment (IDE) for scientific programming in the Python language. Spyder integrates with a number of prominent packages in the scientific Python stack, including NumPy, SciPy, Matplotlib, pandas, IPython, SymPy and Cython, as well as other open-source software. I Used Spyder to develop python code</a:t>
            </a:r>
            <a:endParaRPr/>
          </a:p>
          <a:p>
            <a:pPr marL="285750" marR="0" lvl="0" indent="-196850" algn="l" rtl="0">
              <a:spcBef>
                <a:spcPts val="0"/>
              </a:spcBef>
              <a:spcAft>
                <a:spcPts val="0"/>
              </a:spcAft>
              <a:buClr>
                <a:schemeClr val="dk1"/>
              </a:buClr>
              <a:buSzPts val="1400"/>
              <a:buFont typeface="Arial"/>
              <a:buNone/>
            </a:pPr>
            <a:endParaRPr sz="1400">
              <a:solidFill>
                <a:schemeClr val="dk1"/>
              </a:solidFill>
              <a:latin typeface="Times New Roman"/>
              <a:ea typeface="Times New Roman"/>
              <a:cs typeface="Times New Roman"/>
              <a:sym typeface="Times New Roman"/>
            </a:endParaRPr>
          </a:p>
          <a:p>
            <a:pPr marL="285750" marR="0" lvl="0" indent="-196850" algn="l" rtl="0">
              <a:spcBef>
                <a:spcPts val="0"/>
              </a:spcBef>
              <a:spcAft>
                <a:spcPts val="0"/>
              </a:spcAft>
              <a:buClr>
                <a:schemeClr val="dk1"/>
              </a:buClr>
              <a:buSzPts val="1400"/>
              <a:buFont typeface="Arial"/>
              <a:buNone/>
            </a:pPr>
            <a:endParaRPr sz="1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40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chemeClr val="dk1"/>
              </a:buClr>
              <a:buSzPts val="1400"/>
              <a:buFont typeface="Arial"/>
              <a:buChar char="•"/>
            </a:pPr>
            <a:r>
              <a:rPr lang="en-US" sz="1400" b="1">
                <a:solidFill>
                  <a:schemeClr val="dk1"/>
                </a:solidFill>
                <a:latin typeface="Times New Roman"/>
                <a:ea typeface="Times New Roman"/>
                <a:cs typeface="Times New Roman"/>
                <a:sym typeface="Times New Roman"/>
              </a:rPr>
              <a:t>Tableau</a:t>
            </a:r>
            <a:r>
              <a:rPr lang="en-US" sz="1400">
                <a:solidFill>
                  <a:schemeClr val="dk1"/>
                </a:solidFill>
                <a:latin typeface="Times New Roman"/>
                <a:ea typeface="Times New Roman"/>
                <a:cs typeface="Times New Roman"/>
                <a:sym typeface="Times New Roman"/>
              </a:rPr>
              <a:t> - Tableau helps people see and understand data. Its visual analytics platform is transforming the way people use data to solve problems. I primarily used Tableau to make more enhanced visualizations on my data subsets.</a:t>
            </a:r>
            <a:endParaRPr/>
          </a:p>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pic>
        <p:nvPicPr>
          <p:cNvPr id="129" name="Google Shape;129;p5" descr="C:\Users\NAYAN\Desktop\icon-tableau.png"/>
          <p:cNvPicPr preferRelativeResize="0"/>
          <p:nvPr/>
        </p:nvPicPr>
        <p:blipFill rotWithShape="1">
          <a:blip r:embed="rId3">
            <a:alphaModFix/>
          </a:blip>
          <a:srcRect t="12252" b="17084"/>
          <a:stretch/>
        </p:blipFill>
        <p:spPr>
          <a:xfrm>
            <a:off x="981567" y="4936395"/>
            <a:ext cx="1696935" cy="1429873"/>
          </a:xfrm>
          <a:prstGeom prst="rect">
            <a:avLst/>
          </a:prstGeom>
          <a:noFill/>
          <a:ln>
            <a:noFill/>
          </a:ln>
        </p:spPr>
      </p:pic>
      <p:pic>
        <p:nvPicPr>
          <p:cNvPr id="130" name="Google Shape;130;p5"/>
          <p:cNvPicPr preferRelativeResize="0"/>
          <p:nvPr/>
        </p:nvPicPr>
        <p:blipFill rotWithShape="1">
          <a:blip r:embed="rId4">
            <a:alphaModFix/>
          </a:blip>
          <a:srcRect l="15483" r="10227"/>
          <a:stretch/>
        </p:blipFill>
        <p:spPr>
          <a:xfrm>
            <a:off x="657163" y="1185059"/>
            <a:ext cx="2588695" cy="1277694"/>
          </a:xfrm>
          <a:prstGeom prst="rect">
            <a:avLst/>
          </a:prstGeom>
          <a:noFill/>
          <a:ln>
            <a:noFill/>
          </a:ln>
        </p:spPr>
      </p:pic>
      <p:pic>
        <p:nvPicPr>
          <p:cNvPr id="131" name="Google Shape;131;p5" descr="Instance - Cloudbizz SQL Express Edition 10GB | Cloudbizz | NET Computer  Group"/>
          <p:cNvPicPr preferRelativeResize="0"/>
          <p:nvPr/>
        </p:nvPicPr>
        <p:blipFill rotWithShape="1">
          <a:blip r:embed="rId5">
            <a:alphaModFix/>
          </a:blip>
          <a:srcRect/>
          <a:stretch/>
        </p:blipFill>
        <p:spPr>
          <a:xfrm>
            <a:off x="1145970" y="2562657"/>
            <a:ext cx="1611079" cy="1322918"/>
          </a:xfrm>
          <a:prstGeom prst="rect">
            <a:avLst/>
          </a:prstGeom>
          <a:noFill/>
          <a:ln>
            <a:noFill/>
          </a:ln>
        </p:spPr>
      </p:pic>
      <p:sp>
        <p:nvSpPr>
          <p:cNvPr id="132" name="Google Shape;132;p5" descr="http://en.wikipedia.org/wiki/Special:FilePath/Spyder_logo.sv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3" name="Google Shape;133;p5" descr="https://s.yimg.com/fz/api/res/1.2/NYzeqU2oJcA8nE7WEPvUFQ--~C/YXBwaWQ9c3JjaGRkO2ZpPWZpdDtoPTEzMDtxPTgwO3c9MTMw/https:/s.yimg.com/zb/imgv1/86506890-b857-35a1-b32b-326163324fa7/t_500x300"/>
          <p:cNvPicPr preferRelativeResize="0"/>
          <p:nvPr/>
        </p:nvPicPr>
        <p:blipFill rotWithShape="1">
          <a:blip r:embed="rId6">
            <a:alphaModFix/>
          </a:blip>
          <a:srcRect/>
          <a:stretch/>
        </p:blipFill>
        <p:spPr>
          <a:xfrm>
            <a:off x="1145970" y="3791860"/>
            <a:ext cx="1238250" cy="1238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7"/>
        <p:cNvGrpSpPr/>
        <p:nvPr/>
      </p:nvGrpSpPr>
      <p:grpSpPr>
        <a:xfrm>
          <a:off x="0" y="0"/>
          <a:ext cx="0" cy="0"/>
          <a:chOff x="0" y="0"/>
          <a:chExt cx="0" cy="0"/>
        </a:xfrm>
      </p:grpSpPr>
      <p:sp>
        <p:nvSpPr>
          <p:cNvPr id="138" name="Google Shape;138;p6"/>
          <p:cNvSpPr txBox="1"/>
          <p:nvPr/>
        </p:nvSpPr>
        <p:spPr>
          <a:xfrm>
            <a:off x="161926" y="1242255"/>
            <a:ext cx="7561320" cy="5589222"/>
          </a:xfrm>
          <a:prstGeom prst="rect">
            <a:avLst/>
          </a:prstGeom>
          <a:noFill/>
          <a:ln>
            <a:noFill/>
          </a:ln>
        </p:spPr>
        <p:txBody>
          <a:bodyPr spcFirstLastPara="1" wrap="square" lIns="0" tIns="0" rIns="0" bIns="0" anchor="ctr" anchorCtr="0">
            <a:spAutoFit/>
          </a:bodyPr>
          <a:lstStyle/>
          <a:p>
            <a:pPr marL="285750" marR="0" lvl="0" indent="-228600" algn="l" rtl="0">
              <a:lnSpc>
                <a:spcPct val="9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Data used for training the model is genuine best known to our knowledge collected from clients for further analytics.</a:t>
            </a:r>
            <a:endParaRPr sz="2400">
              <a:solidFill>
                <a:schemeClr val="dk1"/>
              </a:solidFill>
              <a:latin typeface="Times New Roman"/>
              <a:ea typeface="Times New Roman"/>
              <a:cs typeface="Times New Roman"/>
              <a:sym typeface="Times New Roman"/>
            </a:endParaRPr>
          </a:p>
          <a:p>
            <a:pPr marL="57150" marR="0" lvl="0" indent="0" algn="l" rtl="0">
              <a:lnSpc>
                <a:spcPct val="90000"/>
              </a:lnSpc>
              <a:spcBef>
                <a:spcPts val="1200"/>
              </a:spcBef>
              <a:spcAft>
                <a:spcPts val="0"/>
              </a:spcAft>
              <a:buNone/>
            </a:pPr>
            <a:endParaRPr sz="2400">
              <a:solidFill>
                <a:schemeClr val="dk1"/>
              </a:solidFill>
              <a:latin typeface="Times New Roman"/>
              <a:ea typeface="Times New Roman"/>
              <a:cs typeface="Times New Roman"/>
              <a:sym typeface="Times New Roman"/>
            </a:endParaRPr>
          </a:p>
          <a:p>
            <a:pPr marL="285750" marR="0" lvl="0" indent="-228600" algn="l" rtl="0">
              <a:lnSpc>
                <a:spcPct val="90000"/>
              </a:lnSpc>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Data cleansing </a:t>
            </a:r>
            <a:endParaRPr/>
          </a:p>
          <a:p>
            <a:pPr marL="57150" marR="0" lvl="0" indent="0" algn="l" rtl="0">
              <a:lnSpc>
                <a:spcPct val="90000"/>
              </a:lnSpc>
              <a:spcBef>
                <a:spcPts val="1200"/>
              </a:spcBef>
              <a:spcAft>
                <a:spcPts val="0"/>
              </a:spcAft>
              <a:buNone/>
            </a:pPr>
            <a:endParaRPr sz="2400">
              <a:solidFill>
                <a:schemeClr val="dk1"/>
              </a:solidFill>
              <a:latin typeface="Times New Roman"/>
              <a:ea typeface="Times New Roman"/>
              <a:cs typeface="Times New Roman"/>
              <a:sym typeface="Times New Roman"/>
            </a:endParaRPr>
          </a:p>
          <a:p>
            <a:pPr marL="285750" marR="0" lvl="0" indent="-228600" algn="l" rtl="0">
              <a:lnSpc>
                <a:spcPct val="90000"/>
              </a:lnSpc>
              <a:spcBef>
                <a:spcPts val="18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And additional steps for data preparation</a:t>
            </a:r>
            <a:endParaRPr sz="1800">
              <a:solidFill>
                <a:schemeClr val="dk1"/>
              </a:solidFill>
              <a:latin typeface="Times New Roman"/>
              <a:ea typeface="Times New Roman"/>
              <a:cs typeface="Times New Roman"/>
              <a:sym typeface="Times New Roman"/>
            </a:endParaRPr>
          </a:p>
          <a:p>
            <a:pPr marL="1371600" marR="0" lvl="2" indent="-457200" algn="l" rtl="0">
              <a:spcBef>
                <a:spcPts val="60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Dropped the irrelevant column.</a:t>
            </a:r>
            <a:endParaRPr sz="1800" b="0" i="0" u="none" strike="noStrike" cap="none">
              <a:solidFill>
                <a:schemeClr val="dk1"/>
              </a:solidFill>
              <a:latin typeface="Times New Roman"/>
              <a:ea typeface="Times New Roman"/>
              <a:cs typeface="Times New Roman"/>
              <a:sym typeface="Times New Roman"/>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Median imputation for missing data.</a:t>
            </a:r>
            <a:endParaRPr sz="1800" b="0" i="0" u="none" strike="noStrike" cap="none">
              <a:solidFill>
                <a:schemeClr val="dk1"/>
              </a:solidFill>
              <a:latin typeface="Times New Roman"/>
              <a:ea typeface="Times New Roman"/>
              <a:cs typeface="Times New Roman"/>
              <a:sym typeface="Times New Roman"/>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2195 Duplicates detected.</a:t>
            </a:r>
            <a:endParaRPr sz="1800" b="0" i="0" u="none" strike="noStrike" cap="none">
              <a:solidFill>
                <a:schemeClr val="dk1"/>
              </a:solidFill>
              <a:latin typeface="Times New Roman"/>
              <a:ea typeface="Times New Roman"/>
              <a:cs typeface="Times New Roman"/>
              <a:sym typeface="Times New Roman"/>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Dropped a zero variance column.</a:t>
            </a:r>
            <a:endParaRPr sz="1800" b="0" i="0" u="none" strike="noStrike" cap="none">
              <a:solidFill>
                <a:schemeClr val="dk1"/>
              </a:solidFill>
              <a:latin typeface="Times New Roman"/>
              <a:ea typeface="Times New Roman"/>
              <a:cs typeface="Times New Roman"/>
              <a:sym typeface="Times New Roman"/>
            </a:endParaRPr>
          </a:p>
          <a:p>
            <a:pPr marL="1371600" marR="0" lvl="2" indent="-457200" algn="l" rtl="0">
              <a:spcBef>
                <a:spcPts val="0"/>
              </a:spcBef>
              <a:spcAft>
                <a:spcPts val="0"/>
              </a:spcAft>
              <a:buClr>
                <a:schemeClr val="dk1"/>
              </a:buClr>
              <a:buSzPts val="2400"/>
              <a:buFont typeface="Arial"/>
              <a:buChar char="•"/>
            </a:pPr>
            <a:r>
              <a:rPr lang="en-US" sz="2400" b="0" i="0" u="none" strike="noStrike" cap="none">
                <a:solidFill>
                  <a:schemeClr val="dk1"/>
                </a:solidFill>
                <a:latin typeface="Times New Roman"/>
                <a:ea typeface="Times New Roman"/>
                <a:cs typeface="Times New Roman"/>
                <a:sym typeface="Times New Roman"/>
              </a:rPr>
              <a:t>We have an unnamed column.</a:t>
            </a:r>
            <a:endParaRPr sz="1800" b="0" i="0" u="none" strike="noStrike" cap="none">
              <a:solidFill>
                <a:schemeClr val="dk1"/>
              </a:solidFill>
              <a:latin typeface="Times New Roman"/>
              <a:ea typeface="Times New Roman"/>
              <a:cs typeface="Times New Roman"/>
              <a:sym typeface="Times New Roman"/>
            </a:endParaRPr>
          </a:p>
          <a:p>
            <a:pPr marL="285750" marR="0" lvl="0" indent="-76200" algn="l" rtl="0">
              <a:lnSpc>
                <a:spcPct val="90000"/>
              </a:lnSpc>
              <a:spcBef>
                <a:spcPts val="600"/>
              </a:spcBef>
              <a:spcAft>
                <a:spcPts val="0"/>
              </a:spcAft>
              <a:buClr>
                <a:schemeClr val="dk1"/>
              </a:buClr>
              <a:buSzPts val="2400"/>
              <a:buFont typeface="Arial"/>
              <a:buNone/>
            </a:pPr>
            <a:endParaRPr sz="2400">
              <a:solidFill>
                <a:schemeClr val="dk1"/>
              </a:solidFill>
              <a:latin typeface="Times New Roman"/>
              <a:ea typeface="Times New Roman"/>
              <a:cs typeface="Times New Roman"/>
              <a:sym typeface="Times New Roman"/>
            </a:endParaRPr>
          </a:p>
          <a:p>
            <a:pPr marL="57150" marR="0" lvl="0" indent="0" algn="l" rtl="0">
              <a:lnSpc>
                <a:spcPct val="90000"/>
              </a:lnSpc>
              <a:spcBef>
                <a:spcPts val="1200"/>
              </a:spcBef>
              <a:spcAft>
                <a:spcPts val="0"/>
              </a:spcAft>
              <a:buNone/>
            </a:pPr>
            <a:endParaRPr sz="3000">
              <a:solidFill>
                <a:srgbClr val="FF0000"/>
              </a:solidFill>
              <a:latin typeface="Times New Roman"/>
              <a:ea typeface="Times New Roman"/>
              <a:cs typeface="Times New Roman"/>
              <a:sym typeface="Times New Roman"/>
            </a:endParaRPr>
          </a:p>
        </p:txBody>
      </p:sp>
      <p:pic>
        <p:nvPicPr>
          <p:cNvPr id="139" name="Google Shape;139;p6" descr="Database"/>
          <p:cNvPicPr preferRelativeResize="0"/>
          <p:nvPr/>
        </p:nvPicPr>
        <p:blipFill rotWithShape="1">
          <a:blip r:embed="rId3">
            <a:alphaModFix/>
          </a:blip>
          <a:srcRect/>
          <a:stretch/>
        </p:blipFill>
        <p:spPr>
          <a:xfrm>
            <a:off x="8181168" y="1376312"/>
            <a:ext cx="3547689" cy="3547689"/>
          </a:xfrm>
          <a:prstGeom prst="rect">
            <a:avLst/>
          </a:prstGeom>
          <a:noFill/>
          <a:ln>
            <a:noFill/>
          </a:ln>
        </p:spPr>
      </p:pic>
      <p:sp>
        <p:nvSpPr>
          <p:cNvPr id="140" name="Google Shape;140;p6"/>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a:latin typeface="Teko"/>
                <a:ea typeface="Teko"/>
                <a:cs typeface="Teko"/>
                <a:sym typeface="Teko"/>
              </a:rPr>
              <a:t>Data Preparation</a:t>
            </a:r>
            <a:endParaRPr/>
          </a:p>
        </p:txBody>
      </p:sp>
      <p:sp>
        <p:nvSpPr>
          <p:cNvPr id="141" name="Google Shape;141;p6"/>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7"/>
          <p:cNvSpPr txBox="1">
            <a:spLocks noGrp="1"/>
          </p:cNvSpPr>
          <p:nvPr>
            <p:ph type="title"/>
          </p:nvPr>
        </p:nvSpPr>
        <p:spPr>
          <a:xfrm>
            <a:off x="228600" y="191605"/>
            <a:ext cx="10515600" cy="923330"/>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a:t>Exploring (Exploratory Data Analysis)</a:t>
            </a:r>
            <a:br>
              <a:rPr lang="en-US"/>
            </a:br>
            <a:endParaRPr/>
          </a:p>
        </p:txBody>
      </p:sp>
      <p:sp>
        <p:nvSpPr>
          <p:cNvPr id="147" name="Google Shape;147;p7"/>
          <p:cNvSpPr txBox="1"/>
          <p:nvPr/>
        </p:nvSpPr>
        <p:spPr>
          <a:xfrm>
            <a:off x="287383" y="1045029"/>
            <a:ext cx="11534503"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Now during the exploration phase, we try to </a:t>
            </a:r>
            <a:r>
              <a:rPr lang="en-US" sz="2400" b="1">
                <a:solidFill>
                  <a:schemeClr val="dk1"/>
                </a:solidFill>
                <a:latin typeface="Calibri"/>
                <a:ea typeface="Calibri"/>
                <a:cs typeface="Calibri"/>
                <a:sym typeface="Calibri"/>
              </a:rPr>
              <a:t>understand</a:t>
            </a:r>
            <a:r>
              <a:rPr lang="en-US" sz="2400">
                <a:solidFill>
                  <a:schemeClr val="dk1"/>
                </a:solidFill>
                <a:latin typeface="Calibri"/>
                <a:ea typeface="Calibri"/>
                <a:cs typeface="Calibri"/>
                <a:sym typeface="Calibri"/>
              </a:rPr>
              <a:t> what patterns and values our data has. We’ll be using different types of </a:t>
            </a:r>
            <a:r>
              <a:rPr lang="en-US" sz="2400" b="1">
                <a:solidFill>
                  <a:schemeClr val="dk1"/>
                </a:solidFill>
                <a:latin typeface="Calibri"/>
                <a:ea typeface="Calibri"/>
                <a:cs typeface="Calibri"/>
                <a:sym typeface="Calibri"/>
              </a:rPr>
              <a:t>visualizations </a:t>
            </a:r>
            <a:r>
              <a:rPr lang="en-US" sz="2400">
                <a:solidFill>
                  <a:schemeClr val="dk1"/>
                </a:solidFill>
                <a:latin typeface="Calibri"/>
                <a:ea typeface="Calibri"/>
                <a:cs typeface="Calibri"/>
                <a:sym typeface="Calibri"/>
              </a:rPr>
              <a:t>and </a:t>
            </a:r>
            <a:r>
              <a:rPr lang="en-US" sz="2400" b="1">
                <a:solidFill>
                  <a:schemeClr val="dk1"/>
                </a:solidFill>
                <a:latin typeface="Calibri"/>
                <a:ea typeface="Calibri"/>
                <a:cs typeface="Calibri"/>
                <a:sym typeface="Calibri"/>
              </a:rPr>
              <a:t>statistical testings</a:t>
            </a:r>
            <a:r>
              <a:rPr lang="en-US" sz="2400">
                <a:solidFill>
                  <a:schemeClr val="dk1"/>
                </a:solidFill>
                <a:latin typeface="Calibri"/>
                <a:ea typeface="Calibri"/>
                <a:cs typeface="Calibri"/>
                <a:sym typeface="Calibri"/>
              </a:rPr>
              <a:t> to back up our findings. This is where we will be able to derive hidden meanings behind our data through various graphs and analysis.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Correlation can be positive (increase in one value of feature increases the value of </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the target variable) or negative (increase in one value of feature decreases the value of the target variable)</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Heatmap makes it easy to identify which features are most related to the target variable,</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we will plot heatmap of correlated features using the seaborn library.</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While seeing the heatmap we conclude that AGE factor has good correlation with MORT_RISK as compared to other factors.</a:t>
            </a:r>
            <a:endParaRPr sz="2400">
              <a:solidFill>
                <a:schemeClr val="dk1"/>
              </a:solidFill>
              <a:latin typeface="Calibri"/>
              <a:ea typeface="Calibri"/>
              <a:cs typeface="Calibri"/>
              <a:sym typeface="Calibri"/>
            </a:endParaRPr>
          </a:p>
        </p:txBody>
      </p:sp>
      <p:sp>
        <p:nvSpPr>
          <p:cNvPr id="148" name="Google Shape;148;p7"/>
          <p:cNvSpPr/>
          <p:nvPr/>
        </p:nvSpPr>
        <p:spPr>
          <a:xfrm>
            <a:off x="0" y="0"/>
            <a:ext cx="12192000"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49" name="Google Shape;149;p7"/>
          <p:cNvPicPr preferRelativeResize="0"/>
          <p:nvPr/>
        </p:nvPicPr>
        <p:blipFill rotWithShape="1">
          <a:blip r:embed="rId3">
            <a:alphaModFix/>
          </a:blip>
          <a:srcRect/>
          <a:stretch/>
        </p:blipFill>
        <p:spPr>
          <a:xfrm>
            <a:off x="5639979" y="2532787"/>
            <a:ext cx="5652318" cy="2967467"/>
          </a:xfrm>
          <a:prstGeom prst="rect">
            <a:avLst/>
          </a:prstGeom>
          <a:noFill/>
          <a:ln>
            <a:noFill/>
          </a:ln>
        </p:spPr>
      </p:pic>
      <p:sp>
        <p:nvSpPr>
          <p:cNvPr id="150" name="Google Shape;150;p7"/>
          <p:cNvSpPr txBox="1"/>
          <p:nvPr/>
        </p:nvSpPr>
        <p:spPr>
          <a:xfrm>
            <a:off x="774495" y="1645496"/>
            <a:ext cx="7552085" cy="757130"/>
          </a:xfrm>
          <a:prstGeom prst="rect">
            <a:avLst/>
          </a:prstGeom>
          <a:noFill/>
          <a:ln>
            <a:noFill/>
          </a:ln>
        </p:spPr>
        <p:txBody>
          <a:bodyPr spcFirstLastPara="1" wrap="square" lIns="91425" tIns="45700" rIns="91425" bIns="45700" anchor="b" anchorCtr="0">
            <a:spAutoFit/>
          </a:bodyPr>
          <a:lstStyle/>
          <a:p>
            <a:pPr marL="0" marR="0" lvl="0" indent="0" algn="l" rtl="0">
              <a:lnSpc>
                <a:spcPct val="90000"/>
              </a:lnSpc>
              <a:spcBef>
                <a:spcPts val="0"/>
              </a:spcBef>
              <a:spcAft>
                <a:spcPts val="0"/>
              </a:spcAft>
              <a:buNone/>
            </a:pPr>
            <a:r>
              <a:rPr lang="en-US" sz="4800">
                <a:solidFill>
                  <a:schemeClr val="dk1"/>
                </a:solidFill>
                <a:latin typeface="Teko"/>
                <a:ea typeface="Teko"/>
                <a:cs typeface="Teko"/>
                <a:sym typeface="Teko"/>
              </a:rPr>
              <a:t>Exploratory Data Analysis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8"/>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a:latin typeface="Teko"/>
                <a:ea typeface="Teko"/>
                <a:cs typeface="Teko"/>
                <a:sym typeface="Teko"/>
              </a:rPr>
              <a:t>Correlation Matrix of Top 15 Features:</a:t>
            </a:r>
            <a:endParaRPr>
              <a:latin typeface="Teko"/>
              <a:ea typeface="Teko"/>
              <a:cs typeface="Teko"/>
              <a:sym typeface="Teko"/>
            </a:endParaRPr>
          </a:p>
        </p:txBody>
      </p:sp>
      <p:pic>
        <p:nvPicPr>
          <p:cNvPr id="156" name="Google Shape;156;p8" descr="C:\Users\lenovo\Desktop\Figure_2.png"/>
          <p:cNvPicPr preferRelativeResize="0"/>
          <p:nvPr/>
        </p:nvPicPr>
        <p:blipFill rotWithShape="1">
          <a:blip r:embed="rId3">
            <a:alphaModFix/>
          </a:blip>
          <a:srcRect l="25562" r="14257"/>
          <a:stretch/>
        </p:blipFill>
        <p:spPr>
          <a:xfrm>
            <a:off x="130630" y="795647"/>
            <a:ext cx="12061370" cy="56289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9"/>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a:latin typeface="Teko"/>
                <a:ea typeface="Teko"/>
                <a:cs typeface="Teko"/>
                <a:sym typeface="Teko"/>
              </a:rPr>
              <a:t>Bivariate Analysis (Factors Vs. Mortality Risk)</a:t>
            </a:r>
            <a:endParaRPr>
              <a:latin typeface="Teko"/>
              <a:ea typeface="Teko"/>
              <a:cs typeface="Teko"/>
              <a:sym typeface="Teko"/>
            </a:endParaRPr>
          </a:p>
        </p:txBody>
      </p:sp>
      <p:sp>
        <p:nvSpPr>
          <p:cNvPr id="162" name="Google Shape;162;p9"/>
          <p:cNvSpPr txBox="1"/>
          <p:nvPr/>
        </p:nvSpPr>
        <p:spPr>
          <a:xfrm>
            <a:off x="537029" y="859089"/>
            <a:ext cx="1130662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Bivariate analysis is analyzing two variables. categorical scatter plot is used to check for the correlation between two variables.</a:t>
            </a:r>
            <a:endParaRPr/>
          </a:p>
        </p:txBody>
      </p:sp>
      <p:sp>
        <p:nvSpPr>
          <p:cNvPr id="163" name="Google Shape;163;p9"/>
          <p:cNvSpPr txBox="1"/>
          <p:nvPr/>
        </p:nvSpPr>
        <p:spPr>
          <a:xfrm>
            <a:off x="8431483" y="2285324"/>
            <a:ext cx="3562596"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People age has greater than 60 has high value of mortality risk as compared to person people age less than 60</a:t>
            </a:r>
            <a:endParaRPr sz="2000">
              <a:solidFill>
                <a:schemeClr val="dk1"/>
              </a:solidFill>
              <a:latin typeface="Times New Roman"/>
              <a:ea typeface="Times New Roman"/>
              <a:cs typeface="Times New Roman"/>
              <a:sym typeface="Times New Roman"/>
            </a:endParaRPr>
          </a:p>
        </p:txBody>
      </p:sp>
      <p:cxnSp>
        <p:nvCxnSpPr>
          <p:cNvPr id="164" name="Google Shape;164;p9"/>
          <p:cNvCxnSpPr/>
          <p:nvPr/>
        </p:nvCxnSpPr>
        <p:spPr>
          <a:xfrm>
            <a:off x="6662057" y="3562597"/>
            <a:ext cx="1520042" cy="13463"/>
          </a:xfrm>
          <a:prstGeom prst="straightConnector1">
            <a:avLst/>
          </a:prstGeom>
          <a:noFill/>
          <a:ln w="19050" cap="flat" cmpd="sng">
            <a:solidFill>
              <a:schemeClr val="dk1"/>
            </a:solidFill>
            <a:prstDash val="solid"/>
            <a:miter lim="800000"/>
            <a:headEnd type="none" w="sm" len="sm"/>
            <a:tailEnd type="none" w="sm" len="sm"/>
          </a:ln>
        </p:spPr>
      </p:cxnSp>
      <p:pic>
        <p:nvPicPr>
          <p:cNvPr id="165" name="Google Shape;165;p9"/>
          <p:cNvPicPr preferRelativeResize="0"/>
          <p:nvPr/>
        </p:nvPicPr>
        <p:blipFill rotWithShape="1">
          <a:blip r:embed="rId3">
            <a:alphaModFix/>
          </a:blip>
          <a:srcRect/>
          <a:stretch/>
        </p:blipFill>
        <p:spPr>
          <a:xfrm>
            <a:off x="676893" y="1891889"/>
            <a:ext cx="7548316" cy="2076984"/>
          </a:xfrm>
          <a:prstGeom prst="rect">
            <a:avLst/>
          </a:prstGeom>
          <a:noFill/>
          <a:ln>
            <a:noFill/>
          </a:ln>
        </p:spPr>
      </p:pic>
      <p:pic>
        <p:nvPicPr>
          <p:cNvPr id="166" name="Google Shape;166;p9"/>
          <p:cNvPicPr preferRelativeResize="0"/>
          <p:nvPr/>
        </p:nvPicPr>
        <p:blipFill rotWithShape="1">
          <a:blip r:embed="rId4">
            <a:alphaModFix/>
          </a:blip>
          <a:srcRect/>
          <a:stretch/>
        </p:blipFill>
        <p:spPr>
          <a:xfrm>
            <a:off x="676892" y="4096986"/>
            <a:ext cx="7754591" cy="2340057"/>
          </a:xfrm>
          <a:prstGeom prst="rect">
            <a:avLst/>
          </a:prstGeom>
          <a:noFill/>
          <a:ln>
            <a:noFill/>
          </a:ln>
        </p:spPr>
      </p:pic>
      <p:sp>
        <p:nvSpPr>
          <p:cNvPr id="167" name="Google Shape;167;p9"/>
          <p:cNvSpPr txBox="1"/>
          <p:nvPr/>
        </p:nvSpPr>
        <p:spPr>
          <a:xfrm>
            <a:off x="8431483" y="4805349"/>
            <a:ext cx="3562596"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Gender 3 people are effecting more than other genders with respect to age</a:t>
            </a:r>
            <a:endParaRPr sz="1800">
              <a:solidFill>
                <a:schemeClr val="dk1"/>
              </a:solidFill>
              <a:latin typeface="Times New Roman"/>
              <a:ea typeface="Times New Roman"/>
              <a:cs typeface="Times New Roman"/>
              <a:sym typeface="Times New Roman"/>
            </a:endParaRPr>
          </a:p>
        </p:txBody>
      </p:sp>
      <p:sp>
        <p:nvSpPr>
          <p:cNvPr id="168" name="Google Shape;168;p9"/>
          <p:cNvSpPr txBox="1"/>
          <p:nvPr/>
        </p:nvSpPr>
        <p:spPr>
          <a:xfrm>
            <a:off x="8431483" y="1686296"/>
            <a:ext cx="245819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2F5496"/>
                </a:solidFill>
                <a:latin typeface="Times New Roman"/>
                <a:ea typeface="Times New Roman"/>
                <a:cs typeface="Times New Roman"/>
                <a:sym typeface="Times New Roman"/>
              </a:rPr>
              <a:t>Age Vs. Mort_Risk</a:t>
            </a:r>
            <a:r>
              <a:rPr lang="en-US" sz="1800">
                <a:solidFill>
                  <a:schemeClr val="dk1"/>
                </a:solidFill>
                <a:latin typeface="Times New Roman"/>
                <a:ea typeface="Times New Roman"/>
                <a:cs typeface="Times New Roman"/>
                <a:sym typeface="Times New Roman"/>
              </a:rPr>
              <a:t>:</a:t>
            </a:r>
            <a:endParaRPr/>
          </a:p>
        </p:txBody>
      </p:sp>
      <p:sp>
        <p:nvSpPr>
          <p:cNvPr id="169" name="Google Shape;169;p9"/>
          <p:cNvSpPr txBox="1"/>
          <p:nvPr/>
        </p:nvSpPr>
        <p:spPr>
          <a:xfrm>
            <a:off x="8431484" y="4180114"/>
            <a:ext cx="341217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2F5496"/>
                </a:solidFill>
                <a:latin typeface="Times New Roman"/>
                <a:ea typeface="Times New Roman"/>
                <a:cs typeface="Times New Roman"/>
                <a:sym typeface="Times New Roman"/>
              </a:rPr>
              <a:t>Age and Gender Vs. Mort_Risk</a:t>
            </a: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0"/>
          <p:cNvSpPr txBox="1"/>
          <p:nvPr/>
        </p:nvSpPr>
        <p:spPr>
          <a:xfrm>
            <a:off x="275771" y="1001486"/>
            <a:ext cx="1162594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#Cancer VS Mortality Risk</a:t>
            </a:r>
            <a:endParaRPr sz="1800">
              <a:solidFill>
                <a:schemeClr val="dk1"/>
              </a:solidFill>
              <a:latin typeface="Times New Roman"/>
              <a:ea typeface="Times New Roman"/>
              <a:cs typeface="Times New Roman"/>
              <a:sym typeface="Times New Roman"/>
            </a:endParaRPr>
          </a:p>
        </p:txBody>
      </p:sp>
      <p:sp>
        <p:nvSpPr>
          <p:cNvPr id="175" name="Google Shape;175;p10"/>
          <p:cNvSpPr txBox="1"/>
          <p:nvPr/>
        </p:nvSpPr>
        <p:spPr>
          <a:xfrm>
            <a:off x="406400" y="5138057"/>
            <a:ext cx="5268685" cy="64633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Average Mortality Risk of people who is having cancer is 5.562%</a:t>
            </a:r>
            <a:endParaRPr sz="1800">
              <a:solidFill>
                <a:schemeClr val="dk1"/>
              </a:solidFill>
              <a:latin typeface="Times New Roman"/>
              <a:ea typeface="Times New Roman"/>
              <a:cs typeface="Times New Roman"/>
              <a:sym typeface="Times New Roman"/>
            </a:endParaRPr>
          </a:p>
        </p:txBody>
      </p:sp>
      <p:sp>
        <p:nvSpPr>
          <p:cNvPr id="176" name="Google Shape;176;p10"/>
          <p:cNvSpPr txBox="1"/>
          <p:nvPr/>
        </p:nvSpPr>
        <p:spPr>
          <a:xfrm>
            <a:off x="6589486" y="5094515"/>
            <a:ext cx="5239656" cy="92333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Here age group less than 24yrs and greater than 74 yrs are having high mort_risk compared to the age group of 25 to 73.</a:t>
            </a:r>
            <a:endParaRPr sz="1800">
              <a:solidFill>
                <a:schemeClr val="dk1"/>
              </a:solidFill>
              <a:latin typeface="Times New Roman"/>
              <a:ea typeface="Times New Roman"/>
              <a:cs typeface="Times New Roman"/>
              <a:sym typeface="Times New Roman"/>
            </a:endParaRPr>
          </a:p>
        </p:txBody>
      </p:sp>
      <p:sp>
        <p:nvSpPr>
          <p:cNvPr id="177" name="Google Shape;177;p10"/>
          <p:cNvSpPr txBox="1"/>
          <p:nvPr/>
        </p:nvSpPr>
        <p:spPr>
          <a:xfrm>
            <a:off x="10082150" y="142504"/>
            <a:ext cx="18881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 present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0 =  Not  present</a:t>
            </a:r>
            <a:endParaRPr/>
          </a:p>
        </p:txBody>
      </p:sp>
      <p:pic>
        <p:nvPicPr>
          <p:cNvPr id="178" name="Google Shape;178;p10"/>
          <p:cNvPicPr preferRelativeResize="0"/>
          <p:nvPr/>
        </p:nvPicPr>
        <p:blipFill rotWithShape="1">
          <a:blip r:embed="rId3">
            <a:alphaModFix/>
          </a:blip>
          <a:srcRect/>
          <a:stretch/>
        </p:blipFill>
        <p:spPr>
          <a:xfrm>
            <a:off x="1393187" y="1538514"/>
            <a:ext cx="1971675" cy="3365995"/>
          </a:xfrm>
          <a:prstGeom prst="rect">
            <a:avLst/>
          </a:prstGeom>
          <a:noFill/>
          <a:ln>
            <a:noFill/>
          </a:ln>
        </p:spPr>
      </p:pic>
      <p:pic>
        <p:nvPicPr>
          <p:cNvPr id="179" name="Google Shape;179;p10"/>
          <p:cNvPicPr preferRelativeResize="0"/>
          <p:nvPr/>
        </p:nvPicPr>
        <p:blipFill rotWithShape="1">
          <a:blip r:embed="rId4">
            <a:alphaModFix/>
          </a:blip>
          <a:srcRect/>
          <a:stretch/>
        </p:blipFill>
        <p:spPr>
          <a:xfrm>
            <a:off x="6436580" y="1538514"/>
            <a:ext cx="5094206" cy="330560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p:nvPr/>
        </p:nvSpPr>
        <p:spPr>
          <a:xfrm>
            <a:off x="188686" y="885371"/>
            <a:ext cx="1180011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#Dementia VS Mortality Risk</a:t>
            </a:r>
            <a:endParaRPr sz="1800">
              <a:solidFill>
                <a:schemeClr val="dk1"/>
              </a:solidFill>
              <a:latin typeface="Times New Roman"/>
              <a:ea typeface="Times New Roman"/>
              <a:cs typeface="Times New Roman"/>
              <a:sym typeface="Times New Roman"/>
            </a:endParaRPr>
          </a:p>
        </p:txBody>
      </p:sp>
      <p:sp>
        <p:nvSpPr>
          <p:cNvPr id="185" name="Google Shape;185;p11"/>
          <p:cNvSpPr txBox="1"/>
          <p:nvPr/>
        </p:nvSpPr>
        <p:spPr>
          <a:xfrm>
            <a:off x="5830783" y="4892637"/>
            <a:ext cx="5248894" cy="92333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Here age group greater than 63 yrs are having presence of disease and mort_risk and less than 63yrs people are having very less impact.</a:t>
            </a:r>
            <a:endParaRPr sz="1800">
              <a:solidFill>
                <a:schemeClr val="dk1"/>
              </a:solidFill>
              <a:latin typeface="Times New Roman"/>
              <a:ea typeface="Times New Roman"/>
              <a:cs typeface="Times New Roman"/>
              <a:sym typeface="Times New Roman"/>
            </a:endParaRPr>
          </a:p>
        </p:txBody>
      </p:sp>
      <p:sp>
        <p:nvSpPr>
          <p:cNvPr id="186" name="Google Shape;186;p11"/>
          <p:cNvSpPr txBox="1"/>
          <p:nvPr/>
        </p:nvSpPr>
        <p:spPr>
          <a:xfrm>
            <a:off x="10082150" y="142504"/>
            <a:ext cx="18881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 present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0 =  Not  present</a:t>
            </a:r>
            <a:endParaRPr/>
          </a:p>
        </p:txBody>
      </p:sp>
      <p:pic>
        <p:nvPicPr>
          <p:cNvPr id="187" name="Google Shape;187;p11"/>
          <p:cNvPicPr preferRelativeResize="0"/>
          <p:nvPr/>
        </p:nvPicPr>
        <p:blipFill rotWithShape="1">
          <a:blip r:embed="rId3">
            <a:alphaModFix/>
          </a:blip>
          <a:srcRect/>
          <a:stretch/>
        </p:blipFill>
        <p:spPr>
          <a:xfrm>
            <a:off x="1443305" y="1349707"/>
            <a:ext cx="1857375" cy="3507302"/>
          </a:xfrm>
          <a:prstGeom prst="rect">
            <a:avLst/>
          </a:prstGeom>
          <a:noFill/>
          <a:ln>
            <a:noFill/>
          </a:ln>
        </p:spPr>
      </p:pic>
      <p:pic>
        <p:nvPicPr>
          <p:cNvPr id="188" name="Google Shape;188;p11"/>
          <p:cNvPicPr preferRelativeResize="0"/>
          <p:nvPr/>
        </p:nvPicPr>
        <p:blipFill rotWithShape="1">
          <a:blip r:embed="rId4">
            <a:alphaModFix/>
          </a:blip>
          <a:srcRect/>
          <a:stretch/>
        </p:blipFill>
        <p:spPr>
          <a:xfrm>
            <a:off x="5830783" y="1464780"/>
            <a:ext cx="5735783" cy="3277156"/>
          </a:xfrm>
          <a:prstGeom prst="rect">
            <a:avLst/>
          </a:prstGeom>
          <a:noFill/>
          <a:ln>
            <a:noFill/>
          </a:ln>
        </p:spPr>
      </p:pic>
      <p:sp>
        <p:nvSpPr>
          <p:cNvPr id="189" name="Google Shape;189;p11"/>
          <p:cNvSpPr txBox="1"/>
          <p:nvPr/>
        </p:nvSpPr>
        <p:spPr>
          <a:xfrm>
            <a:off x="522514" y="5023262"/>
            <a:ext cx="4488873"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Mortality Risk of people who is suffering with dementia is 16.48%</a:t>
            </a: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2"/>
          <p:cNvSpPr txBox="1"/>
          <p:nvPr/>
        </p:nvSpPr>
        <p:spPr>
          <a:xfrm>
            <a:off x="178130" y="873435"/>
            <a:ext cx="117209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#HF VS Mortality Risk                                                                       </a:t>
            </a:r>
            <a:endParaRPr sz="1800">
              <a:solidFill>
                <a:schemeClr val="dk1"/>
              </a:solidFill>
              <a:latin typeface="Times New Roman"/>
              <a:ea typeface="Times New Roman"/>
              <a:cs typeface="Times New Roman"/>
              <a:sym typeface="Times New Roman"/>
            </a:endParaRPr>
          </a:p>
        </p:txBody>
      </p:sp>
      <p:sp>
        <p:nvSpPr>
          <p:cNvPr id="195" name="Google Shape;195;p12"/>
          <p:cNvSpPr txBox="1"/>
          <p:nvPr/>
        </p:nvSpPr>
        <p:spPr>
          <a:xfrm>
            <a:off x="296883" y="4958408"/>
            <a:ext cx="4987636"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Mortality Risk of people who is having Heart Failure is 11.39%</a:t>
            </a: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196" name="Google Shape;196;p12"/>
          <p:cNvSpPr txBox="1"/>
          <p:nvPr/>
        </p:nvSpPr>
        <p:spPr>
          <a:xfrm>
            <a:off x="6448302" y="5053411"/>
            <a:ext cx="478575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Here age group  of more then 55yr having presence of disease &amp; has high mortality risk.</a:t>
            </a:r>
            <a:endParaRPr sz="1800">
              <a:solidFill>
                <a:schemeClr val="dk1"/>
              </a:solidFill>
              <a:latin typeface="Times New Roman"/>
              <a:ea typeface="Times New Roman"/>
              <a:cs typeface="Times New Roman"/>
              <a:sym typeface="Times New Roman"/>
            </a:endParaRPr>
          </a:p>
        </p:txBody>
      </p:sp>
      <p:sp>
        <p:nvSpPr>
          <p:cNvPr id="197" name="Google Shape;197;p12"/>
          <p:cNvSpPr txBox="1"/>
          <p:nvPr/>
        </p:nvSpPr>
        <p:spPr>
          <a:xfrm>
            <a:off x="10082150" y="142504"/>
            <a:ext cx="18881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 present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0 =  Not  present</a:t>
            </a:r>
            <a:endParaRPr/>
          </a:p>
        </p:txBody>
      </p:sp>
      <p:pic>
        <p:nvPicPr>
          <p:cNvPr id="198" name="Google Shape;198;p12"/>
          <p:cNvPicPr preferRelativeResize="0"/>
          <p:nvPr/>
        </p:nvPicPr>
        <p:blipFill rotWithShape="1">
          <a:blip r:embed="rId3">
            <a:alphaModFix/>
          </a:blip>
          <a:srcRect/>
          <a:stretch/>
        </p:blipFill>
        <p:spPr>
          <a:xfrm>
            <a:off x="1146402" y="1272234"/>
            <a:ext cx="1800225" cy="3480428"/>
          </a:xfrm>
          <a:prstGeom prst="rect">
            <a:avLst/>
          </a:prstGeom>
          <a:noFill/>
          <a:ln>
            <a:noFill/>
          </a:ln>
        </p:spPr>
      </p:pic>
      <p:pic>
        <p:nvPicPr>
          <p:cNvPr id="199" name="Google Shape;199;p12"/>
          <p:cNvPicPr preferRelativeResize="0"/>
          <p:nvPr/>
        </p:nvPicPr>
        <p:blipFill rotWithShape="1">
          <a:blip r:embed="rId4">
            <a:alphaModFix/>
          </a:blip>
          <a:srcRect/>
          <a:stretch/>
        </p:blipFill>
        <p:spPr>
          <a:xfrm>
            <a:off x="5759532" y="1328749"/>
            <a:ext cx="5593031" cy="33673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3"/>
          <p:cNvSpPr txBox="1"/>
          <p:nvPr/>
        </p:nvSpPr>
        <p:spPr>
          <a:xfrm>
            <a:off x="296883" y="831273"/>
            <a:ext cx="11530940" cy="3681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#Palliative VS Mortality Risk</a:t>
            </a:r>
            <a:endParaRPr sz="1800">
              <a:solidFill>
                <a:schemeClr val="dk1"/>
              </a:solidFill>
              <a:latin typeface="Times New Roman"/>
              <a:ea typeface="Times New Roman"/>
              <a:cs typeface="Times New Roman"/>
              <a:sym typeface="Times New Roman"/>
            </a:endParaRPr>
          </a:p>
        </p:txBody>
      </p:sp>
      <p:sp>
        <p:nvSpPr>
          <p:cNvPr id="205" name="Google Shape;205;p13"/>
          <p:cNvSpPr txBox="1"/>
          <p:nvPr/>
        </p:nvSpPr>
        <p:spPr>
          <a:xfrm>
            <a:off x="273132" y="4963885"/>
            <a:ext cx="49163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Mortality Risk for Palliative is 18.13%</a:t>
            </a:r>
            <a:endParaRPr sz="1800">
              <a:solidFill>
                <a:schemeClr val="dk1"/>
              </a:solidFill>
              <a:latin typeface="Times New Roman"/>
              <a:ea typeface="Times New Roman"/>
              <a:cs typeface="Times New Roman"/>
              <a:sym typeface="Times New Roman"/>
            </a:endParaRPr>
          </a:p>
        </p:txBody>
      </p:sp>
      <p:sp>
        <p:nvSpPr>
          <p:cNvPr id="206" name="Google Shape;206;p13"/>
          <p:cNvSpPr txBox="1"/>
          <p:nvPr/>
        </p:nvSpPr>
        <p:spPr>
          <a:xfrm>
            <a:off x="6353299" y="4879286"/>
            <a:ext cx="541514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Palliative is having high impact irrespective of age group</a:t>
            </a:r>
            <a:endParaRPr sz="1800">
              <a:solidFill>
                <a:schemeClr val="dk1"/>
              </a:solidFill>
              <a:latin typeface="Times New Roman"/>
              <a:ea typeface="Times New Roman"/>
              <a:cs typeface="Times New Roman"/>
              <a:sym typeface="Times New Roman"/>
            </a:endParaRPr>
          </a:p>
        </p:txBody>
      </p:sp>
      <p:sp>
        <p:nvSpPr>
          <p:cNvPr id="207" name="Google Shape;207;p13"/>
          <p:cNvSpPr txBox="1"/>
          <p:nvPr/>
        </p:nvSpPr>
        <p:spPr>
          <a:xfrm>
            <a:off x="10082150" y="142504"/>
            <a:ext cx="18881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 present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0 =  Not  present</a:t>
            </a:r>
            <a:endParaRPr/>
          </a:p>
        </p:txBody>
      </p:sp>
      <p:pic>
        <p:nvPicPr>
          <p:cNvPr id="208" name="Google Shape;208;p13"/>
          <p:cNvPicPr preferRelativeResize="0"/>
          <p:nvPr/>
        </p:nvPicPr>
        <p:blipFill rotWithShape="1">
          <a:blip r:embed="rId3">
            <a:alphaModFix/>
          </a:blip>
          <a:srcRect/>
          <a:stretch/>
        </p:blipFill>
        <p:spPr>
          <a:xfrm>
            <a:off x="1607189" y="1376920"/>
            <a:ext cx="1781175" cy="3288611"/>
          </a:xfrm>
          <a:prstGeom prst="rect">
            <a:avLst/>
          </a:prstGeom>
          <a:noFill/>
          <a:ln>
            <a:noFill/>
          </a:ln>
        </p:spPr>
      </p:pic>
      <p:pic>
        <p:nvPicPr>
          <p:cNvPr id="209" name="Google Shape;209;p13"/>
          <p:cNvPicPr preferRelativeResize="0"/>
          <p:nvPr/>
        </p:nvPicPr>
        <p:blipFill rotWithShape="1">
          <a:blip r:embed="rId4">
            <a:alphaModFix/>
          </a:blip>
          <a:srcRect/>
          <a:stretch/>
        </p:blipFill>
        <p:spPr>
          <a:xfrm>
            <a:off x="5189517" y="1376919"/>
            <a:ext cx="6614556" cy="328861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4"/>
          <p:cNvSpPr txBox="1"/>
          <p:nvPr/>
        </p:nvSpPr>
        <p:spPr>
          <a:xfrm>
            <a:off x="320634" y="831273"/>
            <a:ext cx="1155469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#Stroke VS Mortality Risk</a:t>
            </a:r>
            <a:endParaRPr sz="1800">
              <a:solidFill>
                <a:schemeClr val="dk1"/>
              </a:solidFill>
              <a:latin typeface="Times New Roman"/>
              <a:ea typeface="Times New Roman"/>
              <a:cs typeface="Times New Roman"/>
              <a:sym typeface="Times New Roman"/>
            </a:endParaRPr>
          </a:p>
        </p:txBody>
      </p:sp>
      <p:sp>
        <p:nvSpPr>
          <p:cNvPr id="215" name="Google Shape;215;p14"/>
          <p:cNvSpPr txBox="1"/>
          <p:nvPr/>
        </p:nvSpPr>
        <p:spPr>
          <a:xfrm>
            <a:off x="427510" y="5090372"/>
            <a:ext cx="476200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mortality risk for the people who is suffered from a stroke is 6.824%</a:t>
            </a:r>
            <a:endParaRPr sz="1800">
              <a:solidFill>
                <a:schemeClr val="dk1"/>
              </a:solidFill>
              <a:latin typeface="Times New Roman"/>
              <a:ea typeface="Times New Roman"/>
              <a:cs typeface="Times New Roman"/>
              <a:sym typeface="Times New Roman"/>
            </a:endParaRPr>
          </a:p>
        </p:txBody>
      </p:sp>
      <p:sp>
        <p:nvSpPr>
          <p:cNvPr id="216" name="Google Shape;216;p14"/>
          <p:cNvSpPr txBox="1"/>
          <p:nvPr/>
        </p:nvSpPr>
        <p:spPr>
          <a:xfrm>
            <a:off x="5824845" y="4813374"/>
            <a:ext cx="5201393"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Stroke is present in the people majorly from the age of 38 and it is directly proportional to the age, when the age is increasing, mort risk wrt stroke is also increasing</a:t>
            </a:r>
            <a:endParaRPr sz="1800">
              <a:solidFill>
                <a:schemeClr val="dk1"/>
              </a:solidFill>
              <a:latin typeface="Times New Roman"/>
              <a:ea typeface="Times New Roman"/>
              <a:cs typeface="Times New Roman"/>
              <a:sym typeface="Times New Roman"/>
            </a:endParaRPr>
          </a:p>
        </p:txBody>
      </p:sp>
      <p:sp>
        <p:nvSpPr>
          <p:cNvPr id="217" name="Google Shape;217;p14"/>
          <p:cNvSpPr txBox="1"/>
          <p:nvPr/>
        </p:nvSpPr>
        <p:spPr>
          <a:xfrm>
            <a:off x="10082150" y="142504"/>
            <a:ext cx="18881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 present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0 =  Not  present</a:t>
            </a:r>
            <a:endParaRPr/>
          </a:p>
        </p:txBody>
      </p:sp>
      <p:pic>
        <p:nvPicPr>
          <p:cNvPr id="218" name="Google Shape;218;p14"/>
          <p:cNvPicPr preferRelativeResize="0"/>
          <p:nvPr/>
        </p:nvPicPr>
        <p:blipFill rotWithShape="1">
          <a:blip r:embed="rId3">
            <a:alphaModFix/>
          </a:blip>
          <a:srcRect/>
          <a:stretch/>
        </p:blipFill>
        <p:spPr>
          <a:xfrm>
            <a:off x="1495364" y="1160814"/>
            <a:ext cx="1933575" cy="3494314"/>
          </a:xfrm>
          <a:prstGeom prst="rect">
            <a:avLst/>
          </a:prstGeom>
          <a:noFill/>
          <a:ln>
            <a:noFill/>
          </a:ln>
        </p:spPr>
      </p:pic>
      <p:pic>
        <p:nvPicPr>
          <p:cNvPr id="219" name="Google Shape;219;p14"/>
          <p:cNvPicPr preferRelativeResize="0"/>
          <p:nvPr/>
        </p:nvPicPr>
        <p:blipFill rotWithShape="1">
          <a:blip r:embed="rId4">
            <a:alphaModFix/>
          </a:blip>
          <a:srcRect/>
          <a:stretch/>
        </p:blipFill>
        <p:spPr>
          <a:xfrm>
            <a:off x="5611089" y="1156811"/>
            <a:ext cx="5783283" cy="330831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5"/>
          <p:cNvSpPr txBox="1"/>
          <p:nvPr/>
        </p:nvSpPr>
        <p:spPr>
          <a:xfrm>
            <a:off x="273132" y="807522"/>
            <a:ext cx="116615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#Breathlessness VS Mortality Risk                                                                           </a:t>
            </a:r>
            <a:endParaRPr sz="1800">
              <a:solidFill>
                <a:schemeClr val="dk1"/>
              </a:solidFill>
              <a:latin typeface="Times New Roman"/>
              <a:ea typeface="Times New Roman"/>
              <a:cs typeface="Times New Roman"/>
              <a:sym typeface="Times New Roman"/>
            </a:endParaRPr>
          </a:p>
        </p:txBody>
      </p:sp>
      <p:sp>
        <p:nvSpPr>
          <p:cNvPr id="225" name="Google Shape;225;p15"/>
          <p:cNvSpPr txBox="1"/>
          <p:nvPr/>
        </p:nvSpPr>
        <p:spPr>
          <a:xfrm>
            <a:off x="510640" y="4876616"/>
            <a:ext cx="472637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mortality risk for the people who is having breathlessness problem is 5.203%</a:t>
            </a:r>
            <a:endParaRPr sz="1800">
              <a:solidFill>
                <a:schemeClr val="dk1"/>
              </a:solidFill>
              <a:latin typeface="Times New Roman"/>
              <a:ea typeface="Times New Roman"/>
              <a:cs typeface="Times New Roman"/>
              <a:sym typeface="Times New Roman"/>
            </a:endParaRPr>
          </a:p>
        </p:txBody>
      </p:sp>
      <p:sp>
        <p:nvSpPr>
          <p:cNvPr id="226" name="Google Shape;226;p15"/>
          <p:cNvSpPr txBox="1"/>
          <p:nvPr/>
        </p:nvSpPr>
        <p:spPr>
          <a:xfrm>
            <a:off x="6109854" y="4785756"/>
            <a:ext cx="491638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Mort risk for breathlessness is directly proportional to age</a:t>
            </a:r>
            <a:endParaRPr sz="1800">
              <a:solidFill>
                <a:schemeClr val="dk1"/>
              </a:solidFill>
              <a:latin typeface="Times New Roman"/>
              <a:ea typeface="Times New Roman"/>
              <a:cs typeface="Times New Roman"/>
              <a:sym typeface="Times New Roman"/>
            </a:endParaRPr>
          </a:p>
        </p:txBody>
      </p:sp>
      <p:sp>
        <p:nvSpPr>
          <p:cNvPr id="227" name="Google Shape;227;p15"/>
          <p:cNvSpPr txBox="1"/>
          <p:nvPr/>
        </p:nvSpPr>
        <p:spPr>
          <a:xfrm>
            <a:off x="10082150" y="142504"/>
            <a:ext cx="18881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 present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0 =  Not  present</a:t>
            </a:r>
            <a:endParaRPr/>
          </a:p>
        </p:txBody>
      </p:sp>
      <p:pic>
        <p:nvPicPr>
          <p:cNvPr id="228" name="Google Shape;228;p15"/>
          <p:cNvPicPr preferRelativeResize="0"/>
          <p:nvPr/>
        </p:nvPicPr>
        <p:blipFill rotWithShape="1">
          <a:blip r:embed="rId3">
            <a:alphaModFix/>
          </a:blip>
          <a:srcRect/>
          <a:stretch/>
        </p:blipFill>
        <p:spPr>
          <a:xfrm>
            <a:off x="1716541" y="1410134"/>
            <a:ext cx="1704975" cy="3209368"/>
          </a:xfrm>
          <a:prstGeom prst="rect">
            <a:avLst/>
          </a:prstGeom>
          <a:noFill/>
          <a:ln>
            <a:noFill/>
          </a:ln>
        </p:spPr>
      </p:pic>
      <p:pic>
        <p:nvPicPr>
          <p:cNvPr id="229" name="Google Shape;229;p15"/>
          <p:cNvPicPr preferRelativeResize="0"/>
          <p:nvPr/>
        </p:nvPicPr>
        <p:blipFill rotWithShape="1">
          <a:blip r:embed="rId4">
            <a:alphaModFix/>
          </a:blip>
          <a:srcRect/>
          <a:stretch/>
        </p:blipFill>
        <p:spPr>
          <a:xfrm>
            <a:off x="5569527" y="1410134"/>
            <a:ext cx="6335485" cy="337562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6"/>
          <p:cNvSpPr txBox="1"/>
          <p:nvPr/>
        </p:nvSpPr>
        <p:spPr>
          <a:xfrm>
            <a:off x="320634" y="843148"/>
            <a:ext cx="11471563" cy="3681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#Palliative &amp; HF VS Mortality Risk                                               #Dementia &amp; HF VS Mortality Risk</a:t>
            </a:r>
            <a:endParaRPr sz="1800">
              <a:solidFill>
                <a:schemeClr val="dk1"/>
              </a:solidFill>
              <a:latin typeface="Times New Roman"/>
              <a:ea typeface="Times New Roman"/>
              <a:cs typeface="Times New Roman"/>
              <a:sym typeface="Times New Roman"/>
            </a:endParaRPr>
          </a:p>
        </p:txBody>
      </p:sp>
      <p:sp>
        <p:nvSpPr>
          <p:cNvPr id="235" name="Google Shape;235;p16"/>
          <p:cNvSpPr txBox="1"/>
          <p:nvPr/>
        </p:nvSpPr>
        <p:spPr>
          <a:xfrm>
            <a:off x="451262" y="5047013"/>
            <a:ext cx="484513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 risk for the people who is having both palliative and HF is 32.63%</a:t>
            </a:r>
            <a:endParaRPr sz="1800">
              <a:solidFill>
                <a:schemeClr val="dk1"/>
              </a:solidFill>
              <a:latin typeface="Times New Roman"/>
              <a:ea typeface="Times New Roman"/>
              <a:cs typeface="Times New Roman"/>
              <a:sym typeface="Times New Roman"/>
            </a:endParaRPr>
          </a:p>
        </p:txBody>
      </p:sp>
      <p:sp>
        <p:nvSpPr>
          <p:cNvPr id="236" name="Google Shape;236;p16"/>
          <p:cNvSpPr txBox="1"/>
          <p:nvPr/>
        </p:nvSpPr>
        <p:spPr>
          <a:xfrm>
            <a:off x="6578930" y="5058888"/>
            <a:ext cx="50351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 risk for the people who is having both Dementia and HF is 37.99%</a:t>
            </a:r>
            <a:endParaRPr sz="1800">
              <a:solidFill>
                <a:schemeClr val="dk1"/>
              </a:solidFill>
              <a:latin typeface="Times New Roman"/>
              <a:ea typeface="Times New Roman"/>
              <a:cs typeface="Times New Roman"/>
              <a:sym typeface="Times New Roman"/>
            </a:endParaRPr>
          </a:p>
        </p:txBody>
      </p:sp>
      <p:sp>
        <p:nvSpPr>
          <p:cNvPr id="237" name="Google Shape;237;p16"/>
          <p:cNvSpPr txBox="1"/>
          <p:nvPr/>
        </p:nvSpPr>
        <p:spPr>
          <a:xfrm>
            <a:off x="10082150" y="142504"/>
            <a:ext cx="18881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 present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0 =  Not  present</a:t>
            </a:r>
            <a:endParaRPr/>
          </a:p>
        </p:txBody>
      </p:sp>
      <p:pic>
        <p:nvPicPr>
          <p:cNvPr id="238" name="Google Shape;238;p16"/>
          <p:cNvPicPr preferRelativeResize="0"/>
          <p:nvPr/>
        </p:nvPicPr>
        <p:blipFill rotWithShape="1">
          <a:blip r:embed="rId3">
            <a:alphaModFix/>
          </a:blip>
          <a:srcRect/>
          <a:stretch/>
        </p:blipFill>
        <p:spPr>
          <a:xfrm>
            <a:off x="1411740" y="1409699"/>
            <a:ext cx="2924175" cy="3530435"/>
          </a:xfrm>
          <a:prstGeom prst="rect">
            <a:avLst/>
          </a:prstGeom>
          <a:noFill/>
          <a:ln>
            <a:noFill/>
          </a:ln>
        </p:spPr>
      </p:pic>
      <p:pic>
        <p:nvPicPr>
          <p:cNvPr id="239" name="Google Shape;239;p16"/>
          <p:cNvPicPr preferRelativeResize="0"/>
          <p:nvPr/>
        </p:nvPicPr>
        <p:blipFill rotWithShape="1">
          <a:blip r:embed="rId4">
            <a:alphaModFix/>
          </a:blip>
          <a:srcRect/>
          <a:stretch/>
        </p:blipFill>
        <p:spPr>
          <a:xfrm>
            <a:off x="7161315" y="1488313"/>
            <a:ext cx="2667000" cy="3558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7"/>
          <p:cNvSpPr txBox="1"/>
          <p:nvPr/>
        </p:nvSpPr>
        <p:spPr>
          <a:xfrm>
            <a:off x="308758" y="831273"/>
            <a:ext cx="1156656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#Dementia, HF &amp; Breathlessness VS Mortality Risk                   #Dementia, HF &amp; Palliative VS Mortality Risk</a:t>
            </a:r>
            <a:endParaRPr sz="1800">
              <a:solidFill>
                <a:schemeClr val="dk1"/>
              </a:solidFill>
              <a:latin typeface="Times New Roman"/>
              <a:ea typeface="Times New Roman"/>
              <a:cs typeface="Times New Roman"/>
              <a:sym typeface="Times New Roman"/>
            </a:endParaRPr>
          </a:p>
        </p:txBody>
      </p:sp>
      <p:sp>
        <p:nvSpPr>
          <p:cNvPr id="245" name="Google Shape;245;p17"/>
          <p:cNvSpPr txBox="1"/>
          <p:nvPr/>
        </p:nvSpPr>
        <p:spPr>
          <a:xfrm>
            <a:off x="308758" y="5224059"/>
            <a:ext cx="488075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 risk for the people who is having Dementia, Breathlessness and HF is 49.09%</a:t>
            </a:r>
            <a:endParaRPr sz="1800">
              <a:solidFill>
                <a:schemeClr val="dk1"/>
              </a:solidFill>
              <a:latin typeface="Times New Roman"/>
              <a:ea typeface="Times New Roman"/>
              <a:cs typeface="Times New Roman"/>
              <a:sym typeface="Times New Roman"/>
            </a:endParaRPr>
          </a:p>
        </p:txBody>
      </p:sp>
      <p:sp>
        <p:nvSpPr>
          <p:cNvPr id="246" name="Google Shape;246;p17"/>
          <p:cNvSpPr txBox="1"/>
          <p:nvPr/>
        </p:nvSpPr>
        <p:spPr>
          <a:xfrm>
            <a:off x="6531429" y="5222198"/>
            <a:ext cx="514201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 risk for the people who is having Dementia, Palliative and HF is 42.4%</a:t>
            </a:r>
            <a:endParaRPr sz="1800">
              <a:solidFill>
                <a:schemeClr val="dk1"/>
              </a:solidFill>
              <a:latin typeface="Times New Roman"/>
              <a:ea typeface="Times New Roman"/>
              <a:cs typeface="Times New Roman"/>
              <a:sym typeface="Times New Roman"/>
            </a:endParaRPr>
          </a:p>
        </p:txBody>
      </p:sp>
      <p:sp>
        <p:nvSpPr>
          <p:cNvPr id="247" name="Google Shape;247;p17"/>
          <p:cNvSpPr txBox="1"/>
          <p:nvPr/>
        </p:nvSpPr>
        <p:spPr>
          <a:xfrm>
            <a:off x="10082150" y="142504"/>
            <a:ext cx="18881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 present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0 =  Not  present</a:t>
            </a:r>
            <a:endParaRPr/>
          </a:p>
        </p:txBody>
      </p:sp>
      <p:pic>
        <p:nvPicPr>
          <p:cNvPr id="248" name="Google Shape;248;p17"/>
          <p:cNvPicPr preferRelativeResize="0"/>
          <p:nvPr/>
        </p:nvPicPr>
        <p:blipFill rotWithShape="1">
          <a:blip r:embed="rId3">
            <a:alphaModFix/>
          </a:blip>
          <a:srcRect/>
          <a:stretch/>
        </p:blipFill>
        <p:spPr>
          <a:xfrm>
            <a:off x="510762" y="1315067"/>
            <a:ext cx="4781550" cy="3669623"/>
          </a:xfrm>
          <a:prstGeom prst="rect">
            <a:avLst/>
          </a:prstGeom>
          <a:noFill/>
          <a:ln>
            <a:noFill/>
          </a:ln>
        </p:spPr>
      </p:pic>
      <p:pic>
        <p:nvPicPr>
          <p:cNvPr id="249" name="Google Shape;249;p17"/>
          <p:cNvPicPr preferRelativeResize="0"/>
          <p:nvPr/>
        </p:nvPicPr>
        <p:blipFill rotWithShape="1">
          <a:blip r:embed="rId4">
            <a:alphaModFix/>
          </a:blip>
          <a:srcRect/>
          <a:stretch/>
        </p:blipFill>
        <p:spPr>
          <a:xfrm>
            <a:off x="6308148" y="1315067"/>
            <a:ext cx="5092164" cy="3848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8"/>
          <p:cNvSpPr txBox="1"/>
          <p:nvPr/>
        </p:nvSpPr>
        <p:spPr>
          <a:xfrm>
            <a:off x="237506" y="819397"/>
            <a:ext cx="1168532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     #Dementia, HF, Breathlessness &amp; Cancer VS Mortality Risk</a:t>
            </a:r>
            <a:endParaRPr sz="1800">
              <a:solidFill>
                <a:schemeClr val="dk1"/>
              </a:solidFill>
              <a:latin typeface="Times New Roman"/>
              <a:ea typeface="Times New Roman"/>
              <a:cs typeface="Times New Roman"/>
              <a:sym typeface="Times New Roman"/>
            </a:endParaRPr>
          </a:p>
        </p:txBody>
      </p:sp>
      <p:sp>
        <p:nvSpPr>
          <p:cNvPr id="255" name="Google Shape;255;p18"/>
          <p:cNvSpPr txBox="1"/>
          <p:nvPr/>
        </p:nvSpPr>
        <p:spPr>
          <a:xfrm>
            <a:off x="641268" y="5079694"/>
            <a:ext cx="102246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Average mort risk for the people who is having Dementia, Breathlessness, HF &amp; Cancer is 63.59%</a:t>
            </a:r>
            <a:endParaRPr sz="1800">
              <a:solidFill>
                <a:schemeClr val="dk1"/>
              </a:solidFill>
              <a:latin typeface="Times New Roman"/>
              <a:ea typeface="Times New Roman"/>
              <a:cs typeface="Times New Roman"/>
              <a:sym typeface="Times New Roman"/>
            </a:endParaRPr>
          </a:p>
        </p:txBody>
      </p:sp>
      <p:sp>
        <p:nvSpPr>
          <p:cNvPr id="256" name="Google Shape;256;p18"/>
          <p:cNvSpPr txBox="1"/>
          <p:nvPr/>
        </p:nvSpPr>
        <p:spPr>
          <a:xfrm>
            <a:off x="10082150" y="142504"/>
            <a:ext cx="18881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1 = present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0 =  Not  present</a:t>
            </a:r>
            <a:endParaRPr/>
          </a:p>
        </p:txBody>
      </p:sp>
      <p:pic>
        <p:nvPicPr>
          <p:cNvPr id="257" name="Google Shape;257;p18"/>
          <p:cNvPicPr preferRelativeResize="0"/>
          <p:nvPr/>
        </p:nvPicPr>
        <p:blipFill rotWithShape="1">
          <a:blip r:embed="rId3">
            <a:alphaModFix/>
          </a:blip>
          <a:srcRect/>
          <a:stretch/>
        </p:blipFill>
        <p:spPr>
          <a:xfrm>
            <a:off x="1389413" y="1533525"/>
            <a:ext cx="9239003" cy="354616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19"/>
          <p:cNvPicPr preferRelativeResize="0"/>
          <p:nvPr/>
        </p:nvPicPr>
        <p:blipFill rotWithShape="1">
          <a:blip r:embed="rId3">
            <a:alphaModFix/>
          </a:blip>
          <a:srcRect/>
          <a:stretch/>
        </p:blipFill>
        <p:spPr>
          <a:xfrm>
            <a:off x="4821938" y="947676"/>
            <a:ext cx="1628775" cy="1352550"/>
          </a:xfrm>
          <a:prstGeom prst="rect">
            <a:avLst/>
          </a:prstGeom>
          <a:noFill/>
          <a:ln>
            <a:noFill/>
          </a:ln>
        </p:spPr>
      </p:pic>
      <p:pic>
        <p:nvPicPr>
          <p:cNvPr id="263" name="Google Shape;263;p19"/>
          <p:cNvPicPr preferRelativeResize="0"/>
          <p:nvPr/>
        </p:nvPicPr>
        <p:blipFill rotWithShape="1">
          <a:blip r:embed="rId4">
            <a:alphaModFix/>
          </a:blip>
          <a:srcRect/>
          <a:stretch/>
        </p:blipFill>
        <p:spPr>
          <a:xfrm>
            <a:off x="2878900" y="2431349"/>
            <a:ext cx="6010275" cy="1543050"/>
          </a:xfrm>
          <a:prstGeom prst="rect">
            <a:avLst/>
          </a:prstGeom>
          <a:noFill/>
          <a:ln>
            <a:noFill/>
          </a:ln>
        </p:spPr>
      </p:pic>
      <p:pic>
        <p:nvPicPr>
          <p:cNvPr id="264" name="Google Shape;264;p19"/>
          <p:cNvPicPr preferRelativeResize="0"/>
          <p:nvPr/>
        </p:nvPicPr>
        <p:blipFill rotWithShape="1">
          <a:blip r:embed="rId5">
            <a:alphaModFix/>
          </a:blip>
          <a:srcRect/>
          <a:stretch/>
        </p:blipFill>
        <p:spPr>
          <a:xfrm>
            <a:off x="2550288" y="4211721"/>
            <a:ext cx="6667500" cy="809625"/>
          </a:xfrm>
          <a:prstGeom prst="rect">
            <a:avLst/>
          </a:prstGeom>
          <a:noFill/>
          <a:ln>
            <a:noFill/>
          </a:ln>
        </p:spPr>
      </p:pic>
      <p:pic>
        <p:nvPicPr>
          <p:cNvPr id="265" name="Google Shape;265;p19"/>
          <p:cNvPicPr preferRelativeResize="0"/>
          <p:nvPr/>
        </p:nvPicPr>
        <p:blipFill rotWithShape="1">
          <a:blip r:embed="rId6">
            <a:alphaModFix/>
          </a:blip>
          <a:srcRect/>
          <a:stretch/>
        </p:blipFill>
        <p:spPr>
          <a:xfrm>
            <a:off x="2874137" y="5159644"/>
            <a:ext cx="6019800" cy="600075"/>
          </a:xfrm>
          <a:prstGeom prst="rect">
            <a:avLst/>
          </a:prstGeom>
          <a:noFill/>
          <a:ln>
            <a:noFill/>
          </a:ln>
        </p:spPr>
      </p:pic>
      <p:sp>
        <p:nvSpPr>
          <p:cNvPr id="266" name="Google Shape;266;p19"/>
          <p:cNvSpPr txBox="1"/>
          <p:nvPr/>
        </p:nvSpPr>
        <p:spPr>
          <a:xfrm>
            <a:off x="0" y="0"/>
            <a:ext cx="121920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Teko"/>
              <a:ea typeface="Teko"/>
              <a:cs typeface="Teko"/>
              <a:sym typeface="Teko"/>
            </a:endParaRPr>
          </a:p>
          <a:p>
            <a:pPr marL="0" marR="0" lvl="0" indent="0" algn="l" rtl="0">
              <a:spcBef>
                <a:spcPts val="0"/>
              </a:spcBef>
              <a:spcAft>
                <a:spcPts val="0"/>
              </a:spcAft>
              <a:buNone/>
            </a:pPr>
            <a:r>
              <a:rPr lang="en-US" sz="2400">
                <a:solidFill>
                  <a:schemeClr val="dk1"/>
                </a:solidFill>
                <a:latin typeface="Teko"/>
                <a:ea typeface="Teko"/>
                <a:cs typeface="Teko"/>
                <a:sym typeface="Teko"/>
              </a:rPr>
              <a:t>Features Vs. Mortality Risk Tabular Values: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0"/>
        <p:cNvGrpSpPr/>
        <p:nvPr/>
      </p:nvGrpSpPr>
      <p:grpSpPr>
        <a:xfrm>
          <a:off x="0" y="0"/>
          <a:ext cx="0" cy="0"/>
          <a:chOff x="0" y="0"/>
          <a:chExt cx="0" cy="0"/>
        </a:xfrm>
      </p:grpSpPr>
      <p:sp>
        <p:nvSpPr>
          <p:cNvPr id="271" name="Google Shape;271;p20"/>
          <p:cNvSpPr/>
          <p:nvPr/>
        </p:nvSpPr>
        <p:spPr>
          <a:xfrm>
            <a:off x="0" y="0"/>
            <a:ext cx="12192000" cy="6858000"/>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p20"/>
          <p:cNvSpPr txBox="1"/>
          <p:nvPr/>
        </p:nvSpPr>
        <p:spPr>
          <a:xfrm>
            <a:off x="1010024" y="3050435"/>
            <a:ext cx="4581307" cy="757130"/>
          </a:xfrm>
          <a:prstGeom prst="rect">
            <a:avLst/>
          </a:prstGeom>
          <a:noFill/>
          <a:ln>
            <a:noFill/>
          </a:ln>
        </p:spPr>
        <p:txBody>
          <a:bodyPr spcFirstLastPara="1" wrap="square" lIns="91425" tIns="45700" rIns="91425" bIns="45700" anchor="b" anchorCtr="0">
            <a:spAutoFit/>
          </a:bodyPr>
          <a:lstStyle/>
          <a:p>
            <a:pPr marL="0" marR="0" lvl="0" indent="0" algn="l" rtl="0">
              <a:lnSpc>
                <a:spcPct val="90000"/>
              </a:lnSpc>
              <a:spcBef>
                <a:spcPts val="0"/>
              </a:spcBef>
              <a:spcAft>
                <a:spcPts val="0"/>
              </a:spcAft>
              <a:buNone/>
            </a:pPr>
            <a:r>
              <a:rPr lang="en-US" sz="4800">
                <a:solidFill>
                  <a:schemeClr val="dk1"/>
                </a:solidFill>
                <a:latin typeface="Teko"/>
                <a:ea typeface="Teko"/>
                <a:cs typeface="Teko"/>
                <a:sym typeface="Teko"/>
              </a:rPr>
              <a:t>Model Building</a:t>
            </a:r>
            <a:endParaRPr/>
          </a:p>
        </p:txBody>
      </p:sp>
      <p:sp>
        <p:nvSpPr>
          <p:cNvPr id="273" name="Google Shape;273;p20"/>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Georgia"/>
              <a:buNone/>
            </a:pPr>
            <a:r>
              <a:rPr lang="en-US"/>
              <a:t> </a:t>
            </a:r>
            <a:endParaRPr/>
          </a:p>
        </p:txBody>
      </p:sp>
      <p:sp>
        <p:nvSpPr>
          <p:cNvPr id="274" name="Google Shape;274;p20"/>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pic>
        <p:nvPicPr>
          <p:cNvPr id="275" name="Google Shape;275;p20" descr="Bim, building, computer, document, plan, research, simulation icon - Download on Iconfinder"/>
          <p:cNvPicPr preferRelativeResize="0"/>
          <p:nvPr/>
        </p:nvPicPr>
        <p:blipFill rotWithShape="1">
          <a:blip r:embed="rId3">
            <a:alphaModFix/>
          </a:blip>
          <a:srcRect/>
          <a:stretch/>
        </p:blipFill>
        <p:spPr>
          <a:xfrm>
            <a:off x="6762749" y="891041"/>
            <a:ext cx="4876800" cy="4876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1"/>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a:latin typeface="Teko"/>
                <a:ea typeface="Teko"/>
                <a:cs typeface="Teko"/>
                <a:sym typeface="Teko"/>
              </a:rPr>
              <a:t>Model Description</a:t>
            </a:r>
            <a:endParaRPr>
              <a:latin typeface="Teko"/>
              <a:ea typeface="Teko"/>
              <a:cs typeface="Teko"/>
              <a:sym typeface="Teko"/>
            </a:endParaRPr>
          </a:p>
        </p:txBody>
      </p:sp>
      <p:pic>
        <p:nvPicPr>
          <p:cNvPr id="281" name="Google Shape;281;p21" descr="C:\Users\lenovo\Desktop\Figure_1.png"/>
          <p:cNvPicPr preferRelativeResize="0"/>
          <p:nvPr/>
        </p:nvPicPr>
        <p:blipFill rotWithShape="1">
          <a:blip r:embed="rId3">
            <a:alphaModFix/>
          </a:blip>
          <a:srcRect/>
          <a:stretch/>
        </p:blipFill>
        <p:spPr>
          <a:xfrm>
            <a:off x="5382368" y="1545351"/>
            <a:ext cx="6343650" cy="3838575"/>
          </a:xfrm>
          <a:prstGeom prst="rect">
            <a:avLst/>
          </a:prstGeom>
          <a:noFill/>
          <a:ln>
            <a:noFill/>
          </a:ln>
        </p:spPr>
      </p:pic>
      <p:sp>
        <p:nvSpPr>
          <p:cNvPr id="282" name="Google Shape;282;p21"/>
          <p:cNvSpPr txBox="1"/>
          <p:nvPr/>
        </p:nvSpPr>
        <p:spPr>
          <a:xfrm>
            <a:off x="498765" y="1021278"/>
            <a:ext cx="4631376" cy="4500078"/>
          </a:xfrm>
          <a:prstGeom prst="rect">
            <a:avLst/>
          </a:prstGeom>
          <a:noFill/>
          <a:ln>
            <a:noFill/>
          </a:ln>
        </p:spPr>
        <p:txBody>
          <a:bodyPr spcFirstLastPara="1" wrap="square" lIns="91425" tIns="45700" rIns="91425" bIns="45700" anchor="t" anchorCtr="0">
            <a:spAutoFit/>
          </a:bodyPr>
          <a:lstStyle/>
          <a:p>
            <a:pPr marL="0" marR="0" lvl="1" indent="0" algn="l" rtl="0">
              <a:lnSpc>
                <a:spcPct val="107000"/>
              </a:lnSpc>
              <a:spcBef>
                <a:spcPts val="0"/>
              </a:spcBef>
              <a:spcAft>
                <a:spcPts val="0"/>
              </a:spcAft>
              <a:buNone/>
            </a:pPr>
            <a:r>
              <a:rPr lang="en-US" sz="2000" b="1" i="0" u="none" strike="noStrike" cap="none">
                <a:solidFill>
                  <a:schemeClr val="dk1"/>
                </a:solidFill>
                <a:latin typeface="Times New Roman"/>
                <a:ea typeface="Times New Roman"/>
                <a:cs typeface="Times New Roman"/>
                <a:sym typeface="Times New Roman"/>
              </a:rPr>
              <a:t>Algorithms used: </a:t>
            </a:r>
            <a:endParaRPr sz="2200" b="0" i="0" u="none" strike="noStrike" cap="none">
              <a:solidFill>
                <a:schemeClr val="dk1"/>
              </a:solidFill>
              <a:latin typeface="Times New Roman"/>
              <a:ea typeface="Times New Roman"/>
              <a:cs typeface="Times New Roman"/>
              <a:sym typeface="Times New Roman"/>
            </a:endParaRPr>
          </a:p>
          <a:p>
            <a:pPr marL="628650" marR="0" lvl="2" indent="0" algn="l" rtl="0">
              <a:lnSpc>
                <a:spcPct val="107000"/>
              </a:lnSpc>
              <a:spcBef>
                <a:spcPts val="800"/>
              </a:spcBef>
              <a:spcAft>
                <a:spcPts val="0"/>
              </a:spcAft>
              <a:buNone/>
            </a:pPr>
            <a:r>
              <a:rPr lang="en-US" sz="2200" b="0" i="0" u="none" strike="noStrike" cap="none">
                <a:solidFill>
                  <a:schemeClr val="dk1"/>
                </a:solidFill>
                <a:latin typeface="Times New Roman"/>
                <a:ea typeface="Times New Roman"/>
                <a:cs typeface="Times New Roman"/>
                <a:sym typeface="Times New Roman"/>
              </a:rPr>
              <a:t>XGB Regression with max depth 3 to find feature importance. </a:t>
            </a:r>
            <a:endParaRPr/>
          </a:p>
          <a:p>
            <a:pPr marL="628650" marR="0" lvl="2" indent="0" algn="l" rtl="0">
              <a:lnSpc>
                <a:spcPct val="107000"/>
              </a:lnSpc>
              <a:spcBef>
                <a:spcPts val="800"/>
              </a:spcBef>
              <a:spcAft>
                <a:spcPts val="0"/>
              </a:spcAft>
              <a:buNone/>
            </a:pPr>
            <a:r>
              <a:rPr lang="en-US" sz="2200" b="0" i="0" u="none" strike="noStrike" cap="none">
                <a:solidFill>
                  <a:schemeClr val="dk1"/>
                </a:solidFill>
                <a:latin typeface="Times New Roman"/>
                <a:ea typeface="Times New Roman"/>
                <a:cs typeface="Times New Roman"/>
                <a:sym typeface="Times New Roman"/>
              </a:rPr>
              <a:t>Survival Analysis with in-patient hospital activity as the time component.</a:t>
            </a:r>
            <a:endParaRPr/>
          </a:p>
          <a:p>
            <a:pPr marL="0" marR="0" lvl="0" indent="0" algn="l" rtl="0">
              <a:lnSpc>
                <a:spcPct val="107000"/>
              </a:lnSpc>
              <a:spcBef>
                <a:spcPts val="800"/>
              </a:spcBef>
              <a:spcAft>
                <a:spcPts val="0"/>
              </a:spcAft>
              <a:buNone/>
            </a:pPr>
            <a:r>
              <a:rPr lang="en-US" sz="2000" b="1">
                <a:solidFill>
                  <a:schemeClr val="dk1"/>
                </a:solidFill>
                <a:latin typeface="Times New Roman"/>
                <a:ea typeface="Times New Roman"/>
                <a:cs typeface="Times New Roman"/>
                <a:sym typeface="Times New Roman"/>
              </a:rPr>
              <a:t>Descriptions:</a:t>
            </a:r>
            <a:endParaRPr/>
          </a:p>
          <a:p>
            <a:pPr marL="628650" marR="0" lvl="2" indent="0" algn="l" rtl="0">
              <a:lnSpc>
                <a:spcPct val="107000"/>
              </a:lnSpc>
              <a:spcBef>
                <a:spcPts val="800"/>
              </a:spcBef>
              <a:spcAft>
                <a:spcPts val="0"/>
              </a:spcAft>
              <a:buNone/>
            </a:pPr>
            <a:r>
              <a:rPr lang="en-US" sz="2200" b="0" i="0" u="none" strike="noStrike" cap="none">
                <a:solidFill>
                  <a:schemeClr val="dk1"/>
                </a:solidFill>
                <a:latin typeface="Times New Roman"/>
                <a:ea typeface="Times New Roman"/>
                <a:cs typeface="Times New Roman"/>
                <a:sym typeface="Times New Roman"/>
              </a:rPr>
              <a:t>Split the data into training (80%) &amp; testing (20%)</a:t>
            </a:r>
            <a:endParaRPr/>
          </a:p>
          <a:p>
            <a:pPr marL="628650" marR="0" lvl="2" indent="0" algn="l" rtl="0">
              <a:lnSpc>
                <a:spcPct val="107000"/>
              </a:lnSpc>
              <a:spcBef>
                <a:spcPts val="800"/>
              </a:spcBef>
              <a:spcAft>
                <a:spcPts val="0"/>
              </a:spcAft>
              <a:buNone/>
            </a:pPr>
            <a:r>
              <a:rPr lang="en-US" sz="2200" b="0" i="0" u="none" strike="noStrike" cap="none">
                <a:solidFill>
                  <a:schemeClr val="dk1"/>
                </a:solidFill>
                <a:latin typeface="Times New Roman"/>
                <a:ea typeface="Times New Roman"/>
                <a:cs typeface="Times New Roman"/>
                <a:sym typeface="Times New Roman"/>
              </a:rPr>
              <a:t>Feature Importance was obtained after using XGB Regression. </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2"/>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a:latin typeface="Teko"/>
                <a:ea typeface="Teko"/>
                <a:cs typeface="Teko"/>
                <a:sym typeface="Teko"/>
              </a:rPr>
              <a:t>Survival Analysis</a:t>
            </a:r>
            <a:endParaRPr/>
          </a:p>
        </p:txBody>
      </p:sp>
      <p:sp>
        <p:nvSpPr>
          <p:cNvPr id="288" name="Google Shape;288;p2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289" name="Google Shape;289;p22"/>
          <p:cNvSpPr txBox="1"/>
          <p:nvPr/>
        </p:nvSpPr>
        <p:spPr>
          <a:xfrm>
            <a:off x="556591" y="1086678"/>
            <a:ext cx="11082958" cy="230832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b="0" i="0">
                <a:solidFill>
                  <a:schemeClr val="dk1"/>
                </a:solidFill>
                <a:latin typeface="Times New Roman"/>
                <a:ea typeface="Times New Roman"/>
                <a:cs typeface="Times New Roman"/>
                <a:sym typeface="Times New Roman"/>
              </a:rPr>
              <a:t>Survival analysis is a branch of statistics for analyzing the expected duration of time until one event occurs, such as death in biological organisms and failure in mechanical systems.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For this project, I have taken into account the Top 4 diseases from the feature importance plot as the combination of these is giving high mort risk:</a:t>
            </a:r>
            <a:endParaRPr sz="1800">
              <a:solidFill>
                <a:schemeClr val="dk1"/>
              </a:solidFill>
              <a:latin typeface="Times New Roman"/>
              <a:ea typeface="Times New Roman"/>
              <a:cs typeface="Times New Roman"/>
              <a:sym typeface="Times New Roman"/>
            </a:endParaRPr>
          </a:p>
          <a:p>
            <a:pPr marL="742950" marR="0" lvl="1" indent="-285750" algn="l" rtl="0">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Cancer</a:t>
            </a:r>
            <a:endParaRPr/>
          </a:p>
          <a:p>
            <a:pPr marL="742950" marR="0" lvl="1" indent="-285750" algn="l" rtl="0">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Dementia</a:t>
            </a:r>
            <a:endParaRPr/>
          </a:p>
          <a:p>
            <a:pPr marL="742950" marR="0" lvl="1" indent="-285750" algn="l" rtl="0">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Breathlessness</a:t>
            </a:r>
            <a:endParaRPr/>
          </a:p>
          <a:p>
            <a:pPr marL="742950" marR="0" lvl="1" indent="-285750" algn="l" rtl="0">
              <a:spcBef>
                <a:spcPts val="0"/>
              </a:spcBef>
              <a:spcAft>
                <a:spcPts val="0"/>
              </a:spcAft>
              <a:buClr>
                <a:schemeClr val="dk1"/>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Heart Failure</a:t>
            </a:r>
            <a:endParaRPr/>
          </a:p>
        </p:txBody>
      </p:sp>
      <p:sp>
        <p:nvSpPr>
          <p:cNvPr id="290" name="Google Shape;290;p22"/>
          <p:cNvSpPr txBox="1"/>
          <p:nvPr/>
        </p:nvSpPr>
        <p:spPr>
          <a:xfrm>
            <a:off x="927480" y="5604425"/>
            <a:ext cx="407203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The plot alongside is the survival of cancer patients with respect to their age</a:t>
            </a:r>
            <a:endParaRPr sz="1800">
              <a:solidFill>
                <a:schemeClr val="dk1"/>
              </a:solidFill>
              <a:latin typeface="Times New Roman"/>
              <a:ea typeface="Times New Roman"/>
              <a:cs typeface="Times New Roman"/>
              <a:sym typeface="Times New Roman"/>
            </a:endParaRPr>
          </a:p>
        </p:txBody>
      </p:sp>
      <p:pic>
        <p:nvPicPr>
          <p:cNvPr id="291" name="Google Shape;291;p22" descr="C:\Users\lenovo\Desktop\Figure_3.png"/>
          <p:cNvPicPr preferRelativeResize="0"/>
          <p:nvPr/>
        </p:nvPicPr>
        <p:blipFill rotWithShape="1">
          <a:blip r:embed="rId3">
            <a:alphaModFix/>
          </a:blip>
          <a:srcRect/>
          <a:stretch/>
        </p:blipFill>
        <p:spPr>
          <a:xfrm>
            <a:off x="807523" y="3395000"/>
            <a:ext cx="3633848" cy="2079523"/>
          </a:xfrm>
          <a:prstGeom prst="rect">
            <a:avLst/>
          </a:prstGeom>
          <a:noFill/>
          <a:ln>
            <a:noFill/>
          </a:ln>
        </p:spPr>
      </p:pic>
      <p:pic>
        <p:nvPicPr>
          <p:cNvPr id="292" name="Google Shape;292;p22" descr="C:\Users\lenovo\Desktop\Figure_4.png"/>
          <p:cNvPicPr preferRelativeResize="0"/>
          <p:nvPr/>
        </p:nvPicPr>
        <p:blipFill rotWithShape="1">
          <a:blip r:embed="rId4">
            <a:alphaModFix/>
          </a:blip>
          <a:srcRect/>
          <a:stretch/>
        </p:blipFill>
        <p:spPr>
          <a:xfrm>
            <a:off x="5712031" y="3331030"/>
            <a:ext cx="3567636" cy="2125682"/>
          </a:xfrm>
          <a:prstGeom prst="rect">
            <a:avLst/>
          </a:prstGeom>
          <a:noFill/>
          <a:ln>
            <a:noFill/>
          </a:ln>
        </p:spPr>
      </p:pic>
      <p:sp>
        <p:nvSpPr>
          <p:cNvPr id="293" name="Google Shape;293;p22"/>
          <p:cNvSpPr txBox="1"/>
          <p:nvPr/>
        </p:nvSpPr>
        <p:spPr>
          <a:xfrm>
            <a:off x="5712031" y="5604424"/>
            <a:ext cx="423949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The plot alongside is the survival of Dementia patients with respect to their age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3"/>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a:latin typeface="Teko"/>
                <a:ea typeface="Teko"/>
                <a:cs typeface="Teko"/>
                <a:sym typeface="Teko"/>
              </a:rPr>
              <a:t>Survival Analysis</a:t>
            </a:r>
            <a:endParaRPr/>
          </a:p>
        </p:txBody>
      </p:sp>
      <p:sp>
        <p:nvSpPr>
          <p:cNvPr id="299" name="Google Shape;299;p23"/>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300" name="Google Shape;300;p23"/>
          <p:cNvSpPr txBox="1"/>
          <p:nvPr/>
        </p:nvSpPr>
        <p:spPr>
          <a:xfrm>
            <a:off x="6257780" y="1604161"/>
            <a:ext cx="380337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eko"/>
                <a:ea typeface="Teko"/>
                <a:cs typeface="Teko"/>
                <a:sym typeface="Teko"/>
              </a:rPr>
              <a:t>The plot alongside is the survival of Breathlessness patients with respect to their age</a:t>
            </a:r>
            <a:endParaRPr/>
          </a:p>
        </p:txBody>
      </p:sp>
      <p:sp>
        <p:nvSpPr>
          <p:cNvPr id="301" name="Google Shape;301;p23"/>
          <p:cNvSpPr txBox="1"/>
          <p:nvPr/>
        </p:nvSpPr>
        <p:spPr>
          <a:xfrm>
            <a:off x="6410956" y="4005752"/>
            <a:ext cx="380337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The plot alongside is the survival of HF patients with respect to their age</a:t>
            </a:r>
            <a:endParaRPr/>
          </a:p>
        </p:txBody>
      </p:sp>
      <p:pic>
        <p:nvPicPr>
          <p:cNvPr id="302" name="Google Shape;302;p23" descr="C:\Users\lenovo\Desktop\Figure_5.png"/>
          <p:cNvPicPr preferRelativeResize="0"/>
          <p:nvPr/>
        </p:nvPicPr>
        <p:blipFill rotWithShape="1">
          <a:blip r:embed="rId3">
            <a:alphaModFix/>
          </a:blip>
          <a:srcRect/>
          <a:stretch/>
        </p:blipFill>
        <p:spPr>
          <a:xfrm>
            <a:off x="1318469" y="1158029"/>
            <a:ext cx="3799795" cy="2143126"/>
          </a:xfrm>
          <a:prstGeom prst="rect">
            <a:avLst/>
          </a:prstGeom>
          <a:noFill/>
          <a:ln>
            <a:noFill/>
          </a:ln>
        </p:spPr>
      </p:pic>
      <p:pic>
        <p:nvPicPr>
          <p:cNvPr id="303" name="Google Shape;303;p23" descr="C:\Users\lenovo\Desktop\Figure_6.png"/>
          <p:cNvPicPr preferRelativeResize="0"/>
          <p:nvPr/>
        </p:nvPicPr>
        <p:blipFill rotWithShape="1">
          <a:blip r:embed="rId4">
            <a:alphaModFix/>
          </a:blip>
          <a:srcRect/>
          <a:stretch/>
        </p:blipFill>
        <p:spPr>
          <a:xfrm>
            <a:off x="1318469" y="3395854"/>
            <a:ext cx="3645418" cy="21431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7"/>
        <p:cNvGrpSpPr/>
        <p:nvPr/>
      </p:nvGrpSpPr>
      <p:grpSpPr>
        <a:xfrm>
          <a:off x="0" y="0"/>
          <a:ext cx="0" cy="0"/>
          <a:chOff x="0" y="0"/>
          <a:chExt cx="0" cy="0"/>
        </a:xfrm>
      </p:grpSpPr>
      <p:pic>
        <p:nvPicPr>
          <p:cNvPr id="308" name="Google Shape;308;p24" descr="Flask"/>
          <p:cNvPicPr preferRelativeResize="0"/>
          <p:nvPr/>
        </p:nvPicPr>
        <p:blipFill rotWithShape="1">
          <a:blip r:embed="rId3">
            <a:alphaModFix/>
          </a:blip>
          <a:srcRect/>
          <a:stretch/>
        </p:blipFill>
        <p:spPr>
          <a:xfrm>
            <a:off x="7049830" y="1541770"/>
            <a:ext cx="3876165" cy="3876165"/>
          </a:xfrm>
          <a:prstGeom prst="rect">
            <a:avLst/>
          </a:prstGeom>
          <a:noFill/>
          <a:ln>
            <a:noFill/>
          </a:ln>
        </p:spPr>
      </p:pic>
      <p:sp>
        <p:nvSpPr>
          <p:cNvPr id="309" name="Google Shape;309;p24"/>
          <p:cNvSpPr txBox="1"/>
          <p:nvPr/>
        </p:nvSpPr>
        <p:spPr>
          <a:xfrm>
            <a:off x="491102" y="2139194"/>
            <a:ext cx="5754896" cy="1883593"/>
          </a:xfrm>
          <a:prstGeom prst="rect">
            <a:avLst/>
          </a:prstGeom>
          <a:noFill/>
          <a:ln>
            <a:noFill/>
          </a:ln>
        </p:spPr>
        <p:txBody>
          <a:bodyPr spcFirstLastPara="1" wrap="square" lIns="91425" tIns="45700" rIns="91425" bIns="45700" anchor="t" anchorCtr="0">
            <a:spAutoFit/>
          </a:bodyPr>
          <a:lstStyle/>
          <a:p>
            <a:pPr marL="285750" marR="0" lvl="0" indent="-228600" algn="l" rtl="0">
              <a:lnSpc>
                <a:spcPct val="9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Web Based</a:t>
            </a:r>
            <a:endParaRPr/>
          </a:p>
          <a:p>
            <a:pPr marL="285750" marR="0" lvl="0" indent="-228600" algn="l" rtl="0">
              <a:lnSpc>
                <a:spcPct val="90000"/>
              </a:lnSpc>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Mobile Based</a:t>
            </a:r>
            <a:endParaRPr/>
          </a:p>
          <a:p>
            <a:pPr marL="285750" marR="0" lvl="0" indent="-228600" algn="l" rtl="0">
              <a:lnSpc>
                <a:spcPct val="90000"/>
              </a:lnSpc>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Cloud Based</a:t>
            </a:r>
            <a:endParaRPr/>
          </a:p>
          <a:p>
            <a:pPr marL="285750" marR="0" lvl="0" indent="-228600" algn="l" rtl="0">
              <a:lnSpc>
                <a:spcPct val="90000"/>
              </a:lnSpc>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Enterprise Based</a:t>
            </a:r>
            <a:endParaRPr/>
          </a:p>
        </p:txBody>
      </p:sp>
      <p:sp>
        <p:nvSpPr>
          <p:cNvPr id="310" name="Google Shape;310;p24"/>
          <p:cNvSpPr txBox="1">
            <a:spLocks noGrp="1"/>
          </p:cNvSpPr>
          <p:nvPr>
            <p:ph type="title"/>
          </p:nvPr>
        </p:nvSpPr>
        <p:spPr>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chemeClr val="dk1"/>
              </a:buClr>
              <a:buSzPts val="3000"/>
              <a:buFont typeface="Teko"/>
              <a:buNone/>
            </a:pPr>
            <a:r>
              <a:rPr lang="en-US">
                <a:latin typeface="Teko"/>
                <a:ea typeface="Teko"/>
                <a:cs typeface="Teko"/>
                <a:sym typeface="Teko"/>
              </a:rPr>
              <a:t>Deployment Strategy</a:t>
            </a:r>
            <a:endParaRPr/>
          </a:p>
        </p:txBody>
      </p:sp>
      <p:sp>
        <p:nvSpPr>
          <p:cNvPr id="311" name="Google Shape;311;p24"/>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p25" descr="Attitudes 2 Animal Cognition Survey – The Anthrozoologist"/>
          <p:cNvPicPr preferRelativeResize="0"/>
          <p:nvPr/>
        </p:nvPicPr>
        <p:blipFill rotWithShape="1">
          <a:blip r:embed="rId3">
            <a:alphaModFix/>
          </a:blip>
          <a:srcRect/>
          <a:stretch/>
        </p:blipFill>
        <p:spPr>
          <a:xfrm>
            <a:off x="3110414" y="300790"/>
            <a:ext cx="5971172" cy="597117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TotalTime>
  <Words>856</Words>
  <Application>Microsoft Office PowerPoint</Application>
  <PresentationFormat>Widescreen</PresentationFormat>
  <Paragraphs>136</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Teko</vt:lpstr>
      <vt:lpstr>Calibri</vt:lpstr>
      <vt:lpstr>Calibri Light</vt:lpstr>
      <vt:lpstr>Times New Roman</vt:lpstr>
      <vt:lpstr>Georgia</vt:lpstr>
      <vt:lpstr>Office Theme</vt:lpstr>
      <vt:lpstr>PowerPoint Presentation</vt:lpstr>
      <vt:lpstr>PowerPoint Presentation</vt:lpstr>
      <vt:lpstr>Project Goals</vt:lpstr>
      <vt:lpstr>CRISP-ML(Q) Methodology</vt:lpstr>
      <vt:lpstr>Technical Stacks</vt:lpstr>
      <vt:lpstr>Data Preparation</vt:lpstr>
      <vt:lpstr>Exploring (Exploratory Data Analysis) </vt:lpstr>
      <vt:lpstr>Correlation Matrix of Top 15 Features:</vt:lpstr>
      <vt:lpstr>Bivariate Analysis (Factors Vs. Mortality Risk)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Model Description</vt:lpstr>
      <vt:lpstr>Survival Analysis</vt:lpstr>
      <vt:lpstr>Survival Analysis</vt:lpstr>
      <vt:lpstr>Deployment Strategy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Narang,Savleen Kaur</dc:creator>
  <cp:lastModifiedBy>LENOVO</cp:lastModifiedBy>
  <cp:revision>4</cp:revision>
  <dcterms:created xsi:type="dcterms:W3CDTF">2021-03-18T06:35:56Z</dcterms:created>
  <dcterms:modified xsi:type="dcterms:W3CDTF">2024-04-03T05:43:42Z</dcterms:modified>
</cp:coreProperties>
</file>