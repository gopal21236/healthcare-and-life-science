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Roboto" panose="020B060402020202020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  <p:embeddedFont>
      <p:font typeface="Georgia" panose="02040502050405020303" pitchFamily="18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54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4780-CA74-482D-8E7A-C021F15BE0D4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3694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73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01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3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62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1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74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68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80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528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28600" y="191605"/>
            <a:ext cx="105156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639549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095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C4780-CA74-482D-8E7A-C021F15BE0D4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68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palakrishnan-kumar-a7330111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gopalkk1" TargetMode="External"/><Relationship Id="rId4" Type="http://schemas.openxmlformats.org/officeDocument/2006/relationships/hyperlink" Target="https://github.com/Gopalakrishnan-Kumar/Python-for-Data-Scienc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1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6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of </a:t>
            </a:r>
            <a:r>
              <a:rPr lang="en-IN" sz="6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Unemployment Index </a:t>
            </a:r>
            <a:endParaRPr sz="61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1881052" y="1201783"/>
            <a:ext cx="720541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Gopalakrishnan</a:t>
            </a:r>
            <a: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Kumar, IIT –B Alumnus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Consultant</a:t>
            </a:r>
            <a:r>
              <a:rPr lang="en-IN" sz="2400" dirty="0" smtClean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IN" sz="2400" dirty="0" smtClean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Data Scientist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 – </a:t>
            </a:r>
            <a:r>
              <a:rPr lang="en-IN" sz="24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https://www.linkedin.com/in/gopalakrishnan-kumar-a73301110/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Repository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https://github.com/Gopalakrishnan-Kumar/Python-for-Data-Science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Website/blog URL </a:t>
            </a:r>
            <a:r>
              <a:rPr lang="en-IN" sz="24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https://www.kaggle.com/gopalkk1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 sz="3000"/>
              <a:t>Project Goals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grpSp>
        <p:nvGrpSpPr>
          <p:cNvPr id="106" name="Google Shape;106;p15"/>
          <p:cNvGrpSpPr/>
          <p:nvPr/>
        </p:nvGrpSpPr>
        <p:grpSpPr>
          <a:xfrm>
            <a:off x="209006" y="1468152"/>
            <a:ext cx="10798487" cy="3698611"/>
            <a:chOff x="344433" y="2051082"/>
            <a:chExt cx="10798487" cy="3698611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344433" y="2051082"/>
              <a:ext cx="5446766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Objectives</a:t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6483555" y="2051082"/>
              <a:ext cx="4659365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Constraints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344433" y="2424793"/>
              <a:ext cx="5577900" cy="332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457200" lvl="0" indent="-342900" algn="just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•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42900" algn="just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classify the unemployment index of survival and unemployment group with respect to timeline estimate using Supervised Machine Learning method.</a:t>
              </a:r>
              <a:endParaRPr/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apply suitable machine learning model for classifying the unemployment index with respect to spell and event</a:t>
              </a:r>
              <a:endParaRPr/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create awareness of unemployment rate so as to  suggest ways and means to minimize unemployment rate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6483555" y="2508816"/>
              <a:ext cx="46593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202124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Inadequate information regarding column names </a:t>
              </a:r>
              <a:endParaRPr sz="16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202124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Missing values</a:t>
              </a:r>
              <a:endParaRPr sz="16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202124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Maximize-Maximize the customer satisfaction by good healthcare services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1" name="Google Shape;111;p15"/>
            <p:cNvCxnSpPr/>
            <p:nvPr/>
          </p:nvCxnSpPr>
          <p:spPr>
            <a:xfrm>
              <a:off x="344433" y="2440631"/>
              <a:ext cx="5446766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" name="Google Shape;112;p15"/>
            <p:cNvCxnSpPr/>
            <p:nvPr/>
          </p:nvCxnSpPr>
          <p:spPr>
            <a:xfrm>
              <a:off x="6483555" y="2440631"/>
              <a:ext cx="4659365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" name="Google Shape;113;p15"/>
            <p:cNvCxnSpPr/>
            <p:nvPr/>
          </p:nvCxnSpPr>
          <p:spPr>
            <a:xfrm>
              <a:off x="6096000" y="2538808"/>
              <a:ext cx="0" cy="1892826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245" y="744842"/>
            <a:ext cx="1388857" cy="81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240" y="558006"/>
            <a:ext cx="1400125" cy="917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292962" y="100628"/>
            <a:ext cx="10460115" cy="674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r>
              <a:rPr lang="en-IN" sz="1200"/>
              <a:t>Business pipeline:  </a:t>
            </a:r>
            <a:r>
              <a:rPr lang="en-IN"/>
              <a:t/>
            </a:r>
            <a:br>
              <a:rPr lang="en-IN"/>
            </a:br>
            <a:r>
              <a:rPr lang="en-IN"/>
              <a:t>CRISP-ML(Q) Methodology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8344" y="1293637"/>
            <a:ext cx="3918485" cy="378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391886" y="1031966"/>
            <a:ext cx="6662057" cy="53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1: Business and Data Understanding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phase helps us to ensure the feasibility of the project. As the data are available through from team lead the data quality has been assured.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2: Data Engineering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includes data selection, data cleaning, feature engineering, and data standardising tasks.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Selection- In this phase, filter method is used for data selection.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Cleaning- Error detection has been performed in the form of outliers, maximum, minimum, mean, average and mean deviation to all of these.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engineering- In this project clustering and discretization of continuous attributes has been performed.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Standardization- In this process, the ML tools’ input data are unified.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 has been done to ready the model fitting procedure by replacing with NA, NaN and so on. This enhances data reusability.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169818" y="914400"/>
            <a:ext cx="8033656" cy="605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3: Machine Learning Model Engineering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and data understanding phase will shape this phase. Model assessment metrics might include performance metrics, robustness, fairness, scalability, interpretability, model complexity degree and model resource demand.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Selection / Specialization-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Kaplan-Meier Estimator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a non-parametric estimator, Kaplan-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Meier doesn’t require making initial assumptions about the distribution of data. It also takes care of right-censored observations by computing the survival probabilities from observed survival times. It uses the product rule from probability and in fact, it is also called a product-limit estimator.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d_i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number of events happened at time t_i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n_i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number of subjects that have survived up to time t_i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survival probability at time </a:t>
            </a:r>
            <a:r>
              <a:rPr lang="en-IN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t_i 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equal to the product of the probability of surviving at prior time </a:t>
            </a:r>
            <a:r>
              <a:rPr lang="en-IN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t_i-1 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 percentage chance of surviving at time </a:t>
            </a:r>
            <a:r>
              <a:rPr lang="en-IN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t_i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training tasks-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Pretrained models and ensemble learning methods-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3515" y="1254448"/>
            <a:ext cx="3918485" cy="378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r>
              <a:rPr lang="en-IN" sz="1200"/>
              <a:t>Business pipeline:  </a:t>
            </a:r>
            <a:r>
              <a:rPr lang="en-IN"/>
              <a:t/>
            </a:r>
            <a:br>
              <a:rPr lang="en-IN"/>
            </a:br>
            <a:r>
              <a:rPr lang="en-IN"/>
              <a:t>CRISP-ML(Q) Methodology</a:t>
            </a:r>
            <a:endParaRPr/>
          </a:p>
        </p:txBody>
      </p:sp>
      <p:pic>
        <p:nvPicPr>
          <p:cNvPr id="132" name="Google Shape;132;p17" descr="https://miro.medium.com/max/346/0*9G613SxskreWMW-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3088" y="4280653"/>
            <a:ext cx="1925756" cy="62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862149" y="1110343"/>
            <a:ext cx="624404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4: Model Testing and Evaluation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Consequently, model training is followed by a model evaluation phase also known as offline testing. Here, the performance of trained model needs to be validated on a test set. Then, the model deployment decision to be taken.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5: Deployment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ML model deployment denotes a process of ML model integration into the existing software system.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6: Monitoring and Maintenance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the ML model has been put into production, it is essential to monitor its performance and maintain.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4875" y="1254448"/>
            <a:ext cx="3918485" cy="378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r>
              <a:rPr lang="en-IN" sz="1200"/>
              <a:t>Business pipeline:  </a:t>
            </a:r>
            <a:r>
              <a:rPr lang="en-IN"/>
              <a:t/>
            </a:r>
            <a:br>
              <a:rPr lang="en-IN"/>
            </a:br>
            <a:r>
              <a:rPr lang="en-IN"/>
              <a:t>CRISP-ML(Q) Methodology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432" y="1216936"/>
            <a:ext cx="2275724" cy="127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29" y="5247664"/>
            <a:ext cx="3128211" cy="10508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Technical Stacks</a:t>
            </a:r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0303" y="1134589"/>
            <a:ext cx="2486192" cy="1531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descr="Instance - Cloudbizz SQL Express Edition 10GB | Cloudbizz | NET Computer  Group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0202" y="2878728"/>
            <a:ext cx="1340267" cy="1100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 descr="Heroku App - Hacker's favourite at Hackathon Stuttgart 20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3979272"/>
            <a:ext cx="3128211" cy="126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28211" y="2634989"/>
            <a:ext cx="1787317" cy="1448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Microsoft launches Visual Studio Online public preview and ML.NET 1.4 |  VentureBeat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53561" y="3951656"/>
            <a:ext cx="2495466" cy="124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56684" y="5161075"/>
            <a:ext cx="2182472" cy="10508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6400800" y="1610336"/>
            <a:ext cx="54139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6844937" y="875211"/>
            <a:ext cx="5016138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Languages: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Python, html, cloud, sql, heroku, R, visual studio, git bash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AI/ML: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Pytorch, skikitlearn,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Libraries: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lifelines, pandas, numpy, skikitlearn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Jupyter Online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Jupyter classic notebook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ETL: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Python, Jupyter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Visualizations: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Plotly()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Tracking &amp; SC: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Github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Project Architecture / Data Pipeline</a:t>
            </a:r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1907177" y="1214846"/>
            <a:ext cx="92093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625634" y="966651"/>
            <a:ext cx="5799909" cy="32526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lang="en-IN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IN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Exploration 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Processing and Preprocessing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Explaratory Data Analysis</a:t>
            </a:r>
            <a:endParaRPr/>
          </a:p>
          <a:p>
            <a:pPr marL="114300" marR="0" lvl="1" indent="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Building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Selection/ Specialization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Kaplan Mier Estimator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Training Tasks</a:t>
            </a:r>
            <a:endParaRPr/>
          </a:p>
          <a:p>
            <a:pPr marL="114300" marR="0" lvl="1" indent="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of performance of trained model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4664257" y="4047444"/>
            <a:ext cx="485775" cy="785812"/>
          </a:xfrm>
          <a:prstGeom prst="downArrow">
            <a:avLst>
              <a:gd name="adj1" fmla="val 50000"/>
              <a:gd name="adj2" fmla="val 40441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0"/>
          <p:cNvSpPr txBox="1"/>
          <p:nvPr/>
        </p:nvSpPr>
        <p:spPr>
          <a:xfrm rot="5400000">
            <a:off x="4563345" y="4269774"/>
            <a:ext cx="687586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638697" y="4794068"/>
            <a:ext cx="542108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Deployment-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 model integration into the existing software system/ User acceptance and usability.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161926" y="1019117"/>
            <a:ext cx="7561320" cy="506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Data used for training the model has been collected from Github and Wikipedia.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cleansing- This includes describing mean, standard deviation, average, count, maximum, minimum, and removing NaNs.</a:t>
            </a:r>
            <a:endParaRPr/>
          </a:p>
          <a:p>
            <a:pPr marL="0" marR="0" lvl="0" indent="-152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Data has been cleaned by removing NaNs.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Outliers have been noted in value_counts()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76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1" descr="Data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1168" y="1376312"/>
            <a:ext cx="3547689" cy="354768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>
            <a:spLocks noGrp="1"/>
          </p:cNvSpPr>
          <p:nvPr>
            <p:ph type="title"/>
          </p:nvPr>
        </p:nvSpPr>
        <p:spPr>
          <a:xfrm>
            <a:off x="228600" y="177755"/>
            <a:ext cx="10515600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Data Preparation</a:t>
            </a:r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182880" y="0"/>
            <a:ext cx="12192000" cy="68580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1010024" y="3050435"/>
            <a:ext cx="4581307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Model Building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 </a:t>
            </a:r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185" name="Google Shape;185;p22" descr="Bim, building, computer, document, plan, research, simulation icon - Download on Iconfind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49" y="891041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1031966" y="4010298"/>
            <a:ext cx="598278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Specialization/ Standardization.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Kaplan Meir Fitter Model 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model to be used.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Tasks to be performed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/>
        </p:nvSpPr>
        <p:spPr>
          <a:xfrm>
            <a:off x="302089" y="1343886"/>
            <a:ext cx="12194711" cy="535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 used: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Kaplan-Meier Estimator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a non-parametric estimator, Kaplan-</a:t>
            </a:r>
            <a:endParaRPr sz="14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Meier doesn’t require making initial assumptions about the distribution of data. It also takes care of right-censored observations by computing the survival probabilities from observed survival times. It uses the product rule from probability and in fact, it is also called a product-limit estimator.</a:t>
            </a:r>
            <a:endParaRPr sz="14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 sz="14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d_i</a:t>
            </a:r>
            <a:r>
              <a:rPr lang="en-IN" sz="16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number of events happened at time t_i</a:t>
            </a:r>
            <a:endParaRPr sz="14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n_i</a:t>
            </a:r>
            <a:r>
              <a:rPr lang="en-IN" sz="16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number of subjects that have survived up to time t_i</a:t>
            </a:r>
            <a:endParaRPr sz="14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Descriptions: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IN" sz="20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the model as ‘Kaplan Meier Fitter ‘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IN" sz="20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Fitting the model with parameters like Time, Spell, Event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IN" sz="20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Plot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/>
          </p:nvPr>
        </p:nvSpPr>
        <p:spPr>
          <a:xfrm>
            <a:off x="302089" y="83100"/>
            <a:ext cx="1044211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Model Description </a:t>
            </a:r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194" name="Google Shape;194;p23" descr="https://miro.medium.com/max/346/0*9G613SxskreWMW-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881" y="3131122"/>
            <a:ext cx="1925756" cy="62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Outputs of the Model in Codes</a:t>
            </a:r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0320" y="1123406"/>
            <a:ext cx="7289074" cy="4872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5" descr="Flas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830" y="1541770"/>
            <a:ext cx="3876165" cy="387616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491102" y="2139194"/>
            <a:ext cx="5754896" cy="1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Based- HTML applications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Based- AI algorithm/ Kaplan Meier Fitter Model</a:t>
            </a: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Deployment Strategy</a:t>
            </a:r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/>
        </p:nvSpPr>
        <p:spPr>
          <a:xfrm>
            <a:off x="2146334" y="1572069"/>
            <a:ext cx="5430123" cy="93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1-</a:t>
            </a:r>
            <a:r>
              <a:rPr lang="en-IN" sz="20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and events from Group </a:t>
            </a:r>
            <a:r>
              <a:rPr lang="en-IN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IN" sz="20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IN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Universal Sentence Encoder:</a:t>
            </a:r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Outputs of the Deployed Model</a:t>
            </a:r>
            <a:endParaRPr sz="1600"/>
          </a:p>
        </p:txBody>
      </p:sp>
      <p:sp>
        <p:nvSpPr>
          <p:cNvPr id="216" name="Google Shape;216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17" name="Google Shape;217;p26" descr="D:\Project_Work_Innodatatics\drive-download-20211007T043232Z-001\Kaplan_Meir_Fiiter_Grap_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9326" y="2076993"/>
            <a:ext cx="5094514" cy="3971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Outputs of the Deployed Model</a:t>
            </a:r>
            <a:endParaRPr sz="1600"/>
          </a:p>
        </p:txBody>
      </p:sp>
      <p:sp>
        <p:nvSpPr>
          <p:cNvPr id="223" name="Google Shape;223;p27"/>
          <p:cNvSpPr/>
          <p:nvPr/>
        </p:nvSpPr>
        <p:spPr>
          <a:xfrm>
            <a:off x="1959430" y="1306287"/>
            <a:ext cx="44152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2- Time and events from Group </a:t>
            </a:r>
            <a:r>
              <a:rPr lang="en-IN" sz="18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IN" sz="18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18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7" descr="D:\Project_Work_Innodatatics\drive-download-20211007T043232Z-001\Kaplan_Meir_Fiiter_Grap_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0868" y="2037805"/>
            <a:ext cx="5421086" cy="3905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105156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Outputs of the Deployed Model</a:t>
            </a:r>
            <a:endParaRPr sz="1600"/>
          </a:p>
        </p:txBody>
      </p:sp>
      <p:pic>
        <p:nvPicPr>
          <p:cNvPr id="230" name="Google Shape;230;p28" descr="Kaplan_Meir_Fiiter_Grap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9955" y="2319474"/>
            <a:ext cx="4611188" cy="325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/>
          <p:nvPr/>
        </p:nvSpPr>
        <p:spPr>
          <a:xfrm>
            <a:off x="0" y="2828925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2509533" y="1585351"/>
            <a:ext cx="46750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3- </a:t>
            </a:r>
            <a:r>
              <a:rPr lang="en-IN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Time-line estimations plot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8503920" y="2769326"/>
            <a:ext cx="32918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graph is plotted KM estimate vs. timeline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/>
        </p:nvSpPr>
        <p:spPr>
          <a:xfrm>
            <a:off x="174171" y="1606732"/>
            <a:ext cx="11861075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The graph is plotted KM estimate vs. timeline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The Kaplan-Meier plot can be interpreted as follows: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horizontal axis (x-axis) represents time in days and the vertical axis shows the probability of surviving or the proportion of people surviving.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The line represents survival a curve of the lines represents survival or proportion of people surviving. A vertical drop in the curves indicates an event. Survival function can be interpreted as the probability that a certain object of interest will survive beyond a certain time‘t’.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The  value of the function lies between 0 and 1 (both inclusive and it is a non-increasing function). The value of the function is above the KM curve for occurrence of unemployment and the value of function is below the KM curve for survival group.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Comparing the KM curves in Figure 3, the survival duration of the survival group is longer than unemployment.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228599" y="0"/>
            <a:ext cx="1196340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 sz="3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Outputs of the Deployed Model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4" y="300790"/>
            <a:ext cx="5971172" cy="5971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882</Words>
  <Application>Microsoft Office PowerPoint</Application>
  <PresentationFormat>Widescreen</PresentationFormat>
  <Paragraphs>131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Noto Sans Symbols</vt:lpstr>
      <vt:lpstr>Arial</vt:lpstr>
      <vt:lpstr>Roboto</vt:lpstr>
      <vt:lpstr>Calibri</vt:lpstr>
      <vt:lpstr>Calibri Light</vt:lpstr>
      <vt:lpstr>Times New Roman</vt:lpstr>
      <vt:lpstr>Georgia</vt:lpstr>
      <vt:lpstr>Office Theme</vt:lpstr>
      <vt:lpstr>PowerPoint Presentation</vt:lpstr>
      <vt:lpstr>PowerPoint Presentation</vt:lpstr>
      <vt:lpstr>Project Goals</vt:lpstr>
      <vt:lpstr>Business pipeline:   CRISP-ML(Q) Methodology</vt:lpstr>
      <vt:lpstr>Business pipeline:   CRISP-ML(Q) Methodology</vt:lpstr>
      <vt:lpstr>Business pipeline:   CRISP-ML(Q) Methodology</vt:lpstr>
      <vt:lpstr>Technical Stacks</vt:lpstr>
      <vt:lpstr>Project Architecture / Data Pipeline</vt:lpstr>
      <vt:lpstr>Data Preparation</vt:lpstr>
      <vt:lpstr> </vt:lpstr>
      <vt:lpstr>Model Description </vt:lpstr>
      <vt:lpstr>Outputs of the Model in Codes</vt:lpstr>
      <vt:lpstr>Deployment Strategy</vt:lpstr>
      <vt:lpstr>Outputs of the Deployed Model</vt:lpstr>
      <vt:lpstr>Outputs of the Deployed Model</vt:lpstr>
      <vt:lpstr>Outputs of the Deployed Model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</cp:revision>
  <cp:lastPrinted>2024-04-03T05:54:16Z</cp:lastPrinted>
  <dcterms:modified xsi:type="dcterms:W3CDTF">2024-04-03T05:54:45Z</dcterms:modified>
</cp:coreProperties>
</file>